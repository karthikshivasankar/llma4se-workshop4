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4" r:id="rId25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  <Relationship Id="rId25" Type="http://schemas.openxmlformats.org/officeDocument/2006/relationships/slide" Target="slides/slide1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LLMA4SE 2026  ·  2ND INTERNATIONAL SUMMER SCHOOL ON LLM-BASED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Cooperative
</a:t>
            </a:r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Agent Workflows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2816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8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anti-pattern detection, code smell &amp; technical debt resolution — one notebook, one API key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5204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 4 · DAY 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97480" y="35204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97480" y="35204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SEP 11 · 15:00–18:00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352044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35204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· OPENAI API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Karthik Shivashankar — SINTEF Digital · PhD, University of Oslo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Adela Nedisan Videsjorden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NEXT THREE HOURS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leave with a working agent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28216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5361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Code Auditor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8745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that uses static-analysis tools (radon, pylint, PyExamine, MLScent) and explains smells like a senior reviewer.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12280" y="15361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15:15 – 16:05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192024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notebook · Part 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87752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8986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7066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Refactoring Team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04495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→ Refactorer → QA Verifier, wired by an orchestrator. Plus: breaking it on purpose in the failure lab.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12280" y="270662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 – 17:15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09067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notebook · Part 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58184"/>
            <a:ext cx="81381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69080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8770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Debt Pipeline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2153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&amp; triage debt from issue trackers; assemble the full pipeline; run it on your own code.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12280" y="387705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17:20 – 17:55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426110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notebook · Part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4736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now: colab.research.google.com → upload the notebook → run Part 0. No GPU needed.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VOCABULARY 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code ≠ healthy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04088" y="2212848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smell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22376" y="2615184"/>
            <a:ext cx="2167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symptom that suggests a deeper problem — a long method, a magic number, duplicated logic. Not a bug: the code works.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22376" y="40965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Fowler &amp; Beck, Refactoring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🧩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93008" y="2212848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Anti-pattern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11296" y="2615184"/>
            <a:ext cx="2167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recurring solution that looks right and reliably backfires — the God Object, copy-paste reuse, missing seeds in ML training.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11296" y="40965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incl. 76 ML-specific ones (MLScent)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0760" y="14630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8076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81928" y="2212848"/>
            <a:ext cx="220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debt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00216" y="2615184"/>
            <a:ext cx="21671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cost created by choosing the expedient solution today. Accrues interest: every sprint it stays, you pay extra effort.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00216" y="409651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Cunningham, 1992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6634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Smells are the symptoms → anti-patterns are the diseases → debt is the bill.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ANYONE FUNDS THIS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Debt economics: principal vs interest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metaphor, precisely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pPr indent="0" marL="0">
              <a:buNone/>
            </a:pPr>
            <a:r>
              <a:rPr lang="en-US" sz="12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one-time cost of the proper fix.
</a:t>
            </a:r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pPr indent="0" marL="0">
              <a:buNone/>
            </a:pPr>
            <a:r>
              <a:rPr lang="en-US" sz="12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recurring cost of NOT fixing: slower features, more bugs, longer onboarding, every single sprint.
</a:t>
            </a:r>
            <a:pPr indent="0" marL="0">
              <a:buNone/>
            </a:pPr>
            <a:r>
              <a:rPr lang="en-US" sz="1250" b="1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debt can be rational</a:t>
            </a:r>
            <a:pPr indent="0" marL="0">
              <a:buNone/>
            </a:pPr>
            <a:r>
              <a:rPr lang="en-US" sz="12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(ship the demo, win the deal). Unmanaged, invisible debt is what kills codebases.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417320"/>
            <a:ext cx="3931920" cy="3154680"/>
          </a:xfrm>
          <a:prstGeom prst="roundRect">
            <a:avLst>
              <a:gd name="adj" fmla="val 231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17830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~23–42%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5074920" y="2743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developers' time is reported as wasted on technical debt and bad code in industry studies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35661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rule of thumb: fix high-interest / low-principal items first — schedule the big ones, they never fit “between tasks”.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BEFORE OPINION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detection toolbox we'll hand to our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45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0" y="1572768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7276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92938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Cyclomatic complexity per function · Maintainability Index per file. Milliseconds, deterministic.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25694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radon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545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pylint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1572768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57276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937760" y="192938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rule-based checks — catches bug-adjacent smells like mutable default arguments.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37760" y="25694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pylint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04495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172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PyExamine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743200" y="320040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320040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· MSR 2025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" y="35570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metrics across code, structural &amp; architectural levels. 91% recall. Built by today's instructor.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41970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code-quality-analyzer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304495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37760" y="3172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MLScent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949440" y="320040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320040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· CAIN 2025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37760" y="35570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ML-specific anti-patterns across TensorFlow &amp; PyTorch — missing seeds, data leakage patterns, …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41970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ml-code-smell-detector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709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agents' eyes. The LLM never measures — it interprets.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CORE ABSTRACTION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is just four things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18488"/>
            <a:ext cx="457200" cy="457200"/>
          </a:xfrm>
          <a:prstGeom prst="ellipse">
            <a:avLst/>
          </a:prstGeom>
          <a:solidFill>
            <a:srgbClr val="F3EFF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258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965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prompt fixing persona, goal and constraints. “You are a meticulous senior code reviewer…”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709160" y="1417320"/>
            <a:ext cx="393192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37760" y="1618488"/>
            <a:ext cx="457200" cy="457200"/>
          </a:xfrm>
          <a:prstGeom prst="ellipse">
            <a:avLst/>
          </a:prstGeom>
          <a:solidFill>
            <a:srgbClr val="F3EFF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53212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1965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LLM behind one function call. Today: the OpenAI API — change the model on line one, nothing else.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02920" y="2990088"/>
            <a:ext cx="393192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191256"/>
            <a:ext cx="457200" cy="457200"/>
          </a:xfrm>
          <a:prstGeom prst="ellipse">
            <a:avLst/>
          </a:prstGeom>
          <a:solidFill>
            <a:srgbClr val="F3EFFB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25880" y="3172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35387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callables the agent invokes to perceive &amp; act: run_radon(), run_pylint(), run_pyexamine().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709160" y="2990088"/>
            <a:ext cx="393192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3191256"/>
            <a:ext cx="457200" cy="457200"/>
          </a:xfrm>
          <a:prstGeom prst="ellipse">
            <a:avLst/>
          </a:prstGeom>
          <a:solidFill>
            <a:srgbClr val="F3EFFB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532120" y="3172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contract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32120" y="35387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“Reply ONLY with this JSON schema.” Turns prose into data the next agent can parse.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502920" y="46177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(LangGraph, AutoGen, CrewAI) add scheduling, persistence, tracing — the skeleton is identical. Today we build it bare, so you own every line.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RULE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make an LLM guess what a tool can measure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tools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execute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complexity, lint rules, smell metrics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test suite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AST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i="1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· cheap · never hallucinate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463040"/>
            <a:ext cx="39319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983480" y="21031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&amp; act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the numbers mean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findings in context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refactored code</a:t>
            </a:r>
            <a:endParaRPr lang="en-US" sz="130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00" i="1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tool evidence, not vibes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4617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what makes an agent auditable: every claim traces back to a tool that measured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⌨️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· 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Code Auditor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patient: a working-but-smelly inventory module (+ its test safety-net)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radon, pylint, PyExamine &amp; MLScent as agent tools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llm() helper, the Agent class, and your first structured JSON audit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skeleton, new eyes: an ML Auditor that catches == np.nan &amp; missing zero_grad()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1: give the auditor a magic-number AST detector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4348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~50 MINUTES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40280" y="4434840"/>
            <a:ext cx="37490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44348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STUCK &gt; 3 MIN? RAISE YOUR HAND ✋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 PREVIEW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agent to a cooperating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9568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🕵️ Auditor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2648" y="2286000"/>
            <a:ext cx="2066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LLM →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findings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9568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🔧 Refactorer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38728" y="2286000"/>
            <a:ext cx="2066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hard invariants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55080" y="182880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9568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🛡️ QA Verifier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2066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→ tests → metrics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inside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88920" y="2395728"/>
            <a:ext cx="640080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5715000" y="2395728"/>
            <a:ext cx="640080" cy="0"/>
          </a:xfrm>
          <a:prstGeom prst="line">
            <a:avLst/>
          </a:prstGeom>
          <a:noFill/>
          <a:ln w="31750">
            <a:solidFill>
              <a:srgbClr val="6D28D9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697480" y="204825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findings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05272" y="204825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29000" y="36576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EFE9FA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29000" y="378561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🎛️ Orchestrator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38728" y="4114800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 + iteration budget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trail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498080" y="2971800"/>
            <a:ext cx="0" cy="1143000"/>
          </a:xfrm>
          <a:prstGeom prst="line">
            <a:avLst/>
          </a:prstGeom>
          <a:noFill/>
          <a:ln w="25400">
            <a:solidFill>
              <a:srgbClr val="C0392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715000" y="4114800"/>
            <a:ext cx="1783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dash"/>
            <a:headEnd type="arrow"/>
          </a:ln>
        </p:spPr>
      </p:sp>
      <p:sp>
        <p:nvSpPr>
          <p:cNvPr id="22" name="Shape 20"/>
          <p:cNvSpPr/>
          <p:nvPr/>
        </p:nvSpPr>
        <p:spPr>
          <a:xfrm>
            <a:off x="2560320" y="4114800"/>
            <a:ext cx="868680" cy="0"/>
          </a:xfrm>
          <a:prstGeom prst="line">
            <a:avLst/>
          </a:prstGeom>
          <a:noFill/>
          <a:ln w="25400">
            <a:solidFill>
              <a:srgbClr val="1E8E5A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2560320" y="2971800"/>
            <a:ext cx="0" cy="1143000"/>
          </a:xfrm>
          <a:prstGeom prst="line">
            <a:avLst/>
          </a:prstGeom>
          <a:noFill/>
          <a:ln w="25400">
            <a:solidFill>
              <a:srgbClr val="1E8E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06440" y="41605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reject + failure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51560" y="4160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8E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accept / retry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02920" y="47548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QA agent is deliberately NOT an LLM — never let the fox audit the henhouse.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AGENTS TALK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state (blackboard) vs message passing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Blackboard  ✓ today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084832"/>
            <a:ext cx="3429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read/write ONE state object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 who acts next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 is logged → replayable audit trail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behind LangGraph-style graphs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46304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passing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2084832"/>
            <a:ext cx="3429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converse via addressed messages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emergent coordination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bound, debug &amp; replay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behind AutoGen-style chats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agent misbehaves, the state history is your debugger. Log everything.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 OF THIS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 is cheap. Verification is everything.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82496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572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1 · Syntax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98448" y="1892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ast.parse()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15727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 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572768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truncated / mangled output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6949440" cy="822960"/>
          </a:xfrm>
          <a:prstGeom prst="roundRect">
            <a:avLst>
              <a:gd name="adj" fmla="val 888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642616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25328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2 · Behaviour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98448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pytest suite in a sandbox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069080" y="253288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 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53288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plausible-but-wrong code — the killer failure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02736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98448" y="3493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3 · Quality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298448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radon complexity must not worsen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349300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E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~0.1 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49300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“fixes” that made things worse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526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gate first — fail fast, spend compute only on survivors. Tests were written BEFORE any agent ran: they are the contract.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FAILURE-PATTERN FIELD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agentic systems break (and what tames them)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560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Pattern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Looks like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Mitigation (we built it)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Plausible-but-wrong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clean-looking patch, changed behaviour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test-suite 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Hallucinated APIs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 superfixlib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stdlib-only rule + sandboxed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Truncated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half a module arrives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 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Runaway retry loops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never converges, bill explodes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&amp; token budgets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“while I was here, I redesigned your API”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invariants in the prompt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B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gaming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50505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deletes code to lower complexity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independent 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C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736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meet at least two of these live in Part 2 — on purpose.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⌨️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· 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Refactoring Team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state + audit trail (WorkflowState)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Agent under hard invariants · deterministic QA agent with 3 gates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retry loop with failure-note feedback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lab: sabotage the VAT rate — watch Gate 2 catch it · Exercise 2: extend the team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4348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~60 MINUTES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40280" y="4434840"/>
            <a:ext cx="37490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44348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STUCK &gt; 3 MIN? RAISE YOUR HAND ✋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 PREVIEW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debt is reported in words, not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 — BEACon-TD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trackers are debt gold-mines: “the README is wrong”, “zero tests for refunds”, “pinned to EOL Django”…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BEACon-TD (JSS 2025) fine-tunes transformers to classify 13 debt types from real issue trackers. We approximate it zero-shot with a constrained-label prompt — then discuss why fine-tuned &amp; small wins in production.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— the debt quadrant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57800" y="3977640"/>
            <a:ext cx="2834640" cy="0"/>
          </a:xfrm>
          <a:prstGeom prst="line">
            <a:avLst/>
          </a:prstGeom>
          <a:noFill/>
          <a:ln w="19050">
            <a:solidFill>
              <a:srgbClr val="6B6B76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5257800" y="3977640"/>
            <a:ext cx="0" cy="-1828800"/>
          </a:xfrm>
          <a:prstGeom prst="line">
            <a:avLst/>
          </a:prstGeom>
          <a:noFill/>
          <a:ln w="19050">
            <a:solidFill>
              <a:srgbClr val="6B6B76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5989320" y="40233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 (fix cost) →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93208" y="1874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interest ↑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DCF5E7"/>
          </a:solidFill>
          <a:ln w="12700">
            <a:solidFill>
              <a:srgbClr val="1E8E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22402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NOW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720840" y="2240280"/>
            <a:ext cx="1234440" cy="685800"/>
          </a:xfrm>
          <a:prstGeom prst="roundRect">
            <a:avLst>
              <a:gd name="adj" fmla="val 8000"/>
            </a:avLst>
          </a:prstGeom>
          <a:solidFill>
            <a:srgbClr val="FBE4E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2402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“fits between”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83480" y="406908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≈ interest ÷ principal — and an LLM agent estimates both. Would you let it plan your sprint? (Part 3 discussion)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⌨️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· 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Classify, Triage &amp; the Full Pipeline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TD classification of 10 real-style issues — score it against gold labels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agent: interest ÷ principal → a ranked backlog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issues + code in → verified fix + TECH_DEBT_REPORT.md out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challenge: run the pipeline on YOUR own code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4348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 MINUTES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40280" y="4434840"/>
            <a:ext cx="37490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44348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STUCK &gt; 3 MIN? RAISE YOUR HAND ✋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 TRACK · TAKE-HOME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built it by hand — now meet the production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hand-built (Parts 1–3)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37560" y="14173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 equivalent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83794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API call per agent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00400" y="1911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5074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8379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llm() helper  </a:t>
            </a:r>
            <a:pPr indent="0" marL="0">
              <a:buNone/>
            </a:pPr>
            <a:r>
              <a:rPr lang="en-US" sz="1050" dirty="0">
                <a:solidFill>
                  <a:srgbClr val="4B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six agents — swap gpt-4.1-mini for a gpt-5 reasoning model in one 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32888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5877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WorkflowState + run_workflow()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00400" y="26609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520440" y="2532888"/>
            <a:ext cx="5074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0" y="2587752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  </a:t>
            </a:r>
            <a:pPr indent="0" marL="0">
              <a:buNone/>
            </a:pPr>
            <a:r>
              <a:rPr lang="en-US" sz="1050" dirty="0">
                <a:solidFill>
                  <a:srgbClr val="4B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State + nodes + conditional edges — your retry loop as a graph, diagram for free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3375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with tools &amp; JSON contract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341071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20440" y="3282696"/>
            <a:ext cx="5074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0" y="333756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Agents  </a:t>
            </a:r>
            <a:pPr indent="0" marL="0">
              <a:buNone/>
            </a:pPr>
            <a:r>
              <a:rPr lang="en-US" sz="1050" dirty="0">
                <a:solidFill>
                  <a:srgbClr val="4B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tool-calling, write_todos planning, file tools, sub-agents — trades control for autonomy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032504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40873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pile of notebook cells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00400" y="4160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520440" y="4032504"/>
            <a:ext cx="5074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0" y="408736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debtbuster CLI  </a:t>
            </a:r>
            <a:pPr indent="0" marL="0">
              <a:buNone/>
            </a:pPr>
            <a:r>
              <a:rPr lang="en-US" sz="1050" dirty="0">
                <a:solidFill>
                  <a:srgbClr val="4B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lean pip-installable harness: 5 files, its own tests, exit-code-1 when the gate rejects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48280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 never change: verification is a property of the task, not the framework.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⌨️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· PART 4 · TAKE-HOME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 · Deep Agents · debtbuster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QA gates, three different frameworks — and they never change a byte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Part 2's team as a LangGraph StateGraph — conditional edges = your retry loop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Unleash a Deep Agent: planning todos, file tools, sub-agents, real tool-calling</a:t>
            </a:r>
            <a:endParaRPr lang="en-US" sz="1550" dirty="0"/>
          </a:p>
          <a:p>
            <a:pPr marL="342900" indent="-342900">
              <a:lnSpc>
                <a:spcPts val="2600"/>
              </a:lnSpc>
              <a:buSzPct val="100000"/>
              <a:buChar char="→"/>
            </a:pPr>
            <a:r>
              <a:rPr lang="en-US" sz="1550" dirty="0">
                <a:solidFill>
                  <a:srgbClr val="E4D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it: the debtbuster CLI harness — 5 files, tests, pip install -e, CI-ready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4348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~50 MINUTES · SELF-PACED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40280" y="4434840"/>
            <a:ext cx="3749040" cy="310896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44348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9D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STUCK &gt; 3 MIN? RAISE YOUR HAND ✋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BUILT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verified, cooperative agent pipeline — in one notebook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43000" y="171907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= role + brain + tools + contract  </a:t>
            </a:r>
            <a:pPr indent="0" marL="0">
              <a:buNone/>
            </a:pPr>
            <a:r>
              <a:rPr lang="en-US" sz="14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 magic required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94360" y="2313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⚖️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43000" y="234086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measure, LLMs interpret  </a:t>
            </a:r>
            <a:pPr indent="0" marL="0">
              <a:buNone/>
            </a:pPr>
            <a:r>
              <a:rPr lang="en-US" sz="14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grounding beats guessing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3000" y="296265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what earns the trust  </a:t>
            </a:r>
            <a:pPr indent="0" marL="0">
              <a:buNone/>
            </a:pPr>
            <a:r>
              <a:rPr lang="en-US" sz="14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syntax → tests → metrics, cheapest first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9436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43000" y="358444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is a portfolio to manage  </a:t>
            </a:r>
            <a:pPr indent="0" marL="0">
              <a:buNone/>
            </a:pPr>
            <a:r>
              <a:rPr lang="en-US" sz="1450" dirty="0">
                <a:solidFill>
                  <a:srgbClr val="BBA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classify (BEACon-TD) → triage (interest ÷ principal) → resolve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224528"/>
            <a:ext cx="8046720" cy="0"/>
          </a:xfrm>
          <a:prstGeom prst="line">
            <a:avLst/>
          </a:prstGeom>
          <a:noFill/>
          <a:ln w="12700">
            <a:solidFill>
              <a:srgbClr val="4A38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papers:  </a:t>
            </a:r>
            <a:pPr indent="0" marL="0">
              <a:buNone/>
            </a:pPr>
            <a:r>
              <a:rPr lang="en-US" sz="1200" dirty="0">
                <a:solidFill>
                  <a:srgbClr val="D8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PyExamine (MSR'25) · MLScent (CAIN'25) · BEACon-TD (JSS'25) · TD-Suite  —  github.com/KarthikShivasankar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8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Karthik Shivashankar · karthik13sankar@outlook.com  ·  Adela Nedisan Videsjorden  ·  LLMA4SE 2026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· THE ONLY HARD SYNC 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1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key, your budget, your brain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45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 file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0" y="1572768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7276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92938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.env into the file sidebar. The notebook parses it — and picks up OPENAI_MODEL while it is there.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25694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545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 Secrets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49440" y="1572768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157276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937760" y="192938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🔑 icon, left sidebar. Add the key, enable notebook access. It never lands in the file you share.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37760" y="25694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userdata.get("OPENAI_API_KEY")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04495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172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 prompt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743200" y="320040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320040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" y="35570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file, no secret? The notebook asks, with the input masked. Never paste a key into a code cell.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41970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getpass.getpass()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3044952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prstDash val="solid"/>
          </a:ln>
          <a:effectLst>
            <a:outerShdw sx="100000" sy="100000" kx="0" ky="0" algn="bl" rotWithShape="0" blurRad="88900" dist="25400" dir="5400000">
              <a:srgbClr val="3A2A55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37760" y="31729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 meter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949440" y="3200400"/>
            <a:ext cx="1508760" cy="310896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320040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37760" y="3557016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counted. The whole notebook costs roughly $0.05–0.25 on gpt-4.1-mini. Check any time.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41970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cost_report()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709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required. The brain is an API call — one llm() function that all six of today's agents go through.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4 — Cooperative LLM Agent Workflows</dc:title>
  <dc:subject>PptxGenJS Presentation</dc:subject>
  <dc:creator>Karthik Shivashankar &amp; Adela Nedisan Videsjorden</dc:creator>
  <cp:lastModifiedBy>Karthik Shivashankar &amp; Adela Nedisan Videsjorden</cp:lastModifiedBy>
  <cp:revision>1</cp:revision>
  <dcterms:created xsi:type="dcterms:W3CDTF">2026-07-08T02:50:53Z</dcterms:created>
  <dcterms:modified xsi:type="dcterms:W3CDTF">2026-07-08T02:50:53Z</dcterms:modified>
</cp:coreProperties>
</file>