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_rels/notesSlide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8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7269F68-FE6F-4E9C-A6A1-D196200B4548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ADA553-A0CE-4403-B2C8-0718A8265A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A8AEE0-338E-4C78-B33B-A792E74B052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E553605-CF5D-4146-A330-34F21ED8DFC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6B78C9-CF2E-45D9-A654-2C4593443AD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5E4A6F-075D-46FD-A980-A5C4D4B8ADF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40C1456-10D5-491E-B57A-9BC90C17974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D4F7EF-FDE6-46C1-9936-FE4EBE4EA59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A62F46-DBCF-4A5E-8B1A-7B231C100DC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6AC5FA-DD89-4E6D-8795-38E229FB25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3075BB-D218-41F8-9941-4E38C20589A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17E65A-D4F8-4BA4-B8D9-76550E4BE8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0EC653-81C0-400E-BF36-3B10A7989B6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655645-2511-4F13-9BCB-EBE6E3CC975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910F94-1342-4C69-A5E0-71924CFDCA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079A85E-FE29-4A19-AE0E-7B997D16FF0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355907-F5DF-4841-AEAE-708297E30DC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5C1BD1-1584-4F82-B1CA-3B9D0DE5BFD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64200C9-62F9-4D3A-AC58-C35D474255F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48640" y="50292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199" strike="noStrike">
                <a:solidFill>
                  <a:srgbClr val="a78bfa"/>
                </a:solidFill>
                <a:latin typeface="Courier New"/>
                <a:ea typeface="Courier New"/>
              </a:rPr>
              <a:t>LLMA4SE 2026  ·  2ND INTERNATIONAL SUMMER SCHOOL ON LLM-BASED AGENTS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48640" y="1051560"/>
            <a:ext cx="804636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r>
              <a:rPr b="1" lang="en-US" sz="4600" spc="-1" strike="noStrike">
                <a:solidFill>
                  <a:srgbClr val="ffffff"/>
                </a:solidFill>
                <a:latin typeface="Cambria"/>
                <a:ea typeface="Cambria"/>
              </a:rPr>
              <a:t>Building Cooperative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5199"/>
              </a:lnSpc>
              <a:tabLst>
                <a:tab algn="l" pos="0"/>
              </a:tabLst>
            </a:pPr>
            <a:r>
              <a:rPr b="1" lang="en-US" sz="4600" spc="-1" strike="noStrike">
                <a:solidFill>
                  <a:srgbClr val="a78bfa"/>
                </a:solidFill>
                <a:latin typeface="Cambria"/>
                <a:ea typeface="Cambria"/>
              </a:rPr>
              <a:t>LLM Agent Workflows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48640" y="2816280"/>
            <a:ext cx="7863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700" spc="-1" strike="noStrike">
                <a:solidFill>
                  <a:srgbClr val="d8cdee"/>
                </a:solidFill>
                <a:latin typeface="Calibri"/>
                <a:ea typeface="Calibri"/>
              </a:rPr>
              <a:t>Hands-on: anti-pattern detection, code smell &amp; technical debt resolution — one notebook, one API key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548640" y="3520440"/>
            <a:ext cx="2011320" cy="310680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48640" y="3520440"/>
            <a:ext cx="20113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WORKSHOP 4 · DAY 03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697480" y="3520440"/>
            <a:ext cx="2148480" cy="310680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2697480" y="3520440"/>
            <a:ext cx="2148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FRI SEP 11 · 15:00–18:00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4983480" y="3520440"/>
            <a:ext cx="1691280" cy="310680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4983480" y="3520440"/>
            <a:ext cx="1691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COLAB · OPENAI API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548640" y="4160520"/>
            <a:ext cx="80463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bba9de"/>
                </a:solidFill>
                <a:latin typeface="Calibri"/>
                <a:ea typeface="Calibri"/>
              </a:rPr>
              <a:t>Karthik Shivashankar — SINTEF Digital 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1899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bba9de"/>
                </a:solidFill>
                <a:latin typeface="Calibri"/>
                <a:ea typeface="Calibri"/>
              </a:rPr>
              <a:t>Adela Nedisan Videsjorden </a:t>
            </a:r>
            <a:r>
              <a:rPr b="0" lang="en-US" sz="1350" spc="-1" strike="noStrike">
                <a:solidFill>
                  <a:srgbClr val="bba9de"/>
                </a:solidFill>
                <a:latin typeface="Calibri"/>
                <a:ea typeface="Calibri"/>
              </a:rPr>
              <a:t>— SINTEF Digital 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1899"/>
              </a:lnSpc>
              <a:tabLst>
                <a:tab algn="l" pos="0"/>
              </a:tabLst>
            </a:pP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THE NEXT THREE HOURS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You leave with a working agent pipeline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02920" y="1417320"/>
            <a:ext cx="8137800" cy="10238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" name="Shape 3"/>
          <p:cNvSpPr/>
          <p:nvPr/>
        </p:nvSpPr>
        <p:spPr>
          <a:xfrm>
            <a:off x="777240" y="1728360"/>
            <a:ext cx="383760" cy="383760"/>
          </a:xfrm>
          <a:prstGeom prst="ellipse">
            <a:avLst/>
          </a:prstGeom>
          <a:solidFill>
            <a:srgbClr val="6d28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Text 4"/>
          <p:cNvSpPr/>
          <p:nvPr/>
        </p:nvSpPr>
        <p:spPr>
          <a:xfrm>
            <a:off x="777240" y="1728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5"/>
          <p:cNvSpPr/>
          <p:nvPr/>
        </p:nvSpPr>
        <p:spPr>
          <a:xfrm>
            <a:off x="1371600" y="15361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a1b3d"/>
                </a:solidFill>
                <a:latin typeface="Cambria"/>
                <a:ea typeface="Cambria"/>
              </a:rPr>
              <a:t>The Code Auditor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Text 6"/>
          <p:cNvSpPr/>
          <p:nvPr/>
        </p:nvSpPr>
        <p:spPr>
          <a:xfrm>
            <a:off x="1371600" y="1874520"/>
            <a:ext cx="5211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b6b76"/>
                </a:solidFill>
                <a:latin typeface="Calibri"/>
                <a:ea typeface="Calibri"/>
              </a:rPr>
              <a:t>One agent that uses static-analysis tools (radon, pylint, PyExamine, MLScent) and explains smells like a senior reviewer.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7"/>
          <p:cNvSpPr/>
          <p:nvPr/>
        </p:nvSpPr>
        <p:spPr>
          <a:xfrm>
            <a:off x="6812280" y="153612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d28d9"/>
                </a:solidFill>
                <a:latin typeface="Courier New"/>
                <a:ea typeface="Courier New"/>
              </a:rPr>
              <a:t>15:15 – 16:05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 8"/>
          <p:cNvSpPr/>
          <p:nvPr/>
        </p:nvSpPr>
        <p:spPr>
          <a:xfrm>
            <a:off x="6446520" y="1920240"/>
            <a:ext cx="2057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6b76"/>
                </a:solidFill>
                <a:latin typeface="Courier New"/>
                <a:ea typeface="Courier New"/>
              </a:rPr>
              <a:t>one notebook · Part 1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9"/>
          <p:cNvSpPr/>
          <p:nvPr/>
        </p:nvSpPr>
        <p:spPr>
          <a:xfrm>
            <a:off x="502920" y="2587680"/>
            <a:ext cx="8137800" cy="10238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" name="Shape 10"/>
          <p:cNvSpPr/>
          <p:nvPr/>
        </p:nvSpPr>
        <p:spPr>
          <a:xfrm>
            <a:off x="777240" y="2898720"/>
            <a:ext cx="383760" cy="383760"/>
          </a:xfrm>
          <a:prstGeom prst="ellipse">
            <a:avLst/>
          </a:prstGeom>
          <a:solidFill>
            <a:srgbClr val="6d28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Text 11"/>
          <p:cNvSpPr/>
          <p:nvPr/>
        </p:nvSpPr>
        <p:spPr>
          <a:xfrm>
            <a:off x="777240" y="28987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12"/>
          <p:cNvSpPr/>
          <p:nvPr/>
        </p:nvSpPr>
        <p:spPr>
          <a:xfrm>
            <a:off x="1371600" y="270648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a1b3d"/>
                </a:solidFill>
                <a:latin typeface="Cambria"/>
                <a:ea typeface="Cambria"/>
              </a:rPr>
              <a:t>The Refactoring Team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13"/>
          <p:cNvSpPr/>
          <p:nvPr/>
        </p:nvSpPr>
        <p:spPr>
          <a:xfrm>
            <a:off x="1371600" y="3044880"/>
            <a:ext cx="5211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b6b76"/>
                </a:solidFill>
                <a:latin typeface="Calibri"/>
                <a:ea typeface="Calibri"/>
              </a:rPr>
              <a:t>Auditor → Refactorer → QA Verifier, wired by an orchestrator. Plus: breaking it on purpose in the failure lab.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14"/>
          <p:cNvSpPr/>
          <p:nvPr/>
        </p:nvSpPr>
        <p:spPr>
          <a:xfrm>
            <a:off x="6812280" y="270648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d28d9"/>
                </a:solidFill>
                <a:latin typeface="Courier New"/>
                <a:ea typeface="Courier New"/>
              </a:rPr>
              <a:t>16:10 – 17:15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15"/>
          <p:cNvSpPr/>
          <p:nvPr/>
        </p:nvSpPr>
        <p:spPr>
          <a:xfrm>
            <a:off x="6446520" y="3090600"/>
            <a:ext cx="2057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6b76"/>
                </a:solidFill>
                <a:latin typeface="Courier New"/>
                <a:ea typeface="Courier New"/>
              </a:rPr>
              <a:t>one notebook · Part 2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16"/>
          <p:cNvSpPr/>
          <p:nvPr/>
        </p:nvSpPr>
        <p:spPr>
          <a:xfrm>
            <a:off x="502920" y="3758040"/>
            <a:ext cx="8137800" cy="102384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Shape 17"/>
          <p:cNvSpPr/>
          <p:nvPr/>
        </p:nvSpPr>
        <p:spPr>
          <a:xfrm>
            <a:off x="777240" y="4069080"/>
            <a:ext cx="383760" cy="383760"/>
          </a:xfrm>
          <a:prstGeom prst="ellipse">
            <a:avLst/>
          </a:prstGeom>
          <a:solidFill>
            <a:srgbClr val="6d28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Text 18"/>
          <p:cNvSpPr/>
          <p:nvPr/>
        </p:nvSpPr>
        <p:spPr>
          <a:xfrm>
            <a:off x="777240" y="40690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19"/>
          <p:cNvSpPr/>
          <p:nvPr/>
        </p:nvSpPr>
        <p:spPr>
          <a:xfrm>
            <a:off x="1371600" y="387720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a1b3d"/>
                </a:solidFill>
                <a:latin typeface="Cambria"/>
                <a:ea typeface="Cambria"/>
              </a:rPr>
              <a:t>Technical Debt Pipeline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20"/>
          <p:cNvSpPr/>
          <p:nvPr/>
        </p:nvSpPr>
        <p:spPr>
          <a:xfrm>
            <a:off x="1371600" y="4215240"/>
            <a:ext cx="5211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b6b76"/>
                </a:solidFill>
                <a:latin typeface="Calibri"/>
                <a:ea typeface="Calibri"/>
              </a:rPr>
              <a:t>Classify &amp; triage debt from issue trackers; assemble the full pipeline; run it on your own code.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21"/>
          <p:cNvSpPr/>
          <p:nvPr/>
        </p:nvSpPr>
        <p:spPr>
          <a:xfrm>
            <a:off x="6812280" y="387720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6d28d9"/>
                </a:solidFill>
                <a:latin typeface="Courier New"/>
                <a:ea typeface="Courier New"/>
              </a:rPr>
              <a:t>17:20 – 17:55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22"/>
          <p:cNvSpPr/>
          <p:nvPr/>
        </p:nvSpPr>
        <p:spPr>
          <a:xfrm>
            <a:off x="6446520" y="4260960"/>
            <a:ext cx="2057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6b76"/>
                </a:solidFill>
                <a:latin typeface="Courier New"/>
                <a:ea typeface="Courier New"/>
              </a:rPr>
              <a:t>one notebook · Part 3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23"/>
          <p:cNvSpPr/>
          <p:nvPr/>
        </p:nvSpPr>
        <p:spPr>
          <a:xfrm>
            <a:off x="502920" y="47365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6d28d9"/>
                </a:solidFill>
                <a:latin typeface="Courier New"/>
                <a:ea typeface="Courier New"/>
              </a:rPr>
              <a:t>Setup now: colab.research.google.com → run Part 0. No GPU. The notebook paces you: pit_stop().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SETUP · THE ONLY HARD SYNC POINT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Your key, your budget, your brain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2"/>
          <p:cNvSpPr/>
          <p:nvPr/>
        </p:nvSpPr>
        <p:spPr>
          <a:xfrm>
            <a:off x="502920" y="1417320"/>
            <a:ext cx="3931560" cy="1462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5" name="Text 3"/>
          <p:cNvSpPr/>
          <p:nvPr/>
        </p:nvSpPr>
        <p:spPr>
          <a:xfrm>
            <a:off x="731520" y="154548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ourier New"/>
                <a:ea typeface="Courier New"/>
              </a:rPr>
              <a:t>.env file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4"/>
          <p:cNvSpPr/>
          <p:nvPr/>
        </p:nvSpPr>
        <p:spPr>
          <a:xfrm>
            <a:off x="2743200" y="1572840"/>
            <a:ext cx="1508400" cy="310680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Text 5"/>
          <p:cNvSpPr/>
          <p:nvPr/>
        </p:nvSpPr>
        <p:spPr>
          <a:xfrm>
            <a:off x="2743200" y="1572840"/>
            <a:ext cx="1508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Upload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6"/>
          <p:cNvSpPr/>
          <p:nvPr/>
        </p:nvSpPr>
        <p:spPr>
          <a:xfrm>
            <a:off x="731520" y="192924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f3f49"/>
                </a:solidFill>
                <a:latin typeface="Calibri"/>
                <a:ea typeface="Calibri"/>
              </a:rPr>
              <a:t>Drop a .env into the file sidebar. The notebook parses it — and picks up OPENAI_MODEL while it is there.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7"/>
          <p:cNvSpPr/>
          <p:nvPr/>
        </p:nvSpPr>
        <p:spPr>
          <a:xfrm>
            <a:off x="731520" y="256932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OPENAI_API_KEY=sk-…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8"/>
          <p:cNvSpPr/>
          <p:nvPr/>
        </p:nvSpPr>
        <p:spPr>
          <a:xfrm>
            <a:off x="4709160" y="1417320"/>
            <a:ext cx="3931560" cy="1462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" name="Text 9"/>
          <p:cNvSpPr/>
          <p:nvPr/>
        </p:nvSpPr>
        <p:spPr>
          <a:xfrm>
            <a:off x="4937760" y="154548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ourier New"/>
                <a:ea typeface="Courier New"/>
              </a:rPr>
              <a:t>Colab Secrets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Shape 10"/>
          <p:cNvSpPr/>
          <p:nvPr/>
        </p:nvSpPr>
        <p:spPr>
          <a:xfrm>
            <a:off x="6949440" y="1572840"/>
            <a:ext cx="1508400" cy="310680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3" name="Text 11"/>
          <p:cNvSpPr/>
          <p:nvPr/>
        </p:nvSpPr>
        <p:spPr>
          <a:xfrm>
            <a:off x="6949440" y="1572840"/>
            <a:ext cx="1508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Recommended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12"/>
          <p:cNvSpPr/>
          <p:nvPr/>
        </p:nvSpPr>
        <p:spPr>
          <a:xfrm>
            <a:off x="4937760" y="192924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f3f49"/>
                </a:solidFill>
                <a:latin typeface="Calibri"/>
                <a:ea typeface="Calibri"/>
              </a:rPr>
              <a:t>The 🔑 icon, left sidebar. Add OPENAI_API_KEY — and optionally OPENAI_MODEL — then enable notebook access.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13"/>
          <p:cNvSpPr/>
          <p:nvPr/>
        </p:nvSpPr>
        <p:spPr>
          <a:xfrm>
            <a:off x="4937760" y="256932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userdata.get("OPENAI_API_KEY")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14"/>
          <p:cNvSpPr/>
          <p:nvPr/>
        </p:nvSpPr>
        <p:spPr>
          <a:xfrm>
            <a:off x="502920" y="3044880"/>
            <a:ext cx="3931560" cy="1462680"/>
          </a:xfrm>
          <a:prstGeom prst="roundRect">
            <a:avLst>
              <a:gd name="adj" fmla="val 5000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Text 15"/>
          <p:cNvSpPr/>
          <p:nvPr/>
        </p:nvSpPr>
        <p:spPr>
          <a:xfrm>
            <a:off x="731520" y="31730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ourier New"/>
                <a:ea typeface="Courier New"/>
              </a:rPr>
              <a:t>Hidden prompt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16"/>
          <p:cNvSpPr/>
          <p:nvPr/>
        </p:nvSpPr>
        <p:spPr>
          <a:xfrm>
            <a:off x="2743200" y="3200400"/>
            <a:ext cx="1508400" cy="310680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2743200" y="3200400"/>
            <a:ext cx="1508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Fallback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731520" y="355716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f3f49"/>
                </a:solidFill>
                <a:latin typeface="Calibri"/>
                <a:ea typeface="Calibri"/>
              </a:rPr>
              <a:t>No file, no secret? The notebook asks, with the input masked. Never paste a key into a code cell.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19"/>
          <p:cNvSpPr/>
          <p:nvPr/>
        </p:nvSpPr>
        <p:spPr>
          <a:xfrm>
            <a:off x="731520" y="419724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getpass.getpass()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20"/>
          <p:cNvSpPr/>
          <p:nvPr/>
        </p:nvSpPr>
        <p:spPr>
          <a:xfrm>
            <a:off x="4709160" y="3044880"/>
            <a:ext cx="3931560" cy="1462680"/>
          </a:xfrm>
          <a:prstGeom prst="roundRect">
            <a:avLst>
              <a:gd name="adj" fmla="val 5000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Text 21"/>
          <p:cNvSpPr/>
          <p:nvPr/>
        </p:nvSpPr>
        <p:spPr>
          <a:xfrm>
            <a:off x="4937760" y="31730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ourier New"/>
                <a:ea typeface="Courier New"/>
              </a:rPr>
              <a:t>The cost meter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22"/>
          <p:cNvSpPr/>
          <p:nvPr/>
        </p:nvSpPr>
        <p:spPr>
          <a:xfrm>
            <a:off x="6949440" y="3200400"/>
            <a:ext cx="1508400" cy="310680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" name="Text 23"/>
          <p:cNvSpPr/>
          <p:nvPr/>
        </p:nvSpPr>
        <p:spPr>
          <a:xfrm>
            <a:off x="6949440" y="3200400"/>
            <a:ext cx="1508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Budget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24"/>
          <p:cNvSpPr/>
          <p:nvPr/>
        </p:nvSpPr>
        <p:spPr>
          <a:xfrm>
            <a:off x="4937760" y="355716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f3f49"/>
                </a:solidFill>
                <a:latin typeface="Calibri"/>
                <a:ea typeface="Calibri"/>
              </a:rPr>
              <a:t>Every call is counted. The whole notebook costs roughly $0.05–0.25 on gpt-4.1-mini. Check any time.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25"/>
          <p:cNvSpPr/>
          <p:nvPr/>
        </p:nvSpPr>
        <p:spPr>
          <a:xfrm>
            <a:off x="4937760" y="419724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cost_report()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26"/>
          <p:cNvSpPr/>
          <p:nvPr/>
        </p:nvSpPr>
        <p:spPr>
          <a:xfrm>
            <a:off x="502920" y="470916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6d28d9"/>
                </a:solidFill>
                <a:latin typeface="Calibri"/>
                <a:ea typeface="Calibri"/>
              </a:rPr>
              <a:t>No GPU required. The brain is an API call — one llm() function for all six agents. The key lives in os.environ, so even Part 4's !debtbuster subprocess inherits it.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HOW THE NEXT THREE HOURS RUN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The notebook tells you what to do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2"/>
          <p:cNvSpPr/>
          <p:nvPr/>
        </p:nvSpPr>
        <p:spPr>
          <a:xfrm>
            <a:off x="502920" y="1417320"/>
            <a:ext cx="3931560" cy="13896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731520" y="1618560"/>
            <a:ext cx="456840" cy="456840"/>
          </a:xfrm>
          <a:prstGeom prst="ellipse">
            <a:avLst/>
          </a:prstGeom>
          <a:solidFill>
            <a:srgbClr val="f3ef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" name="Text 4"/>
          <p:cNvSpPr/>
          <p:nvPr/>
        </p:nvSpPr>
        <p:spPr>
          <a:xfrm>
            <a:off x="731520" y="1618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🎯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1325880" y="160020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Predict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6"/>
          <p:cNvSpPr/>
          <p:nvPr/>
        </p:nvSpPr>
        <p:spPr>
          <a:xfrm>
            <a:off x="1325880" y="196596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3f3f49"/>
                </a:solidFill>
                <a:latin typeface="Calibri"/>
                <a:ea typeface="Calibri"/>
              </a:rPr>
              <a:t>Edit a MY_GUESS_… line BEFORE running the cell. The notebook grades you and keeps a running score. Four of these today.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7"/>
          <p:cNvSpPr/>
          <p:nvPr/>
        </p:nvSpPr>
        <p:spPr>
          <a:xfrm>
            <a:off x="4709160" y="1417320"/>
            <a:ext cx="3931560" cy="13896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" name="Shape 8"/>
          <p:cNvSpPr/>
          <p:nvPr/>
        </p:nvSpPr>
        <p:spPr>
          <a:xfrm>
            <a:off x="4937760" y="1618560"/>
            <a:ext cx="456840" cy="456840"/>
          </a:xfrm>
          <a:prstGeom prst="ellipse">
            <a:avLst/>
          </a:prstGeom>
          <a:solidFill>
            <a:srgbClr val="f3ef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Text 9"/>
          <p:cNvSpPr/>
          <p:nvPr/>
        </p:nvSpPr>
        <p:spPr>
          <a:xfrm>
            <a:off x="4937760" y="1618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🧪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10"/>
          <p:cNvSpPr/>
          <p:nvPr/>
        </p:nvSpPr>
        <p:spPr>
          <a:xfrm>
            <a:off x="5532120" y="160020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Try it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11"/>
          <p:cNvSpPr/>
          <p:nvPr/>
        </p:nvSpPr>
        <p:spPr>
          <a:xfrm>
            <a:off x="5532120" y="196596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3f3f49"/>
                </a:solidFill>
                <a:latin typeface="Calibri"/>
                <a:ea typeface="Calibri"/>
              </a:rPr>
              <a:t>Change one thing, re-run, watch what breaks. The fastest way to find out which line was load-bearing.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12"/>
          <p:cNvSpPr/>
          <p:nvPr/>
        </p:nvSpPr>
        <p:spPr>
          <a:xfrm>
            <a:off x="502920" y="2990160"/>
            <a:ext cx="3931560" cy="13896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2" name="Shape 13"/>
          <p:cNvSpPr/>
          <p:nvPr/>
        </p:nvSpPr>
        <p:spPr>
          <a:xfrm>
            <a:off x="731520" y="3191400"/>
            <a:ext cx="456840" cy="456840"/>
          </a:xfrm>
          <a:prstGeom prst="ellipse">
            <a:avLst/>
          </a:prstGeom>
          <a:solidFill>
            <a:srgbClr val="f3ef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Text 14"/>
          <p:cNvSpPr/>
          <p:nvPr/>
        </p:nvSpPr>
        <p:spPr>
          <a:xfrm>
            <a:off x="731520" y="319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💬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15"/>
          <p:cNvSpPr/>
          <p:nvPr/>
        </p:nvSpPr>
        <p:spPr>
          <a:xfrm>
            <a:off x="1325880" y="317304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Discuss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16"/>
          <p:cNvSpPr/>
          <p:nvPr/>
        </p:nvSpPr>
        <p:spPr>
          <a:xfrm>
            <a:off x="1325880" y="353880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3f3f49"/>
                </a:solidFill>
                <a:latin typeface="Calibri"/>
                <a:ea typeface="Calibri"/>
              </a:rPr>
              <a:t>Turn to your neighbour for 1–2 minutes. No single right answer — that is why we stop to ask.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17"/>
          <p:cNvSpPr/>
          <p:nvPr/>
        </p:nvSpPr>
        <p:spPr>
          <a:xfrm>
            <a:off x="4709160" y="2990160"/>
            <a:ext cx="3931560" cy="13896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7" name="Shape 18"/>
          <p:cNvSpPr/>
          <p:nvPr/>
        </p:nvSpPr>
        <p:spPr>
          <a:xfrm>
            <a:off x="4937760" y="3191400"/>
            <a:ext cx="456840" cy="456840"/>
          </a:xfrm>
          <a:prstGeom prst="ellipse">
            <a:avLst/>
          </a:prstGeom>
          <a:solidFill>
            <a:srgbClr val="f3ef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8" name="Text 19"/>
          <p:cNvSpPr/>
          <p:nvPr/>
        </p:nvSpPr>
        <p:spPr>
          <a:xfrm>
            <a:off x="4937760" y="319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20"/>
          <p:cNvSpPr/>
          <p:nvPr/>
        </p:nvSpPr>
        <p:spPr>
          <a:xfrm>
            <a:off x="5532120" y="317304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Pit stop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21"/>
          <p:cNvSpPr/>
          <p:nvPr/>
        </p:nvSpPr>
        <p:spPr>
          <a:xfrm>
            <a:off x="5532120" y="353880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3f3f49"/>
                </a:solidFill>
                <a:latin typeface="Calibri"/>
                <a:ea typeface="Calibri"/>
              </a:rPr>
              <a:t>pit_stop("Part 2") prints elapsed vs budgeted time and tells you whether to do the exercise or skip it.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22"/>
          <p:cNvSpPr/>
          <p:nvPr/>
        </p:nvSpPr>
        <p:spPr>
          <a:xfrm>
            <a:off x="502920" y="4617720"/>
            <a:ext cx="813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6b76"/>
                </a:solidFill>
                <a:latin typeface="Calibri"/>
                <a:ea typeface="Calibri"/>
              </a:rPr>
              <a:t>✍️ </a:t>
            </a:r>
            <a:r>
              <a:rPr b="0" i="1" lang="en-US" sz="1250" spc="-1" strike="noStrike">
                <a:solidFill>
                  <a:srgbClr val="6b6b76"/>
                </a:solidFill>
                <a:latin typeface="Calibri"/>
                <a:ea typeface="Calibri"/>
              </a:rPr>
              <a:t>Exercises have click-to-reveal solutions, and every Part ends with a save-and-self-check cell — fall behind, skip the exercise, and you can still start the next Part.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VOCABULARY CHECK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Working code ≠ healthy code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2"/>
          <p:cNvSpPr/>
          <p:nvPr/>
        </p:nvSpPr>
        <p:spPr>
          <a:xfrm>
            <a:off x="502920" y="1463040"/>
            <a:ext cx="2605680" cy="3017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502920" y="1691640"/>
            <a:ext cx="2605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👃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4"/>
          <p:cNvSpPr/>
          <p:nvPr/>
        </p:nvSpPr>
        <p:spPr>
          <a:xfrm>
            <a:off x="704160" y="2212920"/>
            <a:ext cx="2203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a1b3d"/>
                </a:solidFill>
                <a:latin typeface="Cambria"/>
                <a:ea typeface="Cambria"/>
              </a:rPr>
              <a:t>Code smell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5"/>
          <p:cNvSpPr/>
          <p:nvPr/>
        </p:nvSpPr>
        <p:spPr>
          <a:xfrm>
            <a:off x="722520" y="2615040"/>
            <a:ext cx="21668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f3f49"/>
                </a:solidFill>
                <a:latin typeface="Calibri"/>
                <a:ea typeface="Calibri"/>
              </a:rPr>
              <a:t>A surface symptom that suggests a deeper problem — a long method, a magic number, duplicated logic. Not a bug: the code works.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6"/>
          <p:cNvSpPr/>
          <p:nvPr/>
        </p:nvSpPr>
        <p:spPr>
          <a:xfrm>
            <a:off x="722520" y="4096440"/>
            <a:ext cx="216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6b6b76"/>
                </a:solidFill>
                <a:latin typeface="Courier New"/>
                <a:ea typeface="Courier New"/>
              </a:rPr>
              <a:t>Fowler &amp; Beck, Refactoring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7"/>
          <p:cNvSpPr/>
          <p:nvPr/>
        </p:nvSpPr>
        <p:spPr>
          <a:xfrm>
            <a:off x="3291840" y="1463040"/>
            <a:ext cx="2605680" cy="30171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8"/>
          <p:cNvSpPr/>
          <p:nvPr/>
        </p:nvSpPr>
        <p:spPr>
          <a:xfrm>
            <a:off x="3291840" y="1691640"/>
            <a:ext cx="2605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🧩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9"/>
          <p:cNvSpPr/>
          <p:nvPr/>
        </p:nvSpPr>
        <p:spPr>
          <a:xfrm>
            <a:off x="3493080" y="2212920"/>
            <a:ext cx="2203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a1b3d"/>
                </a:solidFill>
                <a:latin typeface="Cambria"/>
                <a:ea typeface="Cambria"/>
              </a:rPr>
              <a:t>Anti-pattern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10"/>
          <p:cNvSpPr/>
          <p:nvPr/>
        </p:nvSpPr>
        <p:spPr>
          <a:xfrm>
            <a:off x="3511440" y="2615040"/>
            <a:ext cx="21668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f3f49"/>
                </a:solidFill>
                <a:latin typeface="Calibri"/>
                <a:ea typeface="Calibri"/>
              </a:rPr>
              <a:t>A recurring solution that looks right and reliably backfires — the God Object, copy-paste reuse, missing seeds in ML training.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11"/>
          <p:cNvSpPr/>
          <p:nvPr/>
        </p:nvSpPr>
        <p:spPr>
          <a:xfrm>
            <a:off x="3511440" y="4096440"/>
            <a:ext cx="216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6b6b76"/>
                </a:solidFill>
                <a:latin typeface="Courier New"/>
                <a:ea typeface="Courier New"/>
              </a:rPr>
              <a:t>incl. 76 ML-specific ones (MLScent)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12"/>
          <p:cNvSpPr/>
          <p:nvPr/>
        </p:nvSpPr>
        <p:spPr>
          <a:xfrm>
            <a:off x="6080760" y="1463040"/>
            <a:ext cx="2605680" cy="3017160"/>
          </a:xfrm>
          <a:prstGeom prst="roundRect">
            <a:avLst>
              <a:gd name="adj" fmla="val 2807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13"/>
          <p:cNvSpPr/>
          <p:nvPr/>
        </p:nvSpPr>
        <p:spPr>
          <a:xfrm>
            <a:off x="6080760" y="1691640"/>
            <a:ext cx="2605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pc="-1" strike="noStrike">
                <a:solidFill>
                  <a:srgbClr val="000000"/>
                </a:solidFill>
                <a:latin typeface="Calibri"/>
              </a:rPr>
              <a:t>💳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14"/>
          <p:cNvSpPr/>
          <p:nvPr/>
        </p:nvSpPr>
        <p:spPr>
          <a:xfrm>
            <a:off x="6282000" y="2212920"/>
            <a:ext cx="2203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a1b3d"/>
                </a:solidFill>
                <a:latin typeface="Cambria"/>
                <a:ea typeface="Cambria"/>
              </a:rPr>
              <a:t>Technical debt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15"/>
          <p:cNvSpPr/>
          <p:nvPr/>
        </p:nvSpPr>
        <p:spPr>
          <a:xfrm>
            <a:off x="6300360" y="2615040"/>
            <a:ext cx="21668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f3f49"/>
                </a:solidFill>
                <a:latin typeface="Calibri"/>
                <a:ea typeface="Calibri"/>
              </a:rPr>
              <a:t>The future cost created by choosing the expedient solution today. Accrues interest: every sprint it stays, you pay extra effort.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16"/>
          <p:cNvSpPr/>
          <p:nvPr/>
        </p:nvSpPr>
        <p:spPr>
          <a:xfrm>
            <a:off x="6300360" y="4096440"/>
            <a:ext cx="216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6b6b76"/>
                </a:solidFill>
                <a:latin typeface="Courier New"/>
                <a:ea typeface="Courier New"/>
              </a:rPr>
              <a:t>Cunningham, 1992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17"/>
          <p:cNvSpPr/>
          <p:nvPr/>
        </p:nvSpPr>
        <p:spPr>
          <a:xfrm>
            <a:off x="502920" y="466344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6d28d9"/>
                </a:solidFill>
                <a:latin typeface="Calibri"/>
                <a:ea typeface="Calibri"/>
              </a:rPr>
              <a:t>Smells are the symptoms → anti-patterns are the diseases → debt is the bill.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WHY ANYONE FUNDS THIS WORK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Debt economics: principal vs interest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502920" y="1417320"/>
            <a:ext cx="3931560" cy="315432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777240" y="1600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The metaphor, precisely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777240" y="2011680"/>
            <a:ext cx="34286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r>
              <a:rPr b="1" lang="en-US" sz="1250" spc="-1" strike="noStrike">
                <a:solidFill>
                  <a:srgbClr val="6d28d9"/>
                </a:solidFill>
                <a:latin typeface="Calibri"/>
                <a:ea typeface="Calibri"/>
              </a:rPr>
              <a:t>Principal</a:t>
            </a:r>
            <a:r>
              <a:rPr b="0" lang="en-US" sz="1250" spc="-1" strike="noStrike">
                <a:solidFill>
                  <a:srgbClr val="3f3f49"/>
                </a:solidFill>
                <a:latin typeface="Calibri"/>
                <a:ea typeface="Calibri"/>
              </a:rPr>
              <a:t> — one-time cost of the proper fix.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1250" spc="-1" strike="noStrike">
                <a:solidFill>
                  <a:srgbClr val="6d28d9"/>
                </a:solidFill>
                <a:latin typeface="Calibri"/>
                <a:ea typeface="Calibri"/>
              </a:rPr>
              <a:t>Interest</a:t>
            </a:r>
            <a:r>
              <a:rPr b="0" lang="en-US" sz="1250" spc="-1" strike="noStrike">
                <a:solidFill>
                  <a:srgbClr val="3f3f49"/>
                </a:solidFill>
                <a:latin typeface="Calibri"/>
                <a:ea typeface="Calibri"/>
              </a:rPr>
              <a:t> — recurring cost of NOT fixing: slower features, more bugs, longer onboarding, every single sprint.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3f3f49"/>
                </a:solidFill>
                <a:latin typeface="Calibri"/>
                <a:ea typeface="Calibri"/>
              </a:rPr>
              <a:t>Taking debt can be rational</a:t>
            </a:r>
            <a:r>
              <a:rPr b="0" lang="en-US" sz="1250" spc="-1" strike="noStrike">
                <a:solidFill>
                  <a:srgbClr val="3f3f49"/>
                </a:solidFill>
                <a:latin typeface="Calibri"/>
                <a:ea typeface="Calibri"/>
              </a:rPr>
              <a:t> (ship the demo, win the deal). Unmanaged, invisible debt is what kills codebases.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5"/>
          <p:cNvSpPr/>
          <p:nvPr/>
        </p:nvSpPr>
        <p:spPr>
          <a:xfrm>
            <a:off x="4709160" y="1417320"/>
            <a:ext cx="3931560" cy="3154320"/>
          </a:xfrm>
          <a:prstGeom prst="roundRect">
            <a:avLst>
              <a:gd name="adj" fmla="val 2319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4709160" y="1783080"/>
            <a:ext cx="39315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pc="-1" strike="noStrike">
                <a:solidFill>
                  <a:srgbClr val="6d28d9"/>
                </a:solidFill>
                <a:latin typeface="Cambria"/>
                <a:ea typeface="Cambria"/>
              </a:rPr>
              <a:t>~23–42%</a:t>
            </a:r>
            <a:endParaRPr b="0" lang="en-US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5074920" y="274320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3f3f49"/>
                </a:solidFill>
                <a:latin typeface="Calibri"/>
                <a:ea typeface="Calibri"/>
              </a:rPr>
              <a:t>of developers' time is reported as wasted on technical debt and bad code in industry studies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8"/>
          <p:cNvSpPr/>
          <p:nvPr/>
        </p:nvSpPr>
        <p:spPr>
          <a:xfrm>
            <a:off x="5074920" y="3566160"/>
            <a:ext cx="3200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b6b76"/>
                </a:solidFill>
                <a:latin typeface="Calibri"/>
                <a:ea typeface="Calibri"/>
              </a:rPr>
              <a:t>Triage rule of thumb: fix high-interest / low-principal items first — schedule the big ones, they never fit “between tasks”.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MEASUREMENT BEFORE OPINION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The detection toolbox we'll hand to our agents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2"/>
          <p:cNvSpPr/>
          <p:nvPr/>
        </p:nvSpPr>
        <p:spPr>
          <a:xfrm>
            <a:off x="502920" y="1417320"/>
            <a:ext cx="3931560" cy="1462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731520" y="154548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ourier New"/>
                <a:ea typeface="Courier New"/>
              </a:rPr>
              <a:t>radon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4"/>
          <p:cNvSpPr/>
          <p:nvPr/>
        </p:nvSpPr>
        <p:spPr>
          <a:xfrm>
            <a:off x="2743200" y="1572840"/>
            <a:ext cx="1508400" cy="310680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2743200" y="1572840"/>
            <a:ext cx="1508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Metrics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731520" y="192924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f3f49"/>
                </a:solidFill>
                <a:latin typeface="Calibri"/>
                <a:ea typeface="Calibri"/>
              </a:rPr>
              <a:t>Cyclomatic complexity per function · Maintainability Index per file. Milliseconds, deterministic.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731520" y="256932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pip install radon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8"/>
          <p:cNvSpPr/>
          <p:nvPr/>
        </p:nvSpPr>
        <p:spPr>
          <a:xfrm>
            <a:off x="4709160" y="1417320"/>
            <a:ext cx="3931560" cy="1462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9"/>
          <p:cNvSpPr/>
          <p:nvPr/>
        </p:nvSpPr>
        <p:spPr>
          <a:xfrm>
            <a:off x="4937760" y="154548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ourier New"/>
                <a:ea typeface="Courier New"/>
              </a:rPr>
              <a:t>pylint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10"/>
          <p:cNvSpPr/>
          <p:nvPr/>
        </p:nvSpPr>
        <p:spPr>
          <a:xfrm>
            <a:off x="6949440" y="1572840"/>
            <a:ext cx="1508400" cy="310680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11"/>
          <p:cNvSpPr/>
          <p:nvPr/>
        </p:nvSpPr>
        <p:spPr>
          <a:xfrm>
            <a:off x="6949440" y="1572840"/>
            <a:ext cx="1508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Rules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12"/>
          <p:cNvSpPr/>
          <p:nvPr/>
        </p:nvSpPr>
        <p:spPr>
          <a:xfrm>
            <a:off x="4937760" y="192924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f3f49"/>
                </a:solidFill>
                <a:latin typeface="Calibri"/>
                <a:ea typeface="Calibri"/>
              </a:rPr>
              <a:t>Hundreds of rule-based checks — catches bug-adjacent smells like mutable default arguments.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3"/>
          <p:cNvSpPr/>
          <p:nvPr/>
        </p:nvSpPr>
        <p:spPr>
          <a:xfrm>
            <a:off x="4937760" y="256932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pip install pylint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4"/>
          <p:cNvSpPr/>
          <p:nvPr/>
        </p:nvSpPr>
        <p:spPr>
          <a:xfrm>
            <a:off x="502920" y="3044880"/>
            <a:ext cx="3931560" cy="1462680"/>
          </a:xfrm>
          <a:prstGeom prst="roundRect">
            <a:avLst>
              <a:gd name="adj" fmla="val 5000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15"/>
          <p:cNvSpPr/>
          <p:nvPr/>
        </p:nvSpPr>
        <p:spPr>
          <a:xfrm>
            <a:off x="731520" y="31730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ourier New"/>
                <a:ea typeface="Courier New"/>
              </a:rPr>
              <a:t>PyExamine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6"/>
          <p:cNvSpPr/>
          <p:nvPr/>
        </p:nvSpPr>
        <p:spPr>
          <a:xfrm>
            <a:off x="2743200" y="3200400"/>
            <a:ext cx="1508400" cy="310680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17"/>
          <p:cNvSpPr/>
          <p:nvPr/>
        </p:nvSpPr>
        <p:spPr>
          <a:xfrm>
            <a:off x="2743200" y="3200400"/>
            <a:ext cx="1508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Research · MSR 2025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18"/>
          <p:cNvSpPr/>
          <p:nvPr/>
        </p:nvSpPr>
        <p:spPr>
          <a:xfrm>
            <a:off x="731520" y="355716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f3f49"/>
                </a:solidFill>
                <a:latin typeface="Calibri"/>
                <a:ea typeface="Calibri"/>
              </a:rPr>
              <a:t>49 metrics across code, structural &amp; architectural levels. 91% recall. Built by today's instructor.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19"/>
          <p:cNvSpPr/>
          <p:nvPr/>
        </p:nvSpPr>
        <p:spPr>
          <a:xfrm>
            <a:off x="731520" y="419724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pip install code-quality-analyzer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20"/>
          <p:cNvSpPr/>
          <p:nvPr/>
        </p:nvSpPr>
        <p:spPr>
          <a:xfrm>
            <a:off x="4709160" y="3044880"/>
            <a:ext cx="3931560" cy="1462680"/>
          </a:xfrm>
          <a:prstGeom prst="roundRect">
            <a:avLst>
              <a:gd name="adj" fmla="val 5000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21"/>
          <p:cNvSpPr/>
          <p:nvPr/>
        </p:nvSpPr>
        <p:spPr>
          <a:xfrm>
            <a:off x="4937760" y="3173040"/>
            <a:ext cx="21027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ourier New"/>
                <a:ea typeface="Courier New"/>
              </a:rPr>
              <a:t>MLScent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2"/>
          <p:cNvSpPr/>
          <p:nvPr/>
        </p:nvSpPr>
        <p:spPr>
          <a:xfrm>
            <a:off x="6949440" y="3200400"/>
            <a:ext cx="1508400" cy="310680"/>
          </a:xfrm>
          <a:prstGeom prst="roundRect">
            <a:avLst>
              <a:gd name="adj" fmla="val 50000"/>
            </a:avLst>
          </a:prstGeom>
          <a:solidFill>
            <a:srgbClr val="f3effb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23"/>
          <p:cNvSpPr/>
          <p:nvPr/>
        </p:nvSpPr>
        <p:spPr>
          <a:xfrm>
            <a:off x="6949440" y="3200400"/>
            <a:ext cx="1508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Research · CAIN 2025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24"/>
          <p:cNvSpPr/>
          <p:nvPr/>
        </p:nvSpPr>
        <p:spPr>
          <a:xfrm>
            <a:off x="4937760" y="3557160"/>
            <a:ext cx="3520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3f3f49"/>
                </a:solidFill>
                <a:latin typeface="Calibri"/>
                <a:ea typeface="Calibri"/>
              </a:rPr>
              <a:t>76 ML-specific anti-patterns across TensorFlow &amp; PyTorch — missing seeds, data leakage patterns, …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25"/>
          <p:cNvSpPr/>
          <p:nvPr/>
        </p:nvSpPr>
        <p:spPr>
          <a:xfrm>
            <a:off x="4937760" y="419724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d28d9"/>
                </a:solidFill>
                <a:latin typeface="Courier New"/>
                <a:ea typeface="Courier New"/>
              </a:rPr>
              <a:t>pip install ml-code-smell-detector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26"/>
          <p:cNvSpPr/>
          <p:nvPr/>
        </p:nvSpPr>
        <p:spPr>
          <a:xfrm>
            <a:off x="502920" y="470916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6d28d9"/>
                </a:solidFill>
                <a:latin typeface="Calibri"/>
                <a:ea typeface="Calibri"/>
              </a:rPr>
              <a:t>These are the agents' eyes. The LLM never measures — it interprets.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THE CORE ABSTRACTION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An agent is just four things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"/>
          <p:cNvSpPr/>
          <p:nvPr/>
        </p:nvSpPr>
        <p:spPr>
          <a:xfrm>
            <a:off x="502920" y="1417320"/>
            <a:ext cx="3931560" cy="13896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3"/>
          <p:cNvSpPr/>
          <p:nvPr/>
        </p:nvSpPr>
        <p:spPr>
          <a:xfrm>
            <a:off x="731520" y="1618560"/>
            <a:ext cx="456840" cy="456840"/>
          </a:xfrm>
          <a:prstGeom prst="ellipse">
            <a:avLst/>
          </a:prstGeom>
          <a:solidFill>
            <a:srgbClr val="f3ef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4"/>
          <p:cNvSpPr/>
          <p:nvPr/>
        </p:nvSpPr>
        <p:spPr>
          <a:xfrm>
            <a:off x="731520" y="1618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🎭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5"/>
          <p:cNvSpPr/>
          <p:nvPr/>
        </p:nvSpPr>
        <p:spPr>
          <a:xfrm>
            <a:off x="1325880" y="160020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Role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6"/>
          <p:cNvSpPr/>
          <p:nvPr/>
        </p:nvSpPr>
        <p:spPr>
          <a:xfrm>
            <a:off x="1325880" y="196596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3f3f49"/>
                </a:solidFill>
                <a:latin typeface="Calibri"/>
                <a:ea typeface="Calibri"/>
              </a:rPr>
              <a:t>A system prompt fixing persona, goal and constraints. “You are a meticulous senior code reviewer…”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7"/>
          <p:cNvSpPr/>
          <p:nvPr/>
        </p:nvSpPr>
        <p:spPr>
          <a:xfrm>
            <a:off x="4709160" y="1417320"/>
            <a:ext cx="3931560" cy="13896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8"/>
          <p:cNvSpPr/>
          <p:nvPr/>
        </p:nvSpPr>
        <p:spPr>
          <a:xfrm>
            <a:off x="4937760" y="1618560"/>
            <a:ext cx="456840" cy="456840"/>
          </a:xfrm>
          <a:prstGeom prst="ellipse">
            <a:avLst/>
          </a:prstGeom>
          <a:solidFill>
            <a:srgbClr val="f3ef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9"/>
          <p:cNvSpPr/>
          <p:nvPr/>
        </p:nvSpPr>
        <p:spPr>
          <a:xfrm>
            <a:off x="4937760" y="16185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🧠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10"/>
          <p:cNvSpPr/>
          <p:nvPr/>
        </p:nvSpPr>
        <p:spPr>
          <a:xfrm>
            <a:off x="5532120" y="160020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Brain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11"/>
          <p:cNvSpPr/>
          <p:nvPr/>
        </p:nvSpPr>
        <p:spPr>
          <a:xfrm>
            <a:off x="5532120" y="196596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3f3f49"/>
                </a:solidFill>
                <a:latin typeface="Calibri"/>
                <a:ea typeface="Calibri"/>
              </a:rPr>
              <a:t>Any LLM behind one function call. Today: the OpenAI API — change the model on line one, nothing else.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12"/>
          <p:cNvSpPr/>
          <p:nvPr/>
        </p:nvSpPr>
        <p:spPr>
          <a:xfrm>
            <a:off x="502920" y="2990160"/>
            <a:ext cx="3931560" cy="13896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13"/>
          <p:cNvSpPr/>
          <p:nvPr/>
        </p:nvSpPr>
        <p:spPr>
          <a:xfrm>
            <a:off x="731520" y="3191400"/>
            <a:ext cx="456840" cy="456840"/>
          </a:xfrm>
          <a:prstGeom prst="ellipse">
            <a:avLst/>
          </a:prstGeom>
          <a:solidFill>
            <a:srgbClr val="f3ef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14"/>
          <p:cNvSpPr/>
          <p:nvPr/>
        </p:nvSpPr>
        <p:spPr>
          <a:xfrm>
            <a:off x="731520" y="319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🔧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15"/>
          <p:cNvSpPr/>
          <p:nvPr/>
        </p:nvSpPr>
        <p:spPr>
          <a:xfrm>
            <a:off x="1325880" y="317304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Tools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16"/>
          <p:cNvSpPr/>
          <p:nvPr/>
        </p:nvSpPr>
        <p:spPr>
          <a:xfrm>
            <a:off x="1325880" y="353880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3f3f49"/>
                </a:solidFill>
                <a:latin typeface="Calibri"/>
                <a:ea typeface="Calibri"/>
              </a:rPr>
              <a:t>Plain callables the agent invokes to perceive &amp; act: run_radon(), run_pylint(), run_pyexamine().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17"/>
          <p:cNvSpPr/>
          <p:nvPr/>
        </p:nvSpPr>
        <p:spPr>
          <a:xfrm>
            <a:off x="4709160" y="2990160"/>
            <a:ext cx="3931560" cy="13896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18"/>
          <p:cNvSpPr/>
          <p:nvPr/>
        </p:nvSpPr>
        <p:spPr>
          <a:xfrm>
            <a:off x="4937760" y="3191400"/>
            <a:ext cx="456840" cy="456840"/>
          </a:xfrm>
          <a:prstGeom prst="ellipse">
            <a:avLst/>
          </a:prstGeom>
          <a:solidFill>
            <a:srgbClr val="f3ef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19"/>
          <p:cNvSpPr/>
          <p:nvPr/>
        </p:nvSpPr>
        <p:spPr>
          <a:xfrm>
            <a:off x="4937760" y="31914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Calibri"/>
              </a:rPr>
              <a:t>📋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20"/>
          <p:cNvSpPr/>
          <p:nvPr/>
        </p:nvSpPr>
        <p:spPr>
          <a:xfrm>
            <a:off x="5532120" y="317304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Output contract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5532120" y="353880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80" spc="-1" strike="noStrike">
                <a:solidFill>
                  <a:srgbClr val="3f3f49"/>
                </a:solidFill>
                <a:latin typeface="Calibri"/>
                <a:ea typeface="Calibri"/>
              </a:rPr>
              <a:t>“</a:t>
            </a:r>
            <a:r>
              <a:rPr b="0" lang="en-US" sz="1080" spc="-1" strike="noStrike">
                <a:solidFill>
                  <a:srgbClr val="3f3f49"/>
                </a:solidFill>
                <a:latin typeface="Calibri"/>
                <a:ea typeface="Calibri"/>
              </a:rPr>
              <a:t>Reply ONLY with this JSON schema.” Turns prose into data the next agent can parse.</a:t>
            </a:r>
            <a:endParaRPr b="0" lang="en-US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22"/>
          <p:cNvSpPr/>
          <p:nvPr/>
        </p:nvSpPr>
        <p:spPr>
          <a:xfrm>
            <a:off x="502920" y="4617720"/>
            <a:ext cx="813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b6b76"/>
                </a:solidFill>
                <a:latin typeface="Calibri"/>
                <a:ea typeface="Calibri"/>
              </a:rPr>
              <a:t>Frameworks (LangGraph, AutoGen, CrewAI) add scheduling, persistence, tracing — the skeleton is identical. Today we build it bare, so you own every line.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DESIGN RULE #1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Never make an LLM guess what a tool can measure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2"/>
          <p:cNvSpPr/>
          <p:nvPr/>
        </p:nvSpPr>
        <p:spPr>
          <a:xfrm>
            <a:off x="502920" y="1463040"/>
            <a:ext cx="3931560" cy="297144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777240" y="164592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e8e5a"/>
                </a:solidFill>
                <a:latin typeface="Cambria"/>
                <a:ea typeface="Cambria"/>
              </a:rPr>
              <a:t>Deterministic tools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4"/>
          <p:cNvSpPr/>
          <p:nvPr/>
        </p:nvSpPr>
        <p:spPr>
          <a:xfrm>
            <a:off x="777240" y="2103120"/>
            <a:ext cx="33829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f3f49"/>
                </a:solidFill>
                <a:latin typeface="Calibri"/>
                <a:ea typeface="Calibri"/>
              </a:rPr>
              <a:t>measure &amp; execute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100"/>
              </a:lnSpc>
              <a:buClr>
                <a:srgbClr val="3f3f49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3f3f49"/>
                </a:solidFill>
                <a:latin typeface="Calibri"/>
                <a:ea typeface="Calibri"/>
              </a:rPr>
              <a:t>complexity, lint rules, smell metrics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100"/>
              </a:lnSpc>
              <a:buClr>
                <a:srgbClr val="3f3f49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3f3f49"/>
                </a:solidFill>
                <a:latin typeface="Calibri"/>
                <a:ea typeface="Calibri"/>
              </a:rPr>
              <a:t>run the test suite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100"/>
              </a:lnSpc>
              <a:buClr>
                <a:srgbClr val="3f3f49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3f3f49"/>
                </a:solidFill>
                <a:latin typeface="Calibri"/>
                <a:ea typeface="Calibri"/>
              </a:rPr>
              <a:t>parse the AST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100"/>
              </a:lnSpc>
              <a:buClr>
                <a:srgbClr val="3f3f49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3f3f49"/>
                </a:solidFill>
                <a:latin typeface="Calibri"/>
                <a:ea typeface="Calibri"/>
              </a:rPr>
              <a:t>fast · cheap · never hallucinate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5"/>
          <p:cNvSpPr/>
          <p:nvPr/>
        </p:nvSpPr>
        <p:spPr>
          <a:xfrm>
            <a:off x="4709160" y="1463040"/>
            <a:ext cx="3931560" cy="297144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4983480" y="164592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6d28d9"/>
                </a:solidFill>
                <a:latin typeface="Cambria"/>
                <a:ea typeface="Cambria"/>
              </a:rPr>
              <a:t>The LLM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7"/>
          <p:cNvSpPr/>
          <p:nvPr/>
        </p:nvSpPr>
        <p:spPr>
          <a:xfrm>
            <a:off x="4983480" y="2103120"/>
            <a:ext cx="338292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ts val="21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3f3f49"/>
                </a:solidFill>
                <a:latin typeface="Calibri"/>
                <a:ea typeface="Calibri"/>
              </a:rPr>
              <a:t>interpret &amp; act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100"/>
              </a:lnSpc>
              <a:buClr>
                <a:srgbClr val="3f3f49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3f3f49"/>
                </a:solidFill>
                <a:latin typeface="Calibri"/>
                <a:ea typeface="Calibri"/>
              </a:rPr>
              <a:t>explain what the numbers mean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100"/>
              </a:lnSpc>
              <a:buClr>
                <a:srgbClr val="3f3f49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3f3f49"/>
                </a:solidFill>
                <a:latin typeface="Calibri"/>
                <a:ea typeface="Calibri"/>
              </a:rPr>
              <a:t>prioritise findings in context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100"/>
              </a:lnSpc>
              <a:buClr>
                <a:srgbClr val="3f3f49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300" spc="-1" strike="noStrike">
                <a:solidFill>
                  <a:srgbClr val="3f3f49"/>
                </a:solidFill>
                <a:latin typeface="Calibri"/>
                <a:ea typeface="Calibri"/>
              </a:rPr>
              <a:t>write the refactored code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100"/>
              </a:lnSpc>
              <a:buClr>
                <a:srgbClr val="3f3f49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3f3f49"/>
                </a:solidFill>
                <a:latin typeface="Calibri"/>
                <a:ea typeface="Calibri"/>
              </a:rPr>
              <a:t>grounded in tool evidence, not vibes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8"/>
          <p:cNvSpPr/>
          <p:nvPr/>
        </p:nvSpPr>
        <p:spPr>
          <a:xfrm>
            <a:off x="502920" y="461772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6d28d9"/>
                </a:solidFill>
                <a:latin typeface="Calibri"/>
                <a:ea typeface="Calibri"/>
              </a:rPr>
              <a:t>This split is what makes an agent auditable: every claim traces back to a tool that measured it.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 0"/>
          <p:cNvSpPr/>
          <p:nvPr/>
        </p:nvSpPr>
        <p:spPr>
          <a:xfrm>
            <a:off x="548640" y="685800"/>
            <a:ext cx="914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Calibri"/>
              </a:rPr>
              <a:t>⌨️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1"/>
          <p:cNvSpPr/>
          <p:nvPr/>
        </p:nvSpPr>
        <p:spPr>
          <a:xfrm>
            <a:off x="548640" y="146304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299" strike="noStrike">
                <a:solidFill>
                  <a:srgbClr val="a78bfa"/>
                </a:solidFill>
                <a:latin typeface="Courier New"/>
                <a:ea typeface="Courier New"/>
              </a:rPr>
              <a:t>HANDS-ON · PART 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2"/>
          <p:cNvSpPr/>
          <p:nvPr/>
        </p:nvSpPr>
        <p:spPr>
          <a:xfrm>
            <a:off x="548640" y="182880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mbria"/>
                <a:ea typeface="Cambria"/>
              </a:rPr>
              <a:t>Build the Code Auditor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3"/>
          <p:cNvSpPr/>
          <p:nvPr/>
        </p:nvSpPr>
        <p:spPr>
          <a:xfrm>
            <a:off x="594360" y="2697480"/>
            <a:ext cx="69490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Meet the patient: a working-but-smelly inventory module (+ its test safety-net)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Wrap radon, pylint, PyExamine &amp; MLScent as agent tools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One llm() helper, the Agent class, and your first structured JSON audit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Same skeleton, new eyes: an ML Auditor that catches == np.nan &amp; missing zero_grad()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Exercise 1: give the auditor a magic-number AST detector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4"/>
          <p:cNvSpPr/>
          <p:nvPr/>
        </p:nvSpPr>
        <p:spPr>
          <a:xfrm>
            <a:off x="548640" y="4434840"/>
            <a:ext cx="1554120" cy="310680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3" name="Text 5"/>
          <p:cNvSpPr/>
          <p:nvPr/>
        </p:nvSpPr>
        <p:spPr>
          <a:xfrm>
            <a:off x="548640" y="4434840"/>
            <a:ext cx="1554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~50 MINUTES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6"/>
          <p:cNvSpPr/>
          <p:nvPr/>
        </p:nvSpPr>
        <p:spPr>
          <a:xfrm>
            <a:off x="2240280" y="4434840"/>
            <a:ext cx="3748680" cy="310680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5" name="Text 7"/>
          <p:cNvSpPr/>
          <p:nvPr/>
        </p:nvSpPr>
        <p:spPr>
          <a:xfrm>
            <a:off x="2240280" y="4434840"/>
            <a:ext cx="3748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🎯 </a:t>
            </a:r>
            <a:r>
              <a:rPr b="0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PREDICT IN §1.2 · STUCK? HAND UP ✋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PART 2 PREVIEW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From one agent to a cooperating team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502920" y="1828800"/>
            <a:ext cx="2285640" cy="114264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502920" y="195696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a1b3d"/>
                </a:solidFill>
                <a:latin typeface="Cambria"/>
                <a:ea typeface="Cambria"/>
              </a:rPr>
              <a:t>🕵️ </a:t>
            </a:r>
            <a:r>
              <a:rPr b="1" lang="en-US" sz="1500" spc="-1" strike="noStrike">
                <a:solidFill>
                  <a:srgbClr val="2a1b3d"/>
                </a:solidFill>
                <a:latin typeface="Cambria"/>
                <a:ea typeface="Cambria"/>
              </a:rPr>
              <a:t>Auditor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4"/>
          <p:cNvSpPr/>
          <p:nvPr/>
        </p:nvSpPr>
        <p:spPr>
          <a:xfrm>
            <a:off x="612720" y="2286000"/>
            <a:ext cx="2066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6b76"/>
                </a:solidFill>
                <a:latin typeface="Calibri"/>
                <a:ea typeface="Calibri"/>
              </a:rPr>
              <a:t>tools + LLM →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6b76"/>
                </a:solidFill>
                <a:latin typeface="Calibri"/>
                <a:ea typeface="Calibri"/>
              </a:rPr>
              <a:t>JSON findings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5"/>
          <p:cNvSpPr/>
          <p:nvPr/>
        </p:nvSpPr>
        <p:spPr>
          <a:xfrm>
            <a:off x="3429000" y="1828800"/>
            <a:ext cx="2285640" cy="114264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3429000" y="195696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a1b3d"/>
                </a:solidFill>
                <a:latin typeface="Cambria"/>
                <a:ea typeface="Cambria"/>
              </a:rPr>
              <a:t>🔧 </a:t>
            </a:r>
            <a:r>
              <a:rPr b="1" lang="en-US" sz="1500" spc="-1" strike="noStrike">
                <a:solidFill>
                  <a:srgbClr val="2a1b3d"/>
                </a:solidFill>
                <a:latin typeface="Cambria"/>
                <a:ea typeface="Cambria"/>
              </a:rPr>
              <a:t>Refactorer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7"/>
          <p:cNvSpPr/>
          <p:nvPr/>
        </p:nvSpPr>
        <p:spPr>
          <a:xfrm>
            <a:off x="3538800" y="2286000"/>
            <a:ext cx="2066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6b76"/>
                </a:solidFill>
                <a:latin typeface="Calibri"/>
                <a:ea typeface="Calibri"/>
              </a:rPr>
              <a:t>rewrites module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6b76"/>
                </a:solidFill>
                <a:latin typeface="Calibri"/>
                <a:ea typeface="Calibri"/>
              </a:rPr>
              <a:t>under hard invariants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8"/>
          <p:cNvSpPr/>
          <p:nvPr/>
        </p:nvSpPr>
        <p:spPr>
          <a:xfrm>
            <a:off x="6355080" y="1828800"/>
            <a:ext cx="2285640" cy="1142640"/>
          </a:xfrm>
          <a:prstGeom prst="roundRect">
            <a:avLst>
              <a:gd name="adj" fmla="val 6400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6355080" y="195696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a1b3d"/>
                </a:solidFill>
                <a:latin typeface="Cambria"/>
                <a:ea typeface="Cambria"/>
              </a:rPr>
              <a:t>🛡️ </a:t>
            </a:r>
            <a:r>
              <a:rPr b="1" lang="en-US" sz="1500" spc="-1" strike="noStrike">
                <a:solidFill>
                  <a:srgbClr val="2a1b3d"/>
                </a:solidFill>
                <a:latin typeface="Cambria"/>
                <a:ea typeface="Cambria"/>
              </a:rPr>
              <a:t>QA Verifier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10"/>
          <p:cNvSpPr/>
          <p:nvPr/>
        </p:nvSpPr>
        <p:spPr>
          <a:xfrm>
            <a:off x="6464880" y="2286000"/>
            <a:ext cx="2066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6b76"/>
                </a:solidFill>
                <a:latin typeface="Calibri"/>
                <a:ea typeface="Calibri"/>
              </a:rPr>
              <a:t>syntax → tests → metrics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6b76"/>
                </a:solidFill>
                <a:latin typeface="Calibri"/>
                <a:ea typeface="Calibri"/>
              </a:rPr>
              <a:t>NO LLM inside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11"/>
          <p:cNvSpPr/>
          <p:nvPr/>
        </p:nvSpPr>
        <p:spPr>
          <a:xfrm>
            <a:off x="2788920" y="2395440"/>
            <a:ext cx="640080" cy="360"/>
          </a:xfrm>
          <a:prstGeom prst="line">
            <a:avLst/>
          </a:prstGeom>
          <a:ln w="31750">
            <a:solidFill>
              <a:srgbClr val="6d28d9"/>
            </a:solidFill>
            <a:round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2"/>
          <p:cNvSpPr/>
          <p:nvPr/>
        </p:nvSpPr>
        <p:spPr>
          <a:xfrm>
            <a:off x="5715000" y="2395440"/>
            <a:ext cx="640080" cy="360"/>
          </a:xfrm>
          <a:prstGeom prst="line">
            <a:avLst/>
          </a:prstGeom>
          <a:ln w="31750">
            <a:solidFill>
              <a:srgbClr val="6d28d9"/>
            </a:solidFill>
            <a:round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13"/>
          <p:cNvSpPr/>
          <p:nvPr/>
        </p:nvSpPr>
        <p:spPr>
          <a:xfrm>
            <a:off x="2697480" y="2048400"/>
            <a:ext cx="868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6b76"/>
                </a:solidFill>
                <a:latin typeface="Courier New"/>
                <a:ea typeface="Courier New"/>
              </a:rPr>
              <a:t>findings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5605200" y="2048400"/>
            <a:ext cx="868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6b76"/>
                </a:solidFill>
                <a:latin typeface="Courier New"/>
                <a:ea typeface="Courier New"/>
              </a:rPr>
              <a:t>candidate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5"/>
          <p:cNvSpPr/>
          <p:nvPr/>
        </p:nvSpPr>
        <p:spPr>
          <a:xfrm>
            <a:off x="3429000" y="3657600"/>
            <a:ext cx="2285640" cy="914040"/>
          </a:xfrm>
          <a:prstGeom prst="roundRect">
            <a:avLst>
              <a:gd name="adj" fmla="val 8000"/>
            </a:avLst>
          </a:prstGeom>
          <a:solidFill>
            <a:srgbClr val="efe9fa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3429000" y="378576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a1b3d"/>
                </a:solidFill>
                <a:latin typeface="Cambria"/>
                <a:ea typeface="Cambria"/>
              </a:rPr>
              <a:t>🎛️ </a:t>
            </a:r>
            <a:r>
              <a:rPr b="1" lang="en-US" sz="1500" spc="-1" strike="noStrike">
                <a:solidFill>
                  <a:srgbClr val="2a1b3d"/>
                </a:solidFill>
                <a:latin typeface="Cambria"/>
                <a:ea typeface="Cambria"/>
              </a:rPr>
              <a:t>Orchestrator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17"/>
          <p:cNvSpPr/>
          <p:nvPr/>
        </p:nvSpPr>
        <p:spPr>
          <a:xfrm>
            <a:off x="3538800" y="4114800"/>
            <a:ext cx="206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6b76"/>
                </a:solidFill>
                <a:latin typeface="Calibri"/>
                <a:ea typeface="Calibri"/>
              </a:rPr>
              <a:t>retry loop + iteration budget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6b6b76"/>
                </a:solidFill>
                <a:latin typeface="Calibri"/>
                <a:ea typeface="Calibri"/>
              </a:rPr>
              <a:t>+ audit trail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8"/>
          <p:cNvSpPr/>
          <p:nvPr/>
        </p:nvSpPr>
        <p:spPr>
          <a:xfrm>
            <a:off x="7498080" y="2971800"/>
            <a:ext cx="360" cy="1143000"/>
          </a:xfrm>
          <a:prstGeom prst="line">
            <a:avLst/>
          </a:prstGeom>
          <a:ln w="25400">
            <a:solidFill>
              <a:srgbClr val="c0392b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9"/>
          <p:cNvSpPr/>
          <p:nvPr/>
        </p:nvSpPr>
        <p:spPr>
          <a:xfrm>
            <a:off x="5715000" y="4114800"/>
            <a:ext cx="1783080" cy="360"/>
          </a:xfrm>
          <a:prstGeom prst="line">
            <a:avLst/>
          </a:prstGeom>
          <a:ln w="25400">
            <a:solidFill>
              <a:srgbClr val="c0392b"/>
            </a:solidFill>
            <a:prstDash val="dash"/>
            <a:round/>
            <a:head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20"/>
          <p:cNvSpPr/>
          <p:nvPr/>
        </p:nvSpPr>
        <p:spPr>
          <a:xfrm>
            <a:off x="2560320" y="4114800"/>
            <a:ext cx="868680" cy="360"/>
          </a:xfrm>
          <a:prstGeom prst="line">
            <a:avLst/>
          </a:prstGeom>
          <a:ln w="25400">
            <a:solidFill>
              <a:srgbClr val="1e8e5a"/>
            </a:solidFill>
            <a:round/>
            <a:head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21"/>
          <p:cNvSpPr/>
          <p:nvPr/>
        </p:nvSpPr>
        <p:spPr>
          <a:xfrm>
            <a:off x="2560320" y="2971800"/>
            <a:ext cx="360" cy="1143000"/>
          </a:xfrm>
          <a:prstGeom prst="line">
            <a:avLst/>
          </a:prstGeom>
          <a:ln w="25400">
            <a:solidFill>
              <a:srgbClr val="1e8e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22"/>
          <p:cNvSpPr/>
          <p:nvPr/>
        </p:nvSpPr>
        <p:spPr>
          <a:xfrm>
            <a:off x="5806440" y="4160520"/>
            <a:ext cx="1737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c0392b"/>
                </a:solidFill>
                <a:latin typeface="Courier New"/>
                <a:ea typeface="Courier New"/>
              </a:rPr>
              <a:t>❌ </a:t>
            </a:r>
            <a:r>
              <a:rPr b="0" lang="en-US" sz="850" spc="-1" strike="noStrike">
                <a:solidFill>
                  <a:srgbClr val="c0392b"/>
                </a:solidFill>
                <a:latin typeface="Courier New"/>
                <a:ea typeface="Courier New"/>
              </a:rPr>
              <a:t>reject + failure notes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23"/>
          <p:cNvSpPr/>
          <p:nvPr/>
        </p:nvSpPr>
        <p:spPr>
          <a:xfrm>
            <a:off x="1051560" y="4160520"/>
            <a:ext cx="1554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1e8e5a"/>
                </a:solidFill>
                <a:latin typeface="Courier New"/>
                <a:ea typeface="Courier New"/>
              </a:rPr>
              <a:t>✅ </a:t>
            </a:r>
            <a:r>
              <a:rPr b="0" lang="en-US" sz="850" spc="-1" strike="noStrike">
                <a:solidFill>
                  <a:srgbClr val="1e8e5a"/>
                </a:solidFill>
                <a:latin typeface="Courier New"/>
                <a:ea typeface="Courier New"/>
              </a:rPr>
              <a:t>accept / retry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24"/>
          <p:cNvSpPr/>
          <p:nvPr/>
        </p:nvSpPr>
        <p:spPr>
          <a:xfrm>
            <a:off x="502920" y="475488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6d28d9"/>
                </a:solidFill>
                <a:latin typeface="Calibri"/>
                <a:ea typeface="Calibri"/>
              </a:rPr>
              <a:t>The QA agent is deliberately NOT an LLM — never let the fox audit the henhouse.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HOW AGENTS TALK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Shared state (blackboard) vs message passing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"/>
          <p:cNvSpPr/>
          <p:nvPr/>
        </p:nvSpPr>
        <p:spPr>
          <a:xfrm>
            <a:off x="502920" y="1463040"/>
            <a:ext cx="3931560" cy="2880000"/>
          </a:xfrm>
          <a:prstGeom prst="roundRect">
            <a:avLst>
              <a:gd name="adj" fmla="val 2540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777240" y="164592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6d28d9"/>
                </a:solidFill>
                <a:latin typeface="Cambria"/>
                <a:ea typeface="Cambria"/>
              </a:rPr>
              <a:t>Blackboard  ✓ today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4"/>
          <p:cNvSpPr/>
          <p:nvPr/>
        </p:nvSpPr>
        <p:spPr>
          <a:xfrm>
            <a:off x="777240" y="2084760"/>
            <a:ext cx="34286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ts val="2001"/>
              </a:lnSpc>
              <a:buClr>
                <a:srgbClr val="3f3f49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3f3f49"/>
                </a:solidFill>
                <a:latin typeface="Calibri"/>
                <a:ea typeface="Calibri"/>
              </a:rPr>
              <a:t>all agents read/write ONE state object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001"/>
              </a:lnSpc>
              <a:buClr>
                <a:srgbClr val="3f3f49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3f3f49"/>
                </a:solidFill>
                <a:latin typeface="Calibri"/>
                <a:ea typeface="Calibri"/>
              </a:rPr>
              <a:t>orchestrator decides who acts next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001"/>
              </a:lnSpc>
              <a:buClr>
                <a:srgbClr val="3f3f49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3f3f49"/>
                </a:solidFill>
                <a:latin typeface="Calibri"/>
                <a:ea typeface="Calibri"/>
              </a:rPr>
              <a:t>every write is logged → replayable audit trail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001"/>
              </a:lnSpc>
              <a:buClr>
                <a:srgbClr val="3f3f49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3f3f49"/>
                </a:solidFill>
                <a:latin typeface="Calibri"/>
                <a:ea typeface="Calibri"/>
              </a:rPr>
              <a:t>the pattern behind LangGraph-style graphs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5"/>
          <p:cNvSpPr/>
          <p:nvPr/>
        </p:nvSpPr>
        <p:spPr>
          <a:xfrm>
            <a:off x="4709160" y="1463040"/>
            <a:ext cx="3931560" cy="288000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4983480" y="164592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Message passing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4983480" y="2084760"/>
            <a:ext cx="34286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ts val="2001"/>
              </a:lnSpc>
              <a:buClr>
                <a:srgbClr val="3f3f49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3f3f49"/>
                </a:solidFill>
                <a:latin typeface="Calibri"/>
                <a:ea typeface="Calibri"/>
              </a:rPr>
              <a:t>agents converse via addressed messages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001"/>
              </a:lnSpc>
              <a:buClr>
                <a:srgbClr val="3f3f49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3f3f49"/>
                </a:solidFill>
                <a:latin typeface="Calibri"/>
                <a:ea typeface="Calibri"/>
              </a:rPr>
              <a:t>flexible, emergent coordination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001"/>
              </a:lnSpc>
              <a:buClr>
                <a:srgbClr val="3f3f49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3f3f49"/>
                </a:solidFill>
                <a:latin typeface="Calibri"/>
                <a:ea typeface="Calibri"/>
              </a:rPr>
              <a:t>harder to bound, debug &amp; replay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ts val="2001"/>
              </a:lnSpc>
              <a:buClr>
                <a:srgbClr val="3f3f49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3f3f49"/>
                </a:solidFill>
                <a:latin typeface="Calibri"/>
                <a:ea typeface="Calibri"/>
              </a:rPr>
              <a:t>the pattern behind AutoGen-style chats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8"/>
          <p:cNvSpPr/>
          <p:nvPr/>
        </p:nvSpPr>
        <p:spPr>
          <a:xfrm>
            <a:off x="502920" y="457200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50" spc="-1" strike="noStrike">
                <a:solidFill>
                  <a:srgbClr val="6d28d9"/>
                </a:solidFill>
                <a:latin typeface="Calibri"/>
                <a:ea typeface="Calibri"/>
              </a:rPr>
              <a:t>When an agent misbehaves, the state history is your debugger. Log everything.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THE THESIS OF THIS WORKSHOP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Generation is cheap. Verification is everything.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2"/>
          <p:cNvSpPr/>
          <p:nvPr/>
        </p:nvSpPr>
        <p:spPr>
          <a:xfrm>
            <a:off x="502920" y="1463040"/>
            <a:ext cx="813780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731520" y="1682640"/>
            <a:ext cx="383760" cy="383760"/>
          </a:xfrm>
          <a:prstGeom prst="ellipse">
            <a:avLst/>
          </a:prstGeom>
          <a:solidFill>
            <a:srgbClr val="6d28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4"/>
          <p:cNvSpPr/>
          <p:nvPr/>
        </p:nvSpPr>
        <p:spPr>
          <a:xfrm>
            <a:off x="731520" y="16826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1298520" y="157284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a1b3d"/>
                </a:solidFill>
                <a:latin typeface="Cambria"/>
                <a:ea typeface="Cambria"/>
              </a:rPr>
              <a:t>Gate 1 · Syntax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1298520" y="189288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d28d9"/>
                </a:solidFill>
                <a:latin typeface="Courier New"/>
                <a:ea typeface="Courier New"/>
              </a:rPr>
              <a:t>ast.parse()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4069080" y="157284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8e5a"/>
                </a:solidFill>
                <a:latin typeface="Courier New"/>
                <a:ea typeface="Courier New"/>
              </a:rPr>
              <a:t>~1 ms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8"/>
          <p:cNvSpPr/>
          <p:nvPr/>
        </p:nvSpPr>
        <p:spPr>
          <a:xfrm>
            <a:off x="4892040" y="1572840"/>
            <a:ext cx="36115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b6b76"/>
                </a:solidFill>
                <a:latin typeface="Calibri"/>
                <a:ea typeface="Calibri"/>
              </a:rPr>
              <a:t>catches truncated / mangled output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9"/>
          <p:cNvSpPr/>
          <p:nvPr/>
        </p:nvSpPr>
        <p:spPr>
          <a:xfrm>
            <a:off x="502920" y="2423160"/>
            <a:ext cx="6949080" cy="822600"/>
          </a:xfrm>
          <a:prstGeom prst="roundRect">
            <a:avLst>
              <a:gd name="adj" fmla="val 8889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10"/>
          <p:cNvSpPr/>
          <p:nvPr/>
        </p:nvSpPr>
        <p:spPr>
          <a:xfrm>
            <a:off x="731520" y="2642760"/>
            <a:ext cx="383760" cy="383760"/>
          </a:xfrm>
          <a:prstGeom prst="ellipse">
            <a:avLst/>
          </a:prstGeom>
          <a:solidFill>
            <a:srgbClr val="6d28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11"/>
          <p:cNvSpPr/>
          <p:nvPr/>
        </p:nvSpPr>
        <p:spPr>
          <a:xfrm>
            <a:off x="731520" y="26427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12"/>
          <p:cNvSpPr/>
          <p:nvPr/>
        </p:nvSpPr>
        <p:spPr>
          <a:xfrm>
            <a:off x="1298520" y="253296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a1b3d"/>
                </a:solidFill>
                <a:latin typeface="Cambria"/>
                <a:ea typeface="Cambria"/>
              </a:rPr>
              <a:t>Gate 2 · Behaviour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13"/>
          <p:cNvSpPr/>
          <p:nvPr/>
        </p:nvSpPr>
        <p:spPr>
          <a:xfrm>
            <a:off x="1298520" y="285300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d28d9"/>
                </a:solidFill>
                <a:latin typeface="Courier New"/>
                <a:ea typeface="Courier New"/>
              </a:rPr>
              <a:t>full pytest suite in a sandbox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14"/>
          <p:cNvSpPr/>
          <p:nvPr/>
        </p:nvSpPr>
        <p:spPr>
          <a:xfrm>
            <a:off x="4069080" y="253296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8e5a"/>
                </a:solidFill>
                <a:latin typeface="Courier New"/>
                <a:ea typeface="Courier New"/>
              </a:rPr>
              <a:t>~1 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15"/>
          <p:cNvSpPr/>
          <p:nvPr/>
        </p:nvSpPr>
        <p:spPr>
          <a:xfrm>
            <a:off x="4892040" y="2532960"/>
            <a:ext cx="2422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b6b76"/>
                </a:solidFill>
                <a:latin typeface="Calibri"/>
                <a:ea typeface="Calibri"/>
              </a:rPr>
              <a:t>catches plausible-but-wrong code — the killer failure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16"/>
          <p:cNvSpPr/>
          <p:nvPr/>
        </p:nvSpPr>
        <p:spPr>
          <a:xfrm>
            <a:off x="502920" y="3383280"/>
            <a:ext cx="5760360" cy="8226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7"/>
          <p:cNvSpPr/>
          <p:nvPr/>
        </p:nvSpPr>
        <p:spPr>
          <a:xfrm>
            <a:off x="731520" y="3602880"/>
            <a:ext cx="383760" cy="383760"/>
          </a:xfrm>
          <a:prstGeom prst="ellipse">
            <a:avLst/>
          </a:prstGeom>
          <a:solidFill>
            <a:srgbClr val="6d28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18"/>
          <p:cNvSpPr/>
          <p:nvPr/>
        </p:nvSpPr>
        <p:spPr>
          <a:xfrm>
            <a:off x="731520" y="3602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19"/>
          <p:cNvSpPr/>
          <p:nvPr/>
        </p:nvSpPr>
        <p:spPr>
          <a:xfrm>
            <a:off x="1298520" y="349308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a1b3d"/>
                </a:solidFill>
                <a:latin typeface="Cambria"/>
                <a:ea typeface="Cambria"/>
              </a:rPr>
              <a:t>Gate 3 · Quality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20"/>
          <p:cNvSpPr/>
          <p:nvPr/>
        </p:nvSpPr>
        <p:spPr>
          <a:xfrm>
            <a:off x="1298520" y="381312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d28d9"/>
                </a:solidFill>
                <a:latin typeface="Courier New"/>
                <a:ea typeface="Courier New"/>
              </a:rPr>
              <a:t>radon complexity must not worsen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 21"/>
          <p:cNvSpPr/>
          <p:nvPr/>
        </p:nvSpPr>
        <p:spPr>
          <a:xfrm>
            <a:off x="4069080" y="3493080"/>
            <a:ext cx="82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e8e5a"/>
                </a:solidFill>
                <a:latin typeface="Courier New"/>
                <a:ea typeface="Courier New"/>
              </a:rPr>
              <a:t>~0.1 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22"/>
          <p:cNvSpPr/>
          <p:nvPr/>
        </p:nvSpPr>
        <p:spPr>
          <a:xfrm>
            <a:off x="4892040" y="3493080"/>
            <a:ext cx="1234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b6b76"/>
                </a:solidFill>
                <a:latin typeface="Calibri"/>
                <a:ea typeface="Calibri"/>
              </a:rPr>
              <a:t>catches “fixes” that made things worse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23"/>
          <p:cNvSpPr/>
          <p:nvPr/>
        </p:nvSpPr>
        <p:spPr>
          <a:xfrm>
            <a:off x="502920" y="452628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6d28d9"/>
                </a:solidFill>
                <a:latin typeface="Calibri"/>
                <a:ea typeface="Calibri"/>
              </a:rPr>
              <a:t>Cheapest gate first — fail fast, spend compute only on survivors. Tests were written BEFORE any agent ran: they are the contract.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FAILURE-PATTERN FIELD GUIDE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How agentic systems break (and what tames them)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46" name="Table 0"/>
          <p:cNvGraphicFramePr/>
          <p:nvPr/>
        </p:nvGraphicFramePr>
        <p:xfrm>
          <a:off x="502920" y="1417320"/>
          <a:ext cx="8137800" cy="323388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2560320"/>
              </a:tblGrid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mbria"/>
                          <a:ea typeface="Cambria"/>
                        </a:rPr>
                        <a:t>Pattern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2a1b3d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mbria"/>
                          <a:ea typeface="Cambria"/>
                        </a:rPr>
                        <a:t>Looks like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2a1b3d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mbria"/>
                          <a:ea typeface="Cambria"/>
                        </a:rPr>
                        <a:t>Mitigation (we built it)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2a1b3d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2a1b3d"/>
                          </a:solidFill>
                          <a:latin typeface="Calibri"/>
                          <a:ea typeface="Calibri"/>
                        </a:rPr>
                        <a:t>Plausible-but-wrong code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i="1" lang="en-US" sz="1050" spc="-1" strike="noStrike">
                          <a:solidFill>
                            <a:srgbClr val="50505a"/>
                          </a:solidFill>
                          <a:latin typeface="Courier New"/>
                          <a:ea typeface="Courier New"/>
                        </a:rPr>
                        <a:t>clean-looking patch, changed behaviour</a:t>
                      </a:r>
                      <a:endParaRPr b="0" lang="en-US" sz="10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1e8e5a"/>
                          </a:solidFill>
                          <a:latin typeface="Calibri"/>
                          <a:ea typeface="Calibri"/>
                        </a:rPr>
                        <a:t>test-suite gate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2a1b3d"/>
                          </a:solidFill>
                          <a:latin typeface="Calibri"/>
                          <a:ea typeface="Calibri"/>
                        </a:rPr>
                        <a:t>Hallucinated APIs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i="1" lang="en-US" sz="1050" spc="-1" strike="noStrike">
                          <a:solidFill>
                            <a:srgbClr val="50505a"/>
                          </a:solidFill>
                          <a:latin typeface="Courier New"/>
                          <a:ea typeface="Courier New"/>
                        </a:rPr>
                        <a:t>import superfixlib</a:t>
                      </a:r>
                      <a:endParaRPr b="0" lang="en-US" sz="10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1e8e5a"/>
                          </a:solidFill>
                          <a:latin typeface="Calibri"/>
                          <a:ea typeface="Calibri"/>
                        </a:rPr>
                        <a:t>stdlib-only rule + sandboxed execution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3effb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2a1b3d"/>
                          </a:solidFill>
                          <a:latin typeface="Calibri"/>
                          <a:ea typeface="Calibri"/>
                        </a:rPr>
                        <a:t>Truncated output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i="1" lang="en-US" sz="1050" spc="-1" strike="noStrike">
                          <a:solidFill>
                            <a:srgbClr val="50505a"/>
                          </a:solidFill>
                          <a:latin typeface="Courier New"/>
                          <a:ea typeface="Courier New"/>
                        </a:rPr>
                        <a:t>half a module arrives</a:t>
                      </a:r>
                      <a:endParaRPr b="0" lang="en-US" sz="10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1e8e5a"/>
                          </a:solidFill>
                          <a:latin typeface="Calibri"/>
                          <a:ea typeface="Calibri"/>
                        </a:rPr>
                        <a:t>syntax gate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2a1b3d"/>
                          </a:solidFill>
                          <a:latin typeface="Calibri"/>
                          <a:ea typeface="Calibri"/>
                        </a:rPr>
                        <a:t>Runaway retry loops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i="1" lang="en-US" sz="1050" spc="-1" strike="noStrike">
                          <a:solidFill>
                            <a:srgbClr val="50505a"/>
                          </a:solidFill>
                          <a:latin typeface="Courier New"/>
                          <a:ea typeface="Courier New"/>
                        </a:rPr>
                        <a:t>never converges, bill explodes</a:t>
                      </a:r>
                      <a:endParaRPr b="0" lang="en-US" sz="10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1e8e5a"/>
                          </a:solidFill>
                          <a:latin typeface="Calibri"/>
                          <a:ea typeface="Calibri"/>
                        </a:rPr>
                        <a:t>iteration &amp; token budgets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3effb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2a1b3d"/>
                          </a:solidFill>
                          <a:latin typeface="Calibri"/>
                          <a:ea typeface="Calibri"/>
                        </a:rPr>
                        <a:t>Goal drift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i="1" lang="en-US" sz="1050" spc="-1" strike="noStrike">
                          <a:solidFill>
                            <a:srgbClr val="50505a"/>
                          </a:solidFill>
                          <a:latin typeface="Courier New"/>
                          <a:ea typeface="Courier New"/>
                        </a:rPr>
                        <a:t>“</a:t>
                      </a:r>
                      <a:r>
                        <a:rPr b="0" i="1" lang="en-US" sz="1050" spc="-1" strike="noStrike">
                          <a:solidFill>
                            <a:srgbClr val="50505a"/>
                          </a:solidFill>
                          <a:latin typeface="Courier New"/>
                          <a:ea typeface="Courier New"/>
                        </a:rPr>
                        <a:t>while I was here, I redesigned your API”</a:t>
                      </a:r>
                      <a:endParaRPr b="0" lang="en-US" sz="10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1e8e5a"/>
                          </a:solidFill>
                          <a:latin typeface="Calibri"/>
                          <a:ea typeface="Calibri"/>
                        </a:rPr>
                        <a:t>explicit invariants in the prompt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pc="-1" strike="noStrike">
                          <a:solidFill>
                            <a:srgbClr val="2a1b3d"/>
                          </a:solidFill>
                          <a:latin typeface="Calibri"/>
                          <a:ea typeface="Calibri"/>
                        </a:rPr>
                        <a:t>Metric gaming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i="1" lang="en-US" sz="1050" spc="-1" strike="noStrike">
                          <a:solidFill>
                            <a:srgbClr val="50505a"/>
                          </a:solidFill>
                          <a:latin typeface="Courier New"/>
                          <a:ea typeface="Courier New"/>
                        </a:rPr>
                        <a:t>deletes code to lower complexity</a:t>
                      </a:r>
                      <a:endParaRPr b="0" lang="en-US" sz="10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3effb"/>
                    </a:solidFill>
                  </a:tcPr>
                </a:tc>
                <a:tc>
                  <a:txBody>
                    <a:bodyPr lIns="54720" rIns="54720" tIns="5472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pc="-1" strike="noStrike">
                          <a:solidFill>
                            <a:srgbClr val="1e8e5a"/>
                          </a:solidFill>
                          <a:latin typeface="Calibri"/>
                          <a:ea typeface="Calibri"/>
                        </a:rPr>
                        <a:t>multiple independent gates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54720" marR="54720">
                    <a:lnL w="9360">
                      <a:solidFill>
                        <a:srgbClr val="e4dcf5"/>
                      </a:solidFill>
                      <a:prstDash val="solid"/>
                    </a:lnL>
                    <a:lnR w="9360">
                      <a:solidFill>
                        <a:srgbClr val="e4dcf5"/>
                      </a:solidFill>
                      <a:prstDash val="solid"/>
                    </a:lnR>
                    <a:lnT w="9360">
                      <a:solidFill>
                        <a:srgbClr val="e4dcf5"/>
                      </a:solidFill>
                      <a:prstDash val="solid"/>
                    </a:lnT>
                    <a:lnB w="9360">
                      <a:solidFill>
                        <a:srgbClr val="e4dcf5"/>
                      </a:solidFill>
                      <a:prstDash val="solid"/>
                    </a:lnB>
                    <a:solidFill>
                      <a:srgbClr val="f3effb"/>
                    </a:solidFill>
                  </a:tcPr>
                </a:tc>
              </a:tr>
            </a:tbl>
          </a:graphicData>
        </a:graphic>
      </p:graphicFrame>
      <p:sp>
        <p:nvSpPr>
          <p:cNvPr id="247" name="Text 2"/>
          <p:cNvSpPr/>
          <p:nvPr/>
        </p:nvSpPr>
        <p:spPr>
          <a:xfrm>
            <a:off x="502920" y="47365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6d28d9"/>
                </a:solidFill>
                <a:latin typeface="Calibri"/>
                <a:ea typeface="Calibri"/>
              </a:rPr>
              <a:t>You will meet at least two of these live in Part 2 — on purpose. A seventh, contract drift, already bit us in §1.2.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548640" y="685800"/>
            <a:ext cx="914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Calibri"/>
              </a:rPr>
              <a:t>⌨️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548640" y="146304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299" strike="noStrike">
                <a:solidFill>
                  <a:srgbClr val="a78bfa"/>
                </a:solidFill>
                <a:latin typeface="Courier New"/>
                <a:ea typeface="Courier New"/>
              </a:rPr>
              <a:t>HANDS-ON · PART 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548640" y="182880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mbria"/>
                <a:ea typeface="Cambria"/>
              </a:rPr>
              <a:t>Build the Refactoring Team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594360" y="2697480"/>
            <a:ext cx="69490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Blackboard state + audit trail (WorkflowState)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Refactoring Agent under hard invariants · deterministic QA agent with 3 gates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Orchestrator retry loop with failure-note feedback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Failure lab: sabotage the VAT rate — watch Gate 2 catch it · Exercise 2: extend the team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Shape 4"/>
          <p:cNvSpPr/>
          <p:nvPr/>
        </p:nvSpPr>
        <p:spPr>
          <a:xfrm>
            <a:off x="548640" y="4434840"/>
            <a:ext cx="1554120" cy="310680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548640" y="4434840"/>
            <a:ext cx="1554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~60 MINUTES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Shape 6"/>
          <p:cNvSpPr/>
          <p:nvPr/>
        </p:nvSpPr>
        <p:spPr>
          <a:xfrm>
            <a:off x="2240280" y="4434840"/>
            <a:ext cx="3748680" cy="310680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5" name="Text 7"/>
          <p:cNvSpPr/>
          <p:nvPr/>
        </p:nvSpPr>
        <p:spPr>
          <a:xfrm>
            <a:off x="2240280" y="4434840"/>
            <a:ext cx="3748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🎯 </a:t>
            </a:r>
            <a:r>
              <a:rPr b="0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PREDICT IN §2.7 · STUCK? HAND UP ✋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PART 3 PREVIEW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Most debt is reported in words, not code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2"/>
          <p:cNvSpPr/>
          <p:nvPr/>
        </p:nvSpPr>
        <p:spPr>
          <a:xfrm>
            <a:off x="502920" y="1417320"/>
            <a:ext cx="3931560" cy="31086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 3"/>
          <p:cNvSpPr/>
          <p:nvPr/>
        </p:nvSpPr>
        <p:spPr>
          <a:xfrm>
            <a:off x="777240" y="1600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Classify — BEACon-TD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777240" y="2011680"/>
            <a:ext cx="34286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f3f49"/>
                </a:solidFill>
                <a:latin typeface="Calibri"/>
                <a:ea typeface="Calibri"/>
              </a:rPr>
              <a:t>Issue trackers are debt gold-mines: “the README is wrong”, “zero tests for refunds”, “pinned to EOL Django”…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f3f49"/>
                </a:solidFill>
                <a:latin typeface="Calibri"/>
                <a:ea typeface="Calibri"/>
              </a:rPr>
              <a:t>BEACon-TD (JSS 2025) fine-tunes transformers to classify 13 debt types from real issue trackers. We approximate it zero-shot with a constrained-label prompt — then discuss why fine-tuned &amp; small wins in production.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5"/>
          <p:cNvSpPr/>
          <p:nvPr/>
        </p:nvSpPr>
        <p:spPr>
          <a:xfrm>
            <a:off x="4709160" y="1417320"/>
            <a:ext cx="3931560" cy="3108600"/>
          </a:xfrm>
          <a:prstGeom prst="roundRect">
            <a:avLst>
              <a:gd name="adj" fmla="val 2353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4983480" y="1600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a1b3d"/>
                </a:solidFill>
                <a:latin typeface="Cambria"/>
                <a:ea typeface="Cambria"/>
              </a:rPr>
              <a:t>Triage — the debt quadrant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7"/>
          <p:cNvSpPr/>
          <p:nvPr/>
        </p:nvSpPr>
        <p:spPr>
          <a:xfrm>
            <a:off x="5257800" y="3977640"/>
            <a:ext cx="2834640" cy="360"/>
          </a:xfrm>
          <a:prstGeom prst="line">
            <a:avLst/>
          </a:prstGeom>
          <a:ln w="19050">
            <a:solidFill>
              <a:srgbClr val="6b6b76"/>
            </a:solidFill>
            <a:round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8"/>
          <p:cNvSpPr/>
          <p:nvPr/>
        </p:nvSpPr>
        <p:spPr>
          <a:xfrm flipV="1">
            <a:off x="5257800" y="2148840"/>
            <a:ext cx="360" cy="1828800"/>
          </a:xfrm>
          <a:prstGeom prst="line">
            <a:avLst/>
          </a:prstGeom>
          <a:ln w="19050">
            <a:solidFill>
              <a:srgbClr val="6b6b76"/>
            </a:solidFill>
            <a:round/>
            <a:tailEnd len="med" type="arrow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9"/>
          <p:cNvSpPr/>
          <p:nvPr/>
        </p:nvSpPr>
        <p:spPr>
          <a:xfrm>
            <a:off x="5989320" y="4023360"/>
            <a:ext cx="21027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6b76"/>
                </a:solidFill>
                <a:latin typeface="Courier New"/>
                <a:ea typeface="Courier New"/>
              </a:rPr>
              <a:t>principal (fix cost) →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10"/>
          <p:cNvSpPr/>
          <p:nvPr/>
        </p:nvSpPr>
        <p:spPr>
          <a:xfrm>
            <a:off x="5093280" y="1874520"/>
            <a:ext cx="1371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6b6b76"/>
                </a:solidFill>
                <a:latin typeface="Courier New"/>
                <a:ea typeface="Courier New"/>
              </a:rPr>
              <a:t>interest ↑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11"/>
          <p:cNvSpPr/>
          <p:nvPr/>
        </p:nvSpPr>
        <p:spPr>
          <a:xfrm>
            <a:off x="5394960" y="2240280"/>
            <a:ext cx="1234080" cy="685440"/>
          </a:xfrm>
          <a:prstGeom prst="roundRect">
            <a:avLst>
              <a:gd name="adj" fmla="val 8000"/>
            </a:avLst>
          </a:prstGeom>
          <a:solidFill>
            <a:srgbClr val="dcf5e7"/>
          </a:solidFill>
          <a:ln w="12700">
            <a:solidFill>
              <a:srgbClr val="1e8e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12"/>
          <p:cNvSpPr/>
          <p:nvPr/>
        </p:nvSpPr>
        <p:spPr>
          <a:xfrm>
            <a:off x="5394960" y="2240280"/>
            <a:ext cx="1234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e8e5a"/>
                </a:solidFill>
                <a:latin typeface="Calibri"/>
                <a:ea typeface="Calibri"/>
              </a:rPr>
              <a:t>FIX NOW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e8e5a"/>
                </a:solidFill>
                <a:latin typeface="Calibri"/>
                <a:ea typeface="Calibri"/>
              </a:rPr>
              <a:t>quick wins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13"/>
          <p:cNvSpPr/>
          <p:nvPr/>
        </p:nvSpPr>
        <p:spPr>
          <a:xfrm>
            <a:off x="6720840" y="2240280"/>
            <a:ext cx="1234080" cy="685440"/>
          </a:xfrm>
          <a:prstGeom prst="roundRect">
            <a:avLst>
              <a:gd name="adj" fmla="val 8000"/>
            </a:avLst>
          </a:prstGeom>
          <a:solidFill>
            <a:srgbClr val="fbe4e0"/>
          </a:solidFill>
          <a:ln w="12700">
            <a:solidFill>
              <a:srgbClr val="c039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14"/>
          <p:cNvSpPr/>
          <p:nvPr/>
        </p:nvSpPr>
        <p:spPr>
          <a:xfrm>
            <a:off x="6720840" y="2240280"/>
            <a:ext cx="1234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c0392b"/>
                </a:solidFill>
                <a:latin typeface="Calibri"/>
                <a:ea typeface="Calibri"/>
              </a:rPr>
              <a:t>SCHEDULE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c0392b"/>
                </a:solidFill>
                <a:latin typeface="Calibri"/>
                <a:ea typeface="Calibri"/>
              </a:rPr>
              <a:t>never “fits between”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 15"/>
          <p:cNvSpPr/>
          <p:nvPr/>
        </p:nvSpPr>
        <p:spPr>
          <a:xfrm>
            <a:off x="4983480" y="4069080"/>
            <a:ext cx="3428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b6b76"/>
                </a:solidFill>
                <a:latin typeface="Calibri"/>
                <a:ea typeface="Calibri"/>
              </a:rPr>
              <a:t>priority ≈ interest ÷ principal — and an LLM agent estimates both. Would you let it plan your sprint? (Part 3 discussion)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0"/>
          <p:cNvSpPr/>
          <p:nvPr/>
        </p:nvSpPr>
        <p:spPr>
          <a:xfrm>
            <a:off x="548640" y="685800"/>
            <a:ext cx="914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Calibri"/>
              </a:rPr>
              <a:t>⌨️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1"/>
          <p:cNvSpPr/>
          <p:nvPr/>
        </p:nvSpPr>
        <p:spPr>
          <a:xfrm>
            <a:off x="548640" y="146304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299" strike="noStrike">
                <a:solidFill>
                  <a:srgbClr val="a78bfa"/>
                </a:solidFill>
                <a:latin typeface="Courier New"/>
                <a:ea typeface="Courier New"/>
              </a:rPr>
              <a:t>HANDS-ON · PART 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2"/>
          <p:cNvSpPr/>
          <p:nvPr/>
        </p:nvSpPr>
        <p:spPr>
          <a:xfrm>
            <a:off x="548640" y="182880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mbria"/>
                <a:ea typeface="Cambria"/>
              </a:rPr>
              <a:t>Classify, Triage &amp; the Full Pipeline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3"/>
          <p:cNvSpPr/>
          <p:nvPr/>
        </p:nvSpPr>
        <p:spPr>
          <a:xfrm>
            <a:off x="594360" y="2697480"/>
            <a:ext cx="69490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Zero-shot TD classification of 10 real-style issues — score it against gold labels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Triage agent: interest ÷ principal → a ranked backlog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Capstone: issues + code in → verified fix + TECH_DEBT_REPORT.md out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Final challenge: run the pipeline on YOUR own code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Shape 4"/>
          <p:cNvSpPr/>
          <p:nvPr/>
        </p:nvSpPr>
        <p:spPr>
          <a:xfrm>
            <a:off x="548640" y="4434840"/>
            <a:ext cx="1554120" cy="310680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7" name="Text 5"/>
          <p:cNvSpPr/>
          <p:nvPr/>
        </p:nvSpPr>
        <p:spPr>
          <a:xfrm>
            <a:off x="548640" y="4434840"/>
            <a:ext cx="1554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~40 MINUTES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Shape 6"/>
          <p:cNvSpPr/>
          <p:nvPr/>
        </p:nvSpPr>
        <p:spPr>
          <a:xfrm>
            <a:off x="2240280" y="4434840"/>
            <a:ext cx="3748680" cy="310680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9" name="Text 7"/>
          <p:cNvSpPr/>
          <p:nvPr/>
        </p:nvSpPr>
        <p:spPr>
          <a:xfrm>
            <a:off x="2240280" y="4434840"/>
            <a:ext cx="3748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🎯 </a:t>
            </a:r>
            <a:r>
              <a:rPr b="0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PREDICT IN §3.2 · STUCK? HAND UP ✋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 0"/>
          <p:cNvSpPr/>
          <p:nvPr/>
        </p:nvSpPr>
        <p:spPr>
          <a:xfrm>
            <a:off x="502920" y="27432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299" strike="noStrike">
                <a:solidFill>
                  <a:srgbClr val="6d28d9"/>
                </a:solidFill>
                <a:latin typeface="Courier New"/>
                <a:ea typeface="Courier New"/>
              </a:rPr>
              <a:t>BONUS TRACK · TAKE-HOME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502920" y="530280"/>
            <a:ext cx="81378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a1b3d"/>
                </a:solidFill>
                <a:latin typeface="Cambria"/>
                <a:ea typeface="Cambria"/>
              </a:rPr>
              <a:t>You built it by hand — now meet the production stack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548640" y="1417320"/>
            <a:ext cx="2651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199" strike="noStrike">
                <a:solidFill>
                  <a:srgbClr val="6d28d9"/>
                </a:solidFill>
                <a:latin typeface="Courier New"/>
                <a:ea typeface="Courier New"/>
              </a:rPr>
              <a:t>hand-built (Parts 1–3)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3337560" y="1417320"/>
            <a:ext cx="5257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199" strike="noStrike">
                <a:solidFill>
                  <a:srgbClr val="6d28d9"/>
                </a:solidFill>
                <a:latin typeface="Courier New"/>
                <a:ea typeface="Courier New"/>
              </a:rPr>
              <a:t>production equivalent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4"/>
          <p:cNvSpPr/>
          <p:nvPr/>
        </p:nvSpPr>
        <p:spPr>
          <a:xfrm>
            <a:off x="548640" y="1783080"/>
            <a:ext cx="2651400" cy="639720"/>
          </a:xfrm>
          <a:prstGeom prst="roundRect">
            <a:avLst>
              <a:gd name="adj" fmla="val 11429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685800" y="1837800"/>
            <a:ext cx="23770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2a1b3d"/>
                </a:solidFill>
                <a:latin typeface="Calibri"/>
                <a:ea typeface="Calibri"/>
              </a:rPr>
              <a:t>a raw API call per agent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3200400" y="191124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6d28d9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7"/>
          <p:cNvSpPr/>
          <p:nvPr/>
        </p:nvSpPr>
        <p:spPr>
          <a:xfrm>
            <a:off x="3520440" y="1783080"/>
            <a:ext cx="507456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8" name="Text 8"/>
          <p:cNvSpPr/>
          <p:nvPr/>
        </p:nvSpPr>
        <p:spPr>
          <a:xfrm>
            <a:off x="3657600" y="1837800"/>
            <a:ext cx="4845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6d28d9"/>
                </a:solidFill>
                <a:latin typeface="Cambria"/>
                <a:ea typeface="Cambria"/>
              </a:rPr>
              <a:t>one llm() helper  </a:t>
            </a:r>
            <a:r>
              <a:rPr b="0" lang="en-US" sz="1050" spc="-1" strike="noStrike">
                <a:solidFill>
                  <a:srgbClr val="4b4358"/>
                </a:solidFill>
                <a:latin typeface="Calibri"/>
                <a:ea typeface="Calibri"/>
              </a:rPr>
              <a:t>one client, six agents — swap gpt-4.1-mini for a gpt-5 reasoning model in one line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9"/>
          <p:cNvSpPr/>
          <p:nvPr/>
        </p:nvSpPr>
        <p:spPr>
          <a:xfrm>
            <a:off x="548640" y="2532960"/>
            <a:ext cx="2651400" cy="639720"/>
          </a:xfrm>
          <a:prstGeom prst="roundRect">
            <a:avLst>
              <a:gd name="adj" fmla="val 11429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0" name="Text 10"/>
          <p:cNvSpPr/>
          <p:nvPr/>
        </p:nvSpPr>
        <p:spPr>
          <a:xfrm>
            <a:off x="685800" y="2587680"/>
            <a:ext cx="23770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2a1b3d"/>
                </a:solidFill>
                <a:latin typeface="Calibri"/>
                <a:ea typeface="Calibri"/>
              </a:rPr>
              <a:t>WorkflowState + run_workflow()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11"/>
          <p:cNvSpPr/>
          <p:nvPr/>
        </p:nvSpPr>
        <p:spPr>
          <a:xfrm>
            <a:off x="3200400" y="266076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6d28d9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12"/>
          <p:cNvSpPr/>
          <p:nvPr/>
        </p:nvSpPr>
        <p:spPr>
          <a:xfrm>
            <a:off x="3520440" y="2532960"/>
            <a:ext cx="507456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3" name="Text 13"/>
          <p:cNvSpPr/>
          <p:nvPr/>
        </p:nvSpPr>
        <p:spPr>
          <a:xfrm>
            <a:off x="3657600" y="2587680"/>
            <a:ext cx="4845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6d28d9"/>
                </a:solidFill>
                <a:latin typeface="Cambria"/>
                <a:ea typeface="Cambria"/>
              </a:rPr>
              <a:t>LangGraph  </a:t>
            </a:r>
            <a:r>
              <a:rPr b="0" lang="en-US" sz="1050" spc="-1" strike="noStrike">
                <a:solidFill>
                  <a:srgbClr val="4b4358"/>
                </a:solidFill>
                <a:latin typeface="Calibri"/>
                <a:ea typeface="Calibri"/>
              </a:rPr>
              <a:t>typed State + nodes + conditional edges — your retry loop as a graph, diagram for free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14"/>
          <p:cNvSpPr/>
          <p:nvPr/>
        </p:nvSpPr>
        <p:spPr>
          <a:xfrm>
            <a:off x="548640" y="3282840"/>
            <a:ext cx="2651400" cy="639720"/>
          </a:xfrm>
          <a:prstGeom prst="roundRect">
            <a:avLst>
              <a:gd name="adj" fmla="val 11429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5" name="Text 15"/>
          <p:cNvSpPr/>
          <p:nvPr/>
        </p:nvSpPr>
        <p:spPr>
          <a:xfrm>
            <a:off x="685800" y="3337560"/>
            <a:ext cx="23770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2a1b3d"/>
                </a:solidFill>
                <a:latin typeface="Calibri"/>
                <a:ea typeface="Calibri"/>
              </a:rPr>
              <a:t>Auditor with tools &amp; JSON contract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 16"/>
          <p:cNvSpPr/>
          <p:nvPr/>
        </p:nvSpPr>
        <p:spPr>
          <a:xfrm>
            <a:off x="3200400" y="341064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6d28d9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17"/>
          <p:cNvSpPr/>
          <p:nvPr/>
        </p:nvSpPr>
        <p:spPr>
          <a:xfrm>
            <a:off x="3520440" y="3282840"/>
            <a:ext cx="507456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8" name="Text 18"/>
          <p:cNvSpPr/>
          <p:nvPr/>
        </p:nvSpPr>
        <p:spPr>
          <a:xfrm>
            <a:off x="3657600" y="3337560"/>
            <a:ext cx="4845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6d28d9"/>
                </a:solidFill>
                <a:latin typeface="Cambria"/>
                <a:ea typeface="Cambria"/>
              </a:rPr>
              <a:t>Deep Agents  </a:t>
            </a:r>
            <a:r>
              <a:rPr b="0" lang="en-US" sz="1050" spc="-1" strike="noStrike">
                <a:solidFill>
                  <a:srgbClr val="4b4358"/>
                </a:solidFill>
                <a:latin typeface="Calibri"/>
                <a:ea typeface="Calibri"/>
              </a:rPr>
              <a:t>real tool-calling, write_todos planning, file tools, sub-agents — trades control for autonomy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19"/>
          <p:cNvSpPr/>
          <p:nvPr/>
        </p:nvSpPr>
        <p:spPr>
          <a:xfrm>
            <a:off x="548640" y="4032360"/>
            <a:ext cx="2651400" cy="639720"/>
          </a:xfrm>
          <a:prstGeom prst="roundRect">
            <a:avLst>
              <a:gd name="adj" fmla="val 11429"/>
            </a:avLst>
          </a:prstGeom>
          <a:solidFill>
            <a:srgbClr val="f3effb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0" name="Text 20"/>
          <p:cNvSpPr/>
          <p:nvPr/>
        </p:nvSpPr>
        <p:spPr>
          <a:xfrm>
            <a:off x="685800" y="4087440"/>
            <a:ext cx="23770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2a1b3d"/>
                </a:solidFill>
                <a:latin typeface="Calibri"/>
                <a:ea typeface="Calibri"/>
              </a:rPr>
              <a:t>a pile of notebook cells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21"/>
          <p:cNvSpPr/>
          <p:nvPr/>
        </p:nvSpPr>
        <p:spPr>
          <a:xfrm>
            <a:off x="3200400" y="416052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6d28d9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22"/>
          <p:cNvSpPr/>
          <p:nvPr/>
        </p:nvSpPr>
        <p:spPr>
          <a:xfrm>
            <a:off x="3520440" y="4032360"/>
            <a:ext cx="5074560" cy="6397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4dcf5"/>
            </a:solidFill>
            <a:round/>
          </a:ln>
          <a:effectLst>
            <a:outerShdw algn="bl" blurRad="88920" dir="5400000" dist="25560" kx="0" ky="0" rotWithShape="0" sx="100000" sy="100000">
              <a:srgbClr val="3a2a55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3" name="Text 23"/>
          <p:cNvSpPr/>
          <p:nvPr/>
        </p:nvSpPr>
        <p:spPr>
          <a:xfrm>
            <a:off x="3657600" y="4087440"/>
            <a:ext cx="4845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6d28d9"/>
                </a:solidFill>
                <a:latin typeface="Cambria"/>
                <a:ea typeface="Cambria"/>
              </a:rPr>
              <a:t>debtbuster CLI  </a:t>
            </a:r>
            <a:r>
              <a:rPr b="0" lang="en-US" sz="1050" spc="-1" strike="noStrike">
                <a:solidFill>
                  <a:srgbClr val="4b4358"/>
                </a:solidFill>
                <a:latin typeface="Calibri"/>
                <a:ea typeface="Calibri"/>
              </a:rPr>
              <a:t>pip install from GitHub — 6 files, exactly one of which can hallucinate; exit code 1 when the gate rejects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24"/>
          <p:cNvSpPr/>
          <p:nvPr/>
        </p:nvSpPr>
        <p:spPr>
          <a:xfrm>
            <a:off x="548640" y="4827960"/>
            <a:ext cx="8046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6d28d9"/>
                </a:solidFill>
                <a:latin typeface="Calibri"/>
                <a:ea typeface="Calibri"/>
              </a:rPr>
              <a:t>The gates never change: verification is a property of the task, not the framework.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Text 0"/>
          <p:cNvSpPr/>
          <p:nvPr/>
        </p:nvSpPr>
        <p:spPr>
          <a:xfrm>
            <a:off x="548640" y="685800"/>
            <a:ext cx="914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4000" spc="-1" strike="noStrike">
                <a:solidFill>
                  <a:srgbClr val="000000"/>
                </a:solidFill>
                <a:latin typeface="Calibri"/>
              </a:rPr>
              <a:t>⌨️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 1"/>
          <p:cNvSpPr/>
          <p:nvPr/>
        </p:nvSpPr>
        <p:spPr>
          <a:xfrm>
            <a:off x="548640" y="146304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299" strike="noStrike">
                <a:solidFill>
                  <a:srgbClr val="a78bfa"/>
                </a:solidFill>
                <a:latin typeface="Courier New"/>
                <a:ea typeface="Courier New"/>
              </a:rPr>
              <a:t>HANDS-ON · PART 4 · TAKE-HOME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 2"/>
          <p:cNvSpPr/>
          <p:nvPr/>
        </p:nvSpPr>
        <p:spPr>
          <a:xfrm>
            <a:off x="548640" y="182880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mbria"/>
                <a:ea typeface="Cambria"/>
              </a:rPr>
              <a:t>LangGraph · Deep Agents · debtbuster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 3"/>
          <p:cNvSpPr/>
          <p:nvPr/>
        </p:nvSpPr>
        <p:spPr>
          <a:xfrm>
            <a:off x="594360" y="2697480"/>
            <a:ext cx="69490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The same QA gates, three different frameworks — and they never change a byte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Rebuild Part 2's team as a LangGraph StateGraph — conditional edges = your retry loop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Unleash a Deep Agent: planning todos, file tools, sub-agents, real tool-calling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599"/>
              </a:lnSpc>
              <a:buClr>
                <a:srgbClr val="e4daf6"/>
              </a:buClr>
              <a:buFont typeface="Symbol" charset="2"/>
              <a:buChar char=""/>
            </a:pPr>
            <a:r>
              <a:rPr b="0" lang="en-US" sz="1550" spc="-1" strike="noStrike">
                <a:solidFill>
                  <a:srgbClr val="e4daf6"/>
                </a:solidFill>
                <a:latin typeface="Calibri"/>
                <a:ea typeface="Calibri"/>
              </a:rPr>
              <a:t>pip install debtbuster from GitHub and drive it: audit, fix, and the exit code CI depends on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Shape 4"/>
          <p:cNvSpPr/>
          <p:nvPr/>
        </p:nvSpPr>
        <p:spPr>
          <a:xfrm>
            <a:off x="548640" y="4434840"/>
            <a:ext cx="1554120" cy="310680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0" name="Text 5"/>
          <p:cNvSpPr/>
          <p:nvPr/>
        </p:nvSpPr>
        <p:spPr>
          <a:xfrm>
            <a:off x="548640" y="4434840"/>
            <a:ext cx="1554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~50 MINUTES · SELF-PACED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Shape 6"/>
          <p:cNvSpPr/>
          <p:nvPr/>
        </p:nvSpPr>
        <p:spPr>
          <a:xfrm>
            <a:off x="2240280" y="4434840"/>
            <a:ext cx="3748680" cy="310680"/>
          </a:xfrm>
          <a:prstGeom prst="roundRect">
            <a:avLst>
              <a:gd name="adj" fmla="val 50000"/>
            </a:avLst>
          </a:prstGeom>
          <a:solidFill>
            <a:srgbClr val="3d2a5c"/>
          </a:solidFill>
          <a:ln w="12700">
            <a:solidFill>
              <a:srgbClr val="6d28d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2" name="Text 7"/>
          <p:cNvSpPr/>
          <p:nvPr/>
        </p:nvSpPr>
        <p:spPr>
          <a:xfrm>
            <a:off x="2240280" y="4434840"/>
            <a:ext cx="37486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🎯 </a:t>
            </a:r>
            <a:r>
              <a:rPr b="0" lang="en-US" sz="1050" spc="-1" strike="noStrike">
                <a:solidFill>
                  <a:srgbClr val="e9dfff"/>
                </a:solidFill>
                <a:latin typeface="Courier New"/>
                <a:ea typeface="Courier New"/>
              </a:rPr>
              <a:t>PREDICT IN §4.5 · STUCK? HAND UP ✋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a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 0"/>
          <p:cNvSpPr/>
          <p:nvPr/>
        </p:nvSpPr>
        <p:spPr>
          <a:xfrm>
            <a:off x="548640" y="4114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299" strike="noStrike">
                <a:solidFill>
                  <a:srgbClr val="a78bfa"/>
                </a:solidFill>
                <a:latin typeface="Courier New"/>
                <a:ea typeface="Courier New"/>
              </a:rPr>
              <a:t>WHAT YOU BUILT TODAY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Text 1"/>
          <p:cNvSpPr/>
          <p:nvPr/>
        </p:nvSpPr>
        <p:spPr>
          <a:xfrm>
            <a:off x="548640" y="77724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mbria"/>
                <a:ea typeface="Cambria"/>
              </a:rPr>
              <a:t>A verified, cooperative agent pipeline — in one notebook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2"/>
          <p:cNvSpPr/>
          <p:nvPr/>
        </p:nvSpPr>
        <p:spPr>
          <a:xfrm>
            <a:off x="594360" y="16916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🧠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 3"/>
          <p:cNvSpPr/>
          <p:nvPr/>
        </p:nvSpPr>
        <p:spPr>
          <a:xfrm>
            <a:off x="1143000" y="1719000"/>
            <a:ext cx="7406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libri"/>
                <a:ea typeface="Calibri"/>
              </a:rPr>
              <a:t>Agents = role + brain + tools + contract  </a:t>
            </a:r>
            <a:r>
              <a:rPr b="0" lang="en-US" sz="1450" spc="-1" strike="noStrike">
                <a:solidFill>
                  <a:srgbClr val="bba9de"/>
                </a:solidFill>
                <a:latin typeface="Calibri"/>
                <a:ea typeface="Calibri"/>
              </a:rPr>
              <a:t>— no framework magic required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 4"/>
          <p:cNvSpPr/>
          <p:nvPr/>
        </p:nvSpPr>
        <p:spPr>
          <a:xfrm>
            <a:off x="594360" y="23133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⚖️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5"/>
          <p:cNvSpPr/>
          <p:nvPr/>
        </p:nvSpPr>
        <p:spPr>
          <a:xfrm>
            <a:off x="1143000" y="2340720"/>
            <a:ext cx="7406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libri"/>
                <a:ea typeface="Calibri"/>
              </a:rPr>
              <a:t>Tools measure, LLMs interpret  </a:t>
            </a:r>
            <a:r>
              <a:rPr b="0" lang="en-US" sz="1450" spc="-1" strike="noStrike">
                <a:solidFill>
                  <a:srgbClr val="bba9de"/>
                </a:solidFill>
                <a:latin typeface="Calibri"/>
                <a:ea typeface="Calibri"/>
              </a:rPr>
              <a:t>— grounding beats guessing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 6"/>
          <p:cNvSpPr/>
          <p:nvPr/>
        </p:nvSpPr>
        <p:spPr>
          <a:xfrm>
            <a:off x="594360" y="29350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🛡️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7"/>
          <p:cNvSpPr/>
          <p:nvPr/>
        </p:nvSpPr>
        <p:spPr>
          <a:xfrm>
            <a:off x="1143000" y="2962800"/>
            <a:ext cx="7406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libri"/>
                <a:ea typeface="Calibri"/>
              </a:rPr>
              <a:t>Verification is what earns the trust  </a:t>
            </a:r>
            <a:r>
              <a:rPr b="0" lang="en-US" sz="1450" spc="-1" strike="noStrike">
                <a:solidFill>
                  <a:srgbClr val="bba9de"/>
                </a:solidFill>
                <a:latin typeface="Calibri"/>
                <a:ea typeface="Calibri"/>
              </a:rPr>
              <a:t>— syntax → tests → metrics, cheapest first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8"/>
          <p:cNvSpPr/>
          <p:nvPr/>
        </p:nvSpPr>
        <p:spPr>
          <a:xfrm>
            <a:off x="594360" y="35571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💳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9"/>
          <p:cNvSpPr/>
          <p:nvPr/>
        </p:nvSpPr>
        <p:spPr>
          <a:xfrm>
            <a:off x="1143000" y="3584520"/>
            <a:ext cx="7406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ffffff"/>
                </a:solidFill>
                <a:latin typeface="Calibri"/>
                <a:ea typeface="Calibri"/>
              </a:rPr>
              <a:t>Debt is a portfolio to manage  </a:t>
            </a:r>
            <a:r>
              <a:rPr b="0" lang="en-US" sz="1450" spc="-1" strike="noStrike">
                <a:solidFill>
                  <a:srgbClr val="bba9de"/>
                </a:solidFill>
                <a:latin typeface="Calibri"/>
                <a:ea typeface="Calibri"/>
              </a:rPr>
              <a:t>— classify (BEACon-TD) → triage (interest ÷ principal) → resolve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Shape 10"/>
          <p:cNvSpPr/>
          <p:nvPr/>
        </p:nvSpPr>
        <p:spPr>
          <a:xfrm>
            <a:off x="548640" y="4224240"/>
            <a:ext cx="8046720" cy="360"/>
          </a:xfrm>
          <a:prstGeom prst="line">
            <a:avLst/>
          </a:prstGeom>
          <a:ln w="12700">
            <a:solidFill>
              <a:srgbClr val="4a38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Text 11"/>
          <p:cNvSpPr/>
          <p:nvPr/>
        </p:nvSpPr>
        <p:spPr>
          <a:xfrm>
            <a:off x="548640" y="434340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a78bfa"/>
                </a:solidFill>
                <a:latin typeface="Calibri"/>
                <a:ea typeface="Calibri"/>
              </a:rPr>
              <a:t>Tools &amp; papers:  </a:t>
            </a:r>
            <a:r>
              <a:rPr b="0" lang="en-US" sz="1200" spc="-1" strike="noStrike">
                <a:solidFill>
                  <a:srgbClr val="d8cdee"/>
                </a:solidFill>
                <a:latin typeface="Calibri"/>
                <a:ea typeface="Calibri"/>
              </a:rPr>
              <a:t>PyExamine (MSR'25) · MLScent (CAIN'25) · BEACon-TD (JSS'25) · TD-Suite  —  github.com/KarthikShivasankar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12"/>
          <p:cNvSpPr/>
          <p:nvPr/>
        </p:nvSpPr>
        <p:spPr>
          <a:xfrm>
            <a:off x="548640" y="4681800"/>
            <a:ext cx="8046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c86c8"/>
                </a:solidFill>
                <a:latin typeface="Courier New"/>
                <a:ea typeface="Courier New"/>
              </a:rPr>
              <a:t>Karthik Shivashankar ·  Adela Nedisan Videsjorden  ·  LLMA4SE 2026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LibreOffice/24.2.7.2$Linux_AARCH64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2026-07-08T02:50:53Z</dcterms:created>
  <dc:creator>Karthik Shivashankar &amp; Adela Nedisan Videsjorden</dc:creator>
  <dc:description/>
  <dc:language>en-US</dc:language>
  <cp:lastModifiedBy/>
  <dcterms:modified xsi:type="dcterms:W3CDTF">2026-09-01T18:01:51Z</dcterms:modified>
  <cp:revision>4</cp:revision>
  <dc:subject>PptxGenJS Presentation</dc:subject>
  <dc:title>Workshop 4 — Cooperative LLM Agent Workflows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On-screen Show (16:9)</vt:lpwstr>
  </property>
  <property fmtid="{D5CDD505-2E9C-101B-9397-08002B2CF9AE}" pid="4" name="Slides">
    <vt:i4>18</vt:i4>
  </property>
</Properties>
</file>