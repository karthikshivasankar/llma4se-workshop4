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slide" Target="slides/slide31.xml"/><Relationship Id="rId12" Type="http://schemas.openxmlformats.org/officeDocument/2006/relationships/slide" Target="slides/slide8.xml"/><Relationship Id="rId34" Type="http://schemas.openxmlformats.org/officeDocument/2006/relationships/slide" Target="slides/slide30.xml"/><Relationship Id="rId15" Type="http://schemas.openxmlformats.org/officeDocument/2006/relationships/slide" Target="slides/slide11.xml"/><Relationship Id="rId14" Type="http://schemas.openxmlformats.org/officeDocument/2006/relationships/slide" Target="slides/slide10.xml"/><Relationship Id="rId36" Type="http://schemas.openxmlformats.org/officeDocument/2006/relationships/slide" Target="slides/slide32.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Three hours, one notebook, no GPU. The key takeaway is one line: tools measure, the LLM interprets, a gate decides. Everything today runs through OpenRouter with the openai client — the workshop slug is openai/gpt-5.6-luna. Get people opening the Colab NOW; §0.2 is the only hard sync point of the day.</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is the navigation hub for the whole deck: every card is a live hyperlink to that part's divider, and every divider has an AGENDA ↑ link back here. Budgets come straight from the notebook's SCHEDULE dict: Part 0 at 25 min, Part 1 at 70, Part 2 at 110, Part 3 at 150, Part 4 at 175.</a:t>
            </a:r>
            <a:endParaRPr/>
          </a:p>
        </p:txBody>
      </p:sp>
      <p:sp>
        <p:nvSpPr>
          <p:cNvPr id="42" name="Google Shape;4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Say this line out loud and come back to it at every part boundary. The 4-vs-7 story is from the notebook's opening cell. The point is not that the model is bad at arithmetic — it is that a number you cannot reproduce is a number you cannot gate on.</a:t>
            </a:r>
            <a:endParaRPr/>
          </a:p>
        </p:txBody>
      </p:sp>
      <p:sp>
        <p:nvSpPr>
          <p:cNvPr id="89" name="Google Shape;8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 name="Google Shape;14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Straight from the notebook's opening markdown cell. Keep this crisp — two minutes. The distinction that matters later: a bug makes tests fail; a smell is legal code that costs interest; an anti-pattern is a recurring wrong solution, especially in training loops.</a:t>
            </a:r>
            <a:endParaRPr/>
          </a:p>
        </p:txBody>
      </p:sp>
      <p:sp>
        <p:nvSpPr>
          <p:cNvPr id="141" name="Google Shape;14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real issues from the notebook's ISSUES list, with the notebook's own worked scores. The teaching point: the ratio is trivial arithmetic — the hard part is that both inputs are judgement calls, and in Part 4 we hand those judgement calls to a model and then look hard at whether we believe it.</a:t>
            </a:r>
            <a:endParaRPr/>
          </a:p>
        </p:txBody>
      </p:sp>
      <p:sp>
        <p:nvSpPr>
          <p:cNvPr id="184" name="Google Shape;18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 name="Google Shape;23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Ignore Colab's Restart session prompt and the google-auth warning — the notebook says so explicitly, they are noise. This is the only point in the day where everyone must be in the same place: if a key does not load, pair them with a neighbour and keep moving.</a:t>
            </a:r>
            <a:endParaRPr/>
          </a:p>
        </p:txBody>
      </p:sp>
      <p:sp>
        <p:nvSpPr>
          <p:cNvPr id="237" name="Google Shape;23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live: run §0.4 and show the TRACE block. A sentence back means key + URL + slug all work. If someone gets an empty visible reply, that is the reasoning-dump failure mode — switch back to openai/gpt-5.6-luna. §0.3's CANDIDATES list probes free slugs first so a dry run does not spend OpenAI quota.</a:t>
            </a:r>
            <a:endParaRPr/>
          </a:p>
        </p:txBody>
      </p:sp>
      <p:sp>
        <p:nvSpPr>
          <p:cNvPr id="262" name="Google Shape;26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words, two minutes. Come back to 'gate' constantly — it is the word people will otherwise let slide into meaning 'the model checked its work'. Temperature is a sampling knob, not intelligence; gpt-5.6-luna often ignores it and uses reasoning_effort instead.</a:t>
            </a:r>
            <a:endParaRPr/>
          </a:p>
        </p:txBody>
      </p:sp>
      <p:sp>
        <p:nvSpPr>
          <p:cNvPr id="312" name="Google Shape;31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 name="Google Shape;35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Emphasise: the tests were written BEFORE any agent ran. They are the contract, not a scorecard the model gets to negotiate. Show the pytest exit 0 line in the notebook output — people need to see the module works, so that when gate 2 later fails it is unambiguous that the agent broke it.</a:t>
            </a:r>
            <a:endParaRPr/>
          </a:p>
        </p:txBody>
      </p:sp>
      <p:sp>
        <p:nvSpPr>
          <p:cNvPr id="351" name="Google Shape;35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bug makes tests fail. A smell is legal code that costs interest. An anti-pattern is a recurring wrong solution, especially in training loops. If you skip the parsing section, the CSV that PyExamine writes looks like magic — and people will not trust it.</a:t>
            </a:r>
            <a:endParaRPr/>
          </a:p>
        </p:txBody>
      </p:sp>
      <p:sp>
        <p:nvSpPr>
          <p:cNvPr id="396" name="Google Shape;39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 name="Google Shape;42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§1.1 live and show the ast.dump output before this diagram — the raw dump is ugly on purpose, and the picture is the payoff. Cyclomatic complexity starts as 'count decision nodes', so once people see four If nodes the radon number stops being magic.</a:t>
            </a:r>
            <a:endParaRPr/>
          </a:p>
        </p:txBody>
      </p:sp>
      <p:sp>
        <p:nvSpPr>
          <p:cNvPr id="423" name="Google Shape;42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5" name="Google Shape;46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 not install tree-sitter in class — §1.2's cell try/excepts the import and prints a friendly message. This slide exists so nobody leaves thinking astroid and tree-sitter are competitors; they answer different questions.</a:t>
            </a:r>
            <a:endParaRPr/>
          </a:p>
        </p:txBody>
      </p:sp>
      <p:sp>
        <p:nvSpPr>
          <p:cNvPr id="466" name="Google Shape;46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8" name="Google Shape;49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Built by today's instructor — MSR 2025. Two practical gotchas to say out loud: PyExamine wants a folder, and the notebook resolves the CLI next to *this* Python (Colab/venv) rather than a random PATH hit. If the report file is missing, the fallback reads stdout.</a:t>
            </a:r>
            <a:endParaRPr/>
          </a:p>
        </p:txBody>
      </p:sp>
      <p:sp>
        <p:nvSpPr>
          <p:cNvPr id="499" name="Google Shape;49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7" name="Google Shape;53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After running §1.8, have people grep the report for seed / leak / eval / split / train / scaler — the notebook prints those membership checks for you. The three planted smells in train_churn.py are documented in its own docstring, so you can confirm the detector found what we hid.</a:t>
            </a:r>
            <a:endParaRPr/>
          </a:p>
        </p:txBody>
      </p:sp>
      <p:sp>
        <p:nvSpPr>
          <p:cNvPr id="538" name="Google Shape;53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7" name="Google Shape;57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Note the deliberate asymmetry: three of the four instruments are used as evidence, but only radon becomes a gate. That is because radon is the one whose number is cheap, stable, and directly comparable before vs after a patch.</a:t>
            </a:r>
            <a:endParaRPr/>
          </a:p>
        </p:txBody>
      </p:sp>
      <p:sp>
        <p:nvSpPr>
          <p:cNvPr id="578" name="Google Shape;57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post-mortem is the most useful thing on this slide — it is a real bug from a real delivery of this workshop. The lesson is not 'free models are bad', it is 'a contract you do not validate is not a contract'. extract_json returning [] was correct behaviour; the missing piece was a fallback.</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Think of a hospital: triage is the planner, the nurse is the auditor, the surgeon is the refactorer, the lab is QA. The lab does not take the surgeon's word for it. If the blood work fails, the reason goes back on the blackboard.</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7" name="Shape 697"/>
        <p:cNvGrpSpPr/>
        <p:nvPr/>
      </p:nvGrpSpPr>
      <p:grpSpPr>
        <a:xfrm>
          <a:off x="0" y="0"/>
          <a:ext cx="0" cy="0"/>
          <a:chOff x="0" y="0"/>
          <a:chExt cx="0" cy="0"/>
        </a:xfrm>
      </p:grpSpPr>
      <p:sp>
        <p:nvSpPr>
          <p:cNvPr id="698" name="Google Shape;698;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9" name="Google Shape;699;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Draw the failure edge with your finger while you talk. The single most common design mistake in agent systems is the extra LLM critic — it feels like more rigour and is actually less, because it correlates its errors with the generator's.</a:t>
            </a:r>
            <a:endParaRPr/>
          </a:p>
        </p:txBody>
      </p:sp>
      <p:sp>
        <p:nvSpPr>
          <p:cNvPr id="700" name="Google Shape;700;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dataclass is deliberately boring. That is the point: the interesting engineering is not in the state object, it is in the discipline of everything going through it. Show the real history output in the notebook — the printed timeline is what convinces people this is debuggable.</a:t>
            </a:r>
            <a:endParaRPr/>
          </a:p>
        </p:txBody>
      </p:sp>
      <p:sp>
        <p:nvSpPr>
          <p:cNvPr id="741" name="Google Shape;74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5" name="Google Shape;80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'if it breaks the contract' column is the one worth dwelling on. Every single row has a defined failure behaviour that is not 'crash' and is not 'trust it anyway'. That is what makes the pipeline runnable unattended.</a:t>
            </a:r>
            <a:endParaRPr/>
          </a:p>
        </p:txBody>
      </p:sp>
      <p:sp>
        <p:nvSpPr>
          <p:cNvPr id="806" name="Google Shape;80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4" name="Google Shape;84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If you only have time for one slide from Part 2, it is this one. Emphasise gate ordering as a design decision, not an implementation detail. And say clearly: 'held' is a success of the gates, not a harness bug — the notebook prints exactly that line.</a:t>
            </a:r>
            <a:endParaRPr/>
          </a:p>
        </p:txBody>
      </p:sp>
      <p:sp>
        <p:nvSpPr>
          <p:cNvPr id="845" name="Google Shape;84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4" name="Google Shape;894;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(next slide): B. Gate 2 only. Gate 1 passes because the file is syntactically perfect, and gate 3 passes because complexity is unchanged — the flip does not add a branch. Ask for hands on all four options before revealing; D usually gets votes, which is a good conversation.</a:t>
            </a:r>
            <a:endParaRPr/>
          </a:p>
        </p:txBody>
      </p:sp>
      <p:sp>
        <p:nvSpPr>
          <p:cNvPr id="895" name="Google Shape;895;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0" name="Google Shape;94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Never let the model certify itself — that is the line to land on. The discussion prompt matters: most people in the room have a repo where the load-bearing line is untested, and naming that out loud is more useful than another slide.</a:t>
            </a:r>
            <a:endParaRPr/>
          </a:p>
        </p:txBody>
      </p:sp>
      <p:sp>
        <p:nvSpPr>
          <p:cNvPr id="941" name="Google Shape;94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5" name="Shape 975"/>
        <p:cNvGrpSpPr/>
        <p:nvPr/>
      </p:nvGrpSpPr>
      <p:grpSpPr>
        <a:xfrm>
          <a:off x="0" y="0"/>
          <a:ext cx="0" cy="0"/>
          <a:chOff x="0" y="0"/>
          <a:chExt cx="0" cy="0"/>
        </a:xfrm>
      </p:grpSpPr>
      <p:sp>
        <p:nvSpPr>
          <p:cNvPr id="976" name="Google Shape;97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7" name="Google Shape;97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You already built the team by hand in Part 2. Nothing in Part 3 is a new idea — it is the same auditor → refactorer → qa loop with the plumbing supplied. If you are behind the clock, this is the part to compress: Part 4 does not depend on it.</a:t>
            </a:r>
            <a:endParaRPr/>
          </a:p>
        </p:txBody>
      </p:sp>
      <p:sp>
        <p:nvSpPr>
          <p:cNvPr id="978" name="Google Shape;97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trap costs people twenty minutes and an unhelpful 401. Say it, then say it again when you get to the Deep Agents cell. The framework choice slide is also the honest place to admit that Parts 0–2 are deliberately un-framework-y so people own every line.</a:t>
            </a:r>
            <a:endParaRPr/>
          </a:p>
        </p:txBody>
      </p:sp>
      <p:sp>
        <p:nvSpPr>
          <p:cNvPr id="1003" name="Google Shape;100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6" name="Shape 1036"/>
        <p:cNvGrpSpPr/>
        <p:nvPr/>
      </p:nvGrpSpPr>
      <p:grpSpPr>
        <a:xfrm>
          <a:off x="0" y="0"/>
          <a:ext cx="0" cy="0"/>
          <a:chOff x="0" y="0"/>
          <a:chExt cx="0" cy="0"/>
        </a:xfrm>
      </p:grpSpPr>
      <p:sp>
        <p:nvSpPr>
          <p:cNvPr id="1037" name="Google Shape;1037;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8" name="Google Shape;1038;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in the bottom-right card: the LangGraph qa_node wraps the same qa_verify function from Part 2. The framework did not make verification better — it made the wiring shorter. That distinction is the whole reason Part 2 comes first.</a:t>
            </a:r>
            <a:endParaRPr/>
          </a:p>
        </p:txBody>
      </p:sp>
      <p:sp>
        <p:nvSpPr>
          <p:cNvPr id="1039" name="Google Shape;1039;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8" name="Google Shape;108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coordinator writes COOP_AUDIT.md and is explicitly told not to patch source files — separation of audit from repair. Note both subagent prompts say 'do not refactor'. Autonomy is bought with constraints, not with a longer system prompt.</a:t>
            </a:r>
            <a:endParaRPr/>
          </a:p>
        </p:txBody>
      </p:sp>
      <p:sp>
        <p:nvSpPr>
          <p:cNvPr id="1089" name="Google Shape;108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1" name="Shape 1131"/>
        <p:cNvGrpSpPr/>
        <p:nvPr/>
      </p:nvGrpSpPr>
      <p:grpSpPr>
        <a:xfrm>
          <a:off x="0" y="0"/>
          <a:ext cx="0" cy="0"/>
          <a:chOff x="0" y="0"/>
          <a:chExt cx="0" cy="0"/>
        </a:xfrm>
      </p:grpSpPr>
      <p:sp>
        <p:nvSpPr>
          <p:cNvPr id="1132" name="Google Shape;1132;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3" name="Google Shape;1133;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part people take back to work. The classifier and the triage agent are both thin — the value is the closed label set and the coercion rules, which is where most home-grown versions of this fall over.</a:t>
            </a:r>
            <a:endParaRPr/>
          </a:p>
        </p:txBody>
      </p:sp>
      <p:sp>
        <p:nvSpPr>
          <p:cNvPr id="1134" name="Google Shape;1134;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row is a live link — open one or two in class so people see these are real tickets from projects they use. Issue trackers are debt gold-mines precisely because the debt is already described in words by someone who felt the interest.</a:t>
            </a:r>
            <a:endParaRPr/>
          </a:p>
        </p:txBody>
      </p:sp>
      <p:sp>
        <p:nvSpPr>
          <p:cNvPr id="1159" name="Google Shape;115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§4.2 turns TRACE off for this section — six issues times several calls makes the table unreadable otherwise. Do not oversell the accuracy number; with six items one flip moves it 17 points. The coercion rules are the transferable part.</a:t>
            </a:r>
            <a:endParaRPr/>
          </a:p>
        </p:txBody>
      </p:sp>
      <p:sp>
        <p:nvSpPr>
          <p:cNvPr id="1199" name="Google Shape;119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8" name="Shape 1268"/>
        <p:cNvGrpSpPr/>
        <p:nvPr/>
      </p:nvGrpSpPr>
      <p:grpSpPr>
        <a:xfrm>
          <a:off x="0" y="0"/>
          <a:ext cx="0" cy="0"/>
          <a:chOff x="0" y="0"/>
          <a:chExt cx="0" cy="0"/>
        </a:xfrm>
      </p:grpSpPr>
      <p:sp>
        <p:nvSpPr>
          <p:cNvPr id="1269" name="Google Shape;126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0" name="Google Shape;127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Budget the last ten minutes for people to point this at their own code. The failure they will hit is the tests one — say it twice. A held patch is a good outcome and the notebook prints that reassurance itself.</a:t>
            </a:r>
            <a:endParaRPr/>
          </a:p>
        </p:txBody>
      </p:sp>
      <p:sp>
        <p:nvSpPr>
          <p:cNvPr id="1271" name="Google Shape;127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1" name="Shape 1321"/>
        <p:cNvGrpSpPr/>
        <p:nvPr/>
      </p:nvGrpSpPr>
      <p:grpSpPr>
        <a:xfrm>
          <a:off x="0" y="0"/>
          <a:ext cx="0" cy="0"/>
          <a:chOff x="0" y="0"/>
          <a:chExt cx="0" cy="0"/>
        </a:xfrm>
      </p:grpSpPr>
      <p:sp>
        <p:nvSpPr>
          <p:cNvPr id="1322" name="Google Shape;132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3" name="Google Shape;132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on rule 2. Then: the OpenRouter key stays in os.environ; the client is openai.OpenAI(base_url=openrouter.ai/api/v1); change provider with switch_model. Take-home is pip install -e ./debtbuster then debtbuster fix path.py --tests tests.py.</a:t>
            </a:r>
            <a:endParaRPr/>
          </a:p>
        </p:txBody>
      </p:sp>
      <p:sp>
        <p:nvSpPr>
          <p:cNvPr id="1324" name="Google Shape;132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olab.research.google.com/" TargetMode="External"/></Relationships>
</file>

<file path=ppt/slides/_rels/slide2.xml.rels><?xml version="1.0" encoding="UTF-8" standalone="yes"?><Relationships xmlns="http://schemas.openxmlformats.org/package/2006/relationships"><Relationship Id="rId20" Type="http://schemas.openxmlformats.org/officeDocument/2006/relationships/slide" Target="/ppt/slides/slide28.xml"/><Relationship Id="rId11" Type="http://schemas.openxmlformats.org/officeDocument/2006/relationships/slide" Target="/ppt/slides/slide17.xml"/><Relationship Id="rId22" Type="http://schemas.openxmlformats.org/officeDocument/2006/relationships/slide" Target="/ppt/slides/slide28.xml"/><Relationship Id="rId10" Type="http://schemas.openxmlformats.org/officeDocument/2006/relationships/slide" Target="/ppt/slides/slide10.xml"/><Relationship Id="rId21" Type="http://schemas.openxmlformats.org/officeDocument/2006/relationships/slide" Target="/ppt/slides/slide28.xml"/><Relationship Id="rId13" Type="http://schemas.openxmlformats.org/officeDocument/2006/relationships/slide" Target="/ppt/slides/slide17.xml"/><Relationship Id="rId12" Type="http://schemas.openxmlformats.org/officeDocument/2006/relationships/slide" Target="/ppt/slides/slide17.xml"/><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slide" Target="/ppt/slides/slide6.xml"/><Relationship Id="rId4" Type="http://schemas.openxmlformats.org/officeDocument/2006/relationships/slide" Target="/ppt/slides/slide6.xml"/><Relationship Id="rId9" Type="http://schemas.openxmlformats.org/officeDocument/2006/relationships/slide" Target="/ppt/slides/slide10.xml"/><Relationship Id="rId15" Type="http://schemas.openxmlformats.org/officeDocument/2006/relationships/slide" Target="/ppt/slides/slide24.xml"/><Relationship Id="rId14" Type="http://schemas.openxmlformats.org/officeDocument/2006/relationships/slide" Target="/ppt/slides/slide17.xml"/><Relationship Id="rId17" Type="http://schemas.openxmlformats.org/officeDocument/2006/relationships/slide" Target="/ppt/slides/slide24.xml"/><Relationship Id="rId16" Type="http://schemas.openxmlformats.org/officeDocument/2006/relationships/slide" Target="/ppt/slides/slide24.xml"/><Relationship Id="rId5" Type="http://schemas.openxmlformats.org/officeDocument/2006/relationships/slide" Target="/ppt/slides/slide6.xml"/><Relationship Id="rId19" Type="http://schemas.openxmlformats.org/officeDocument/2006/relationships/slide" Target="/ppt/slides/slide28.xml"/><Relationship Id="rId6" Type="http://schemas.openxmlformats.org/officeDocument/2006/relationships/slide" Target="/ppt/slides/slide6.xml"/><Relationship Id="rId18" Type="http://schemas.openxmlformats.org/officeDocument/2006/relationships/slide" Target="/ppt/slides/slide24.xml"/><Relationship Id="rId7" Type="http://schemas.openxmlformats.org/officeDocument/2006/relationships/slide" Target="/ppt/slides/slide10.xml"/><Relationship Id="rId8" Type="http://schemas.openxmlformats.org/officeDocument/2006/relationships/slide" Target="/ppt/slides/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slide" Target="/ppt/slides/slide2.xml"/><Relationship Id="rId4" Type="http://schemas.openxmlformats.org/officeDocument/2006/relationships/slide" Target="/ppt/slid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slide" Target="/ppt/slides/slide2.xml"/><Relationship Id="rId4" Type="http://schemas.openxmlformats.org/officeDocument/2006/relationships/slide" Target="/ppt/slid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slide" Target="/ppt/slides/slide2.xml"/><Relationship Id="rId4" Type="http://schemas.openxmlformats.org/officeDocument/2006/relationships/slide" Target="/ppt/slid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slide" Target="/ppt/slides/slide2.xml"/><Relationship Id="rId4" Type="http://schemas.openxmlformats.org/officeDocument/2006/relationships/slide" Target="/ppt/slid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hyperlink" Target="https://openrouter.ai/models" TargetMode="External"/><Relationship Id="rId6" Type="http://schemas.openxmlformats.org/officeDocument/2006/relationships/hyperlink" Target="https://openrouter.ai/model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slide" Target="/ppt/slides/slide2.xml"/><Relationship Id="rId4" Type="http://schemas.openxmlformats.org/officeDocument/2006/relationships/slide" Target="/ppt/slid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slide" Target="/ppt/slides/slide2.xml"/><Relationship Id="rId4" Type="http://schemas.openxmlformats.org/officeDocument/2006/relationships/slide" Target="/ppt/slid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slide" Target="/ppt/slides/slide2.xml"/><Relationship Id="rId4" Type="http://schemas.openxmlformats.org/officeDocument/2006/relationships/slide" Target="/ppt/slid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slide" Target="/ppt/slides/slide2.xml"/><Relationship Id="rId4" Type="http://schemas.openxmlformats.org/officeDocument/2006/relationships/slide" Target="/ppt/slid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slide" Target="/ppt/slides/slide2.xml"/><Relationship Id="rId4" Type="http://schemas.openxmlformats.org/officeDocument/2006/relationships/slide" Target="/ppt/slid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hyperlink" Target="https://github.com/KarthikShivasankar/python_smells_detecto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hyperlink" Target="https://github.com/KarthikShivasankar/ml_smells_detector" TargetMode="External"/></Relationships>
</file>

<file path=ppt/slides/_rels/slide15.xml.rels><?xml version="1.0" encoding="UTF-8" standalone="yes"?><Relationships xmlns="http://schemas.openxmlformats.org/package/2006/relationships"><Relationship Id="rId11" Type="http://schemas.openxmlformats.org/officeDocument/2006/relationships/hyperlink" Target="https://pylint.readthedocs.io/" TargetMode="External"/><Relationship Id="rId10" Type="http://schemas.openxmlformats.org/officeDocument/2006/relationships/hyperlink" Target="https://radon.readthedocs.io/en/latest/" TargetMode="External"/><Relationship Id="rId12" Type="http://schemas.openxmlformats.org/officeDocument/2006/relationships/hyperlink" Target="https://pylint.readthedocs.io/" TargetMode="External"/><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slide" Target="/ppt/slides/slide2.xml"/><Relationship Id="rId4" Type="http://schemas.openxmlformats.org/officeDocument/2006/relationships/slide" Target="/ppt/slides/slide2.xml"/><Relationship Id="rId9" Type="http://schemas.openxmlformats.org/officeDocument/2006/relationships/hyperlink" Target="https://radon.readthedocs.io/en/latest/" TargetMode="External"/><Relationship Id="rId5" Type="http://schemas.openxmlformats.org/officeDocument/2006/relationships/hyperlink" Target="https://github.com/KarthikShivasankar/python_smells_detector" TargetMode="External"/><Relationship Id="rId6" Type="http://schemas.openxmlformats.org/officeDocument/2006/relationships/hyperlink" Target="https://github.com/KarthikShivasankar/python_smells_detector" TargetMode="External"/><Relationship Id="rId7" Type="http://schemas.openxmlformats.org/officeDocument/2006/relationships/hyperlink" Target="https://github.com/KarthikShivasankar/ml_smells_detector" TargetMode="External"/><Relationship Id="rId8" Type="http://schemas.openxmlformats.org/officeDocument/2006/relationships/hyperlink" Target="https://github.com/KarthikShivasankar/ml_smells_detecto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slide" Target="/ppt/slides/slide2.xml"/><Relationship Id="rId4" Type="http://schemas.openxmlformats.org/officeDocument/2006/relationships/slide" Target="/ppt/slid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slide" Target="/ppt/slides/slide2.xml"/><Relationship Id="rId4" Type="http://schemas.openxmlformats.org/officeDocument/2006/relationships/slide" Target="/ppt/slid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slide" Target="/ppt/slides/slide2.xml"/><Relationship Id="rId4" Type="http://schemas.openxmlformats.org/officeDocument/2006/relationships/slide" Target="/ppt/slid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slide" Target="/ppt/slides/slide2.xml"/><Relationship Id="rId4" Type="http://schemas.openxmlformats.org/officeDocument/2006/relationships/slide" Target="/ppt/slides/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slide" Target="/ppt/slides/slide2.xml"/><Relationship Id="rId4" Type="http://schemas.openxmlformats.org/officeDocument/2006/relationships/slide" Target="/ppt/slid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slide" Target="/ppt/slides/slide2.xml"/><Relationship Id="rId4" Type="http://schemas.openxmlformats.org/officeDocument/2006/relationships/slide" Target="/ppt/slid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slide" Target="/ppt/slides/slide2.xml"/><Relationship Id="rId4" Type="http://schemas.openxmlformats.org/officeDocument/2006/relationships/slide" Target="/ppt/slid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slide" Target="/ppt/slides/slide2.xml"/><Relationship Id="rId4" Type="http://schemas.openxmlformats.org/officeDocument/2006/relationships/slide" Target="/ppt/slid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slide" Target="/ppt/slides/slide2.xml"/><Relationship Id="rId4" Type="http://schemas.openxmlformats.org/officeDocument/2006/relationships/slide" Target="/ppt/slides/slide2.xml"/></Relationships>
</file>

<file path=ppt/slides/_rels/slide25.xml.rels><?xml version="1.0" encoding="UTF-8" standalone="yes"?><Relationships xmlns="http://schemas.openxmlformats.org/package/2006/relationships"><Relationship Id="rId11" Type="http://schemas.openxmlformats.org/officeDocument/2006/relationships/hyperlink" Target="https://github.com/langchain-ai/deepagents" TargetMode="External"/><Relationship Id="rId10" Type="http://schemas.openxmlformats.org/officeDocument/2006/relationships/hyperlink" Target="https://langchain-ai.github.io/langgraph/" TargetMode="External"/><Relationship Id="rId12" Type="http://schemas.openxmlformats.org/officeDocument/2006/relationships/hyperlink" Target="https://github.com/langchain-ai/deepagents" TargetMode="External"/><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slide" Target="/ppt/slides/slide2.xml"/><Relationship Id="rId4" Type="http://schemas.openxmlformats.org/officeDocument/2006/relationships/slide" Target="/ppt/slides/slide2.xml"/><Relationship Id="rId9" Type="http://schemas.openxmlformats.org/officeDocument/2006/relationships/hyperlink" Target="https://langchain-ai.github.io/langgraph/" TargetMode="External"/><Relationship Id="rId5" Type="http://schemas.openxmlformats.org/officeDocument/2006/relationships/hyperlink" Target="https://openrouter.ai/models" TargetMode="External"/><Relationship Id="rId6" Type="http://schemas.openxmlformats.org/officeDocument/2006/relationships/hyperlink" Target="https://openrouter.ai/models" TargetMode="External"/><Relationship Id="rId7" Type="http://schemas.openxmlformats.org/officeDocument/2006/relationships/hyperlink" Target="https://python.langchain.com/" TargetMode="External"/><Relationship Id="rId8" Type="http://schemas.openxmlformats.org/officeDocument/2006/relationships/hyperlink" Target="https://python.langchain.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slide" Target="/ppt/slides/slide2.xml"/><Relationship Id="rId4" Type="http://schemas.openxmlformats.org/officeDocument/2006/relationships/slide" Target="/ppt/slides/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slide" Target="/ppt/slides/slide2.xml"/><Relationship Id="rId4" Type="http://schemas.openxmlformats.org/officeDocument/2006/relationships/slide" Target="/ppt/slides/slid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slide" Target="/ppt/slides/slide2.xml"/><Relationship Id="rId4" Type="http://schemas.openxmlformats.org/officeDocument/2006/relationships/slide" Target="/ppt/slides/slide2.xml"/></Relationships>
</file>

<file path=ppt/slides/_rels/slide29.xml.rels><?xml version="1.0" encoding="UTF-8" standalone="yes"?><Relationships xmlns="http://schemas.openxmlformats.org/package/2006/relationships"><Relationship Id="rId11" Type="http://schemas.openxmlformats.org/officeDocument/2006/relationships/hyperlink" Target="https://github.com/encode/httpx/issues/3071" TargetMode="External"/><Relationship Id="rId10" Type="http://schemas.openxmlformats.org/officeDocument/2006/relationships/hyperlink" Target="https://github.com/psf/requests/issues/6637" TargetMode="External"/><Relationship Id="rId13" Type="http://schemas.openxmlformats.org/officeDocument/2006/relationships/hyperlink" Target="https://github.com/pylint-dev/pylint/issues/9670" TargetMode="External"/><Relationship Id="rId12" Type="http://schemas.openxmlformats.org/officeDocument/2006/relationships/hyperlink" Target="https://github.com/encode/httpx/issues/3071" TargetMode="External"/><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slide" Target="/ppt/slides/slide2.xml"/><Relationship Id="rId4" Type="http://schemas.openxmlformats.org/officeDocument/2006/relationships/slide" Target="/ppt/slides/slide2.xml"/><Relationship Id="rId9" Type="http://schemas.openxmlformats.org/officeDocument/2006/relationships/hyperlink" Target="https://github.com/psf/requests/issues/6637" TargetMode="External"/><Relationship Id="rId15" Type="http://schemas.openxmlformats.org/officeDocument/2006/relationships/hyperlink" Target="https://github.com/django/django/issues/35091" TargetMode="External"/><Relationship Id="rId14" Type="http://schemas.openxmlformats.org/officeDocument/2006/relationships/hyperlink" Target="https://github.com/pylint-dev/pylint/issues/9670" TargetMode="External"/><Relationship Id="rId16" Type="http://schemas.openxmlformats.org/officeDocument/2006/relationships/hyperlink" Target="https://github.com/django/django/issues/35091" TargetMode="External"/><Relationship Id="rId5" Type="http://schemas.openxmlformats.org/officeDocument/2006/relationships/hyperlink" Target="https://github.com/pallets/flask/issues/5214" TargetMode="External"/><Relationship Id="rId6" Type="http://schemas.openxmlformats.org/officeDocument/2006/relationships/hyperlink" Target="https://github.com/pallets/flask/issues/5214" TargetMode="External"/><Relationship Id="rId7" Type="http://schemas.openxmlformats.org/officeDocument/2006/relationships/hyperlink" Target="https://github.com/psf/requests/issues/7016" TargetMode="External"/><Relationship Id="rId8" Type="http://schemas.openxmlformats.org/officeDocument/2006/relationships/hyperlink" Target="https://github.com/psf/requests/issues/7016"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slide" Target="/ppt/slides/slide2.xml"/><Relationship Id="rId4" Type="http://schemas.openxmlformats.org/officeDocument/2006/relationships/slide" Target="/ppt/slides/slide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slide" Target="/ppt/slides/slide2.xml"/><Relationship Id="rId4" Type="http://schemas.openxmlformats.org/officeDocument/2006/relationships/slide" Target="/ppt/slides/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hyperlink" Target="https://github.com/KarthikShivasankar/python_smells_detector" TargetMode="External"/><Relationship Id="rId6" Type="http://schemas.openxmlformats.org/officeDocument/2006/relationships/hyperlink" Target="https://github.com/KarthikShivasankar/ml_smells_detector" TargetMode="External"/><Relationship Id="rId7" Type="http://schemas.openxmlformats.org/officeDocument/2006/relationships/hyperlink" Target="https://radon.readthedocs.io/en/latest/" TargetMode="External"/><Relationship Id="rId8" Type="http://schemas.openxmlformats.org/officeDocument/2006/relationships/hyperlink" Target="https://github.com/KarthikShivasankar"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5" name="Shape 15"/>
        <p:cNvGrpSpPr/>
        <p:nvPr/>
      </p:nvGrpSpPr>
      <p:grpSpPr>
        <a:xfrm>
          <a:off x="0" y="0"/>
          <a:ext cx="0" cy="0"/>
          <a:chOff x="0" y="0"/>
          <a:chExt cx="0" cy="0"/>
        </a:xfrm>
      </p:grpSpPr>
      <p:sp>
        <p:nvSpPr>
          <p:cNvPr id="16" name="Google Shape;16;p3"/>
          <p:cNvSpPr/>
          <p:nvPr/>
        </p:nvSpPr>
        <p:spPr>
          <a:xfrm>
            <a:off x="7818120" y="566928"/>
            <a:ext cx="182880" cy="182880"/>
          </a:xfrm>
          <a:prstGeom prst="ellipse">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7360920" y="1060704"/>
            <a:ext cx="182880" cy="182880"/>
          </a:xfrm>
          <a:prstGeom prst="ellipse">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8275320" y="1060704"/>
            <a:ext cx="182880" cy="182880"/>
          </a:xfrm>
          <a:prstGeom prst="ellipse">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7059168" y="1554480"/>
            <a:ext cx="182880" cy="182880"/>
          </a:xfrm>
          <a:prstGeom prst="ellipse">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7662672" y="1554480"/>
            <a:ext cx="182880" cy="182880"/>
          </a:xfrm>
          <a:prstGeom prst="ellipse">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1" name="Google Shape;21;p3"/>
          <p:cNvCxnSpPr/>
          <p:nvPr/>
        </p:nvCxnSpPr>
        <p:spPr>
          <a:xfrm flipH="1">
            <a:off x="7882128" y="749808"/>
            <a:ext cx="45720" cy="310896"/>
          </a:xfrm>
          <a:prstGeom prst="straightConnector1">
            <a:avLst/>
          </a:prstGeom>
          <a:noFill/>
          <a:ln cap="flat" cmpd="sng" w="12700">
            <a:solidFill>
              <a:srgbClr val="3D2A5C"/>
            </a:solidFill>
            <a:prstDash val="solid"/>
            <a:round/>
            <a:headEnd len="sm" w="sm" type="none"/>
            <a:tailEnd len="sm" w="sm" type="none"/>
          </a:ln>
        </p:spPr>
      </p:cxnSp>
      <p:cxnSp>
        <p:nvCxnSpPr>
          <p:cNvPr id="22" name="Google Shape;22;p3"/>
          <p:cNvCxnSpPr/>
          <p:nvPr/>
        </p:nvCxnSpPr>
        <p:spPr>
          <a:xfrm>
            <a:off x="7909560" y="749808"/>
            <a:ext cx="457200" cy="310896"/>
          </a:xfrm>
          <a:prstGeom prst="straightConnector1">
            <a:avLst/>
          </a:prstGeom>
          <a:noFill/>
          <a:ln cap="flat" cmpd="sng" w="12700">
            <a:solidFill>
              <a:srgbClr val="3D2A5C"/>
            </a:solidFill>
            <a:prstDash val="solid"/>
            <a:round/>
            <a:headEnd len="sm" w="sm" type="none"/>
            <a:tailEnd len="sm" w="sm" type="none"/>
          </a:ln>
        </p:spPr>
      </p:cxnSp>
      <p:cxnSp>
        <p:nvCxnSpPr>
          <p:cNvPr id="23" name="Google Shape;23;p3"/>
          <p:cNvCxnSpPr/>
          <p:nvPr/>
        </p:nvCxnSpPr>
        <p:spPr>
          <a:xfrm flipH="1">
            <a:off x="7461504" y="1243584"/>
            <a:ext cx="347472" cy="310896"/>
          </a:xfrm>
          <a:prstGeom prst="straightConnector1">
            <a:avLst/>
          </a:prstGeom>
          <a:noFill/>
          <a:ln cap="flat" cmpd="sng" w="12700">
            <a:solidFill>
              <a:srgbClr val="3D2A5C"/>
            </a:solidFill>
            <a:prstDash val="solid"/>
            <a:round/>
            <a:headEnd len="sm" w="sm" type="none"/>
            <a:tailEnd len="sm" w="sm" type="none"/>
          </a:ln>
        </p:spPr>
      </p:cxnSp>
      <p:cxnSp>
        <p:nvCxnSpPr>
          <p:cNvPr id="24" name="Google Shape;24;p3"/>
          <p:cNvCxnSpPr/>
          <p:nvPr/>
        </p:nvCxnSpPr>
        <p:spPr>
          <a:xfrm>
            <a:off x="7461504" y="1243584"/>
            <a:ext cx="292608" cy="310896"/>
          </a:xfrm>
          <a:prstGeom prst="straightConnector1">
            <a:avLst/>
          </a:prstGeom>
          <a:noFill/>
          <a:ln cap="flat" cmpd="sng" w="12700">
            <a:solidFill>
              <a:srgbClr val="3D2A5C"/>
            </a:solidFill>
            <a:prstDash val="solid"/>
            <a:round/>
            <a:headEnd len="sm" w="sm" type="none"/>
            <a:tailEnd len="sm" w="sm" type="none"/>
          </a:ln>
        </p:spPr>
      </p:cxnSp>
      <p:sp>
        <p:nvSpPr>
          <p:cNvPr id="25" name="Google Shape;25;p3"/>
          <p:cNvSpPr txBox="1"/>
          <p:nvPr/>
        </p:nvSpPr>
        <p:spPr>
          <a:xfrm>
            <a:off x="502920" y="502920"/>
            <a:ext cx="69494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100"/>
              <a:buFont typeface="Courier New"/>
              <a:buNone/>
            </a:pPr>
            <a:r>
              <a:rPr b="0" i="0" lang="en-US" sz="1100" u="none" cap="none" strike="noStrike">
                <a:solidFill>
                  <a:srgbClr val="A78BFA"/>
                </a:solidFill>
                <a:latin typeface="Courier New"/>
                <a:ea typeface="Courier New"/>
                <a:cs typeface="Courier New"/>
                <a:sym typeface="Courier New"/>
              </a:rPr>
              <a:t>LLMA4SE 2026  ·  2ND INTERNATIONAL SUMMER SCHOOL ON LLM-BASED AGENTS</a:t>
            </a:r>
            <a:endParaRPr b="0" i="0" sz="1100" u="none" cap="none" strike="noStrike">
              <a:solidFill>
                <a:schemeClr val="dk1"/>
              </a:solidFill>
              <a:latin typeface="Calibri"/>
              <a:ea typeface="Calibri"/>
              <a:cs typeface="Calibri"/>
              <a:sym typeface="Calibri"/>
            </a:endParaRPr>
          </a:p>
        </p:txBody>
      </p:sp>
      <p:sp>
        <p:nvSpPr>
          <p:cNvPr id="26" name="Google Shape;26;p3"/>
          <p:cNvSpPr txBox="1"/>
          <p:nvPr/>
        </p:nvSpPr>
        <p:spPr>
          <a:xfrm>
            <a:off x="502920" y="1005840"/>
            <a:ext cx="7315200" cy="1417320"/>
          </a:xfrm>
          <a:prstGeom prst="rect">
            <a:avLst/>
          </a:prstGeom>
          <a:noFill/>
          <a:ln>
            <a:noFill/>
          </a:ln>
        </p:spPr>
        <p:txBody>
          <a:bodyPr anchorCtr="0" anchor="ctr" bIns="0" lIns="0" spcFirstLastPara="1" rIns="0" wrap="square" tIns="0">
            <a:noAutofit/>
          </a:bodyPr>
          <a:lstStyle/>
          <a:p>
            <a:pPr indent="0" lvl="0" marL="0" marR="0" rtl="0" algn="l">
              <a:lnSpc>
                <a:spcPct val="113636"/>
              </a:lnSpc>
              <a:spcBef>
                <a:spcPts val="0"/>
              </a:spcBef>
              <a:spcAft>
                <a:spcPts val="0"/>
              </a:spcAft>
              <a:buClr>
                <a:srgbClr val="FFFFFF"/>
              </a:buClr>
              <a:buSzPts val="4400"/>
              <a:buFont typeface="Cambria"/>
              <a:buNone/>
            </a:pPr>
            <a:r>
              <a:rPr b="1" i="0" lang="en-US" sz="4400" u="none" cap="none" strike="noStrike">
                <a:solidFill>
                  <a:srgbClr val="FFFFFF"/>
                </a:solidFill>
                <a:latin typeface="Cambria"/>
                <a:ea typeface="Cambria"/>
                <a:cs typeface="Cambria"/>
                <a:sym typeface="Cambria"/>
              </a:rPr>
              <a:t>Building Cooperative</a:t>
            </a:r>
            <a:br>
              <a:rPr b="1" i="0" lang="en-US" sz="4400" u="none" cap="none" strike="noStrike">
                <a:solidFill>
                  <a:srgbClr val="FFFFFF"/>
                </a:solidFill>
                <a:latin typeface="Cambria"/>
                <a:ea typeface="Cambria"/>
                <a:cs typeface="Cambria"/>
                <a:sym typeface="Cambria"/>
              </a:rPr>
            </a:br>
            <a:r>
              <a:rPr b="1" i="0" lang="en-US" sz="4400" u="none" cap="none" strike="noStrike">
                <a:solidFill>
                  <a:srgbClr val="A78BFA"/>
                </a:solidFill>
                <a:latin typeface="Cambria"/>
                <a:ea typeface="Cambria"/>
                <a:cs typeface="Cambria"/>
                <a:sym typeface="Cambria"/>
              </a:rPr>
              <a:t>LLM Agent Workflows</a:t>
            </a:r>
            <a:endParaRPr b="0" i="0" sz="4400" u="none" cap="none" strike="noStrike">
              <a:solidFill>
                <a:schemeClr val="dk1"/>
              </a:solidFill>
              <a:latin typeface="Calibri"/>
              <a:ea typeface="Calibri"/>
              <a:cs typeface="Calibri"/>
              <a:sym typeface="Calibri"/>
            </a:endParaRPr>
          </a:p>
        </p:txBody>
      </p:sp>
      <p:sp>
        <p:nvSpPr>
          <p:cNvPr id="27" name="Google Shape;27;p3"/>
          <p:cNvSpPr txBox="1"/>
          <p:nvPr/>
        </p:nvSpPr>
        <p:spPr>
          <a:xfrm>
            <a:off x="502920" y="2542032"/>
            <a:ext cx="74980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500"/>
              <a:buFont typeface="Calibri"/>
              <a:buNone/>
            </a:pPr>
            <a:r>
              <a:rPr b="0" i="0" lang="en-US" sz="1500" u="none" cap="none" strike="noStrike">
                <a:solidFill>
                  <a:srgbClr val="D8CDEE"/>
                </a:solidFill>
                <a:latin typeface="Calibri"/>
                <a:ea typeface="Calibri"/>
                <a:cs typeface="Calibri"/>
                <a:sym typeface="Calibri"/>
              </a:rPr>
              <a:t>Hands-on: anti-pattern detection, code smell &amp; technical debt resolution — one notebook, one OpenRouter key, no GPU</a:t>
            </a:r>
            <a:endParaRPr b="0" i="0" sz="1500" u="none" cap="none" strike="noStrike">
              <a:solidFill>
                <a:schemeClr val="dk1"/>
              </a:solidFill>
              <a:latin typeface="Calibri"/>
              <a:ea typeface="Calibri"/>
              <a:cs typeface="Calibri"/>
              <a:sym typeface="Calibri"/>
            </a:endParaRPr>
          </a:p>
        </p:txBody>
      </p:sp>
      <p:sp>
        <p:nvSpPr>
          <p:cNvPr id="28" name="Google Shape;28;p3"/>
          <p:cNvSpPr/>
          <p:nvPr/>
        </p:nvSpPr>
        <p:spPr>
          <a:xfrm>
            <a:off x="502920" y="3163824"/>
            <a:ext cx="1874520" cy="292608"/>
          </a:xfrm>
          <a:prstGeom prst="roundRect">
            <a:avLst>
              <a:gd fmla="val 18750" name="adj"/>
            </a:avLst>
          </a:prstGeom>
          <a:solidFill>
            <a:srgbClr val="3D2A5C"/>
          </a:solidFill>
          <a:ln cap="flat" cmpd="sng" w="9525">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txBox="1"/>
          <p:nvPr/>
        </p:nvSpPr>
        <p:spPr>
          <a:xfrm>
            <a:off x="502920" y="3163824"/>
            <a:ext cx="18745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WORKSHOP 4 · DAY 03</a:t>
            </a:r>
            <a:endParaRPr b="0" i="0" sz="950" u="none" cap="none" strike="noStrike">
              <a:solidFill>
                <a:schemeClr val="dk1"/>
              </a:solidFill>
              <a:latin typeface="Calibri"/>
              <a:ea typeface="Calibri"/>
              <a:cs typeface="Calibri"/>
              <a:sym typeface="Calibri"/>
            </a:endParaRPr>
          </a:p>
        </p:txBody>
      </p:sp>
      <p:sp>
        <p:nvSpPr>
          <p:cNvPr id="30" name="Google Shape;30;p3"/>
          <p:cNvSpPr/>
          <p:nvPr/>
        </p:nvSpPr>
        <p:spPr>
          <a:xfrm>
            <a:off x="2523744" y="3163824"/>
            <a:ext cx="2011680" cy="292608"/>
          </a:xfrm>
          <a:prstGeom prst="roundRect">
            <a:avLst>
              <a:gd fmla="val 18750" name="adj"/>
            </a:avLst>
          </a:prstGeom>
          <a:solidFill>
            <a:srgbClr val="3D2A5C"/>
          </a:solidFill>
          <a:ln cap="flat" cmpd="sng" w="9525">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txBox="1"/>
          <p:nvPr/>
        </p:nvSpPr>
        <p:spPr>
          <a:xfrm>
            <a:off x="2523744" y="3163824"/>
            <a:ext cx="201168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FRI SEP 11 · 15:00–18:00</a:t>
            </a:r>
            <a:endParaRPr b="0" i="0" sz="950" u="none" cap="none" strike="noStrike">
              <a:solidFill>
                <a:schemeClr val="dk1"/>
              </a:solidFill>
              <a:latin typeface="Calibri"/>
              <a:ea typeface="Calibri"/>
              <a:cs typeface="Calibri"/>
              <a:sym typeface="Calibri"/>
            </a:endParaRPr>
          </a:p>
        </p:txBody>
      </p:sp>
      <p:sp>
        <p:nvSpPr>
          <p:cNvPr id="32" name="Google Shape;32;p3"/>
          <p:cNvSpPr/>
          <p:nvPr/>
        </p:nvSpPr>
        <p:spPr>
          <a:xfrm>
            <a:off x="4681728" y="3163824"/>
            <a:ext cx="2148840" cy="292608"/>
          </a:xfrm>
          <a:prstGeom prst="roundRect">
            <a:avLst>
              <a:gd fmla="val 18750" name="adj"/>
            </a:avLst>
          </a:prstGeom>
          <a:solidFill>
            <a:srgbClr val="3D2A5C"/>
          </a:solidFill>
          <a:ln cap="flat" cmpd="sng" w="9525">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txBox="1"/>
          <p:nvPr/>
        </p:nvSpPr>
        <p:spPr>
          <a:xfrm>
            <a:off x="4681728" y="3163824"/>
            <a:ext cx="214884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COLAB · OPENROUTER API</a:t>
            </a:r>
            <a:endParaRPr b="0" i="0" sz="950" u="none" cap="none" strike="noStrike">
              <a:solidFill>
                <a:schemeClr val="dk1"/>
              </a:solidFill>
              <a:latin typeface="Calibri"/>
              <a:ea typeface="Calibri"/>
              <a:cs typeface="Calibri"/>
              <a:sym typeface="Calibri"/>
            </a:endParaRPr>
          </a:p>
        </p:txBody>
      </p:sp>
      <p:sp>
        <p:nvSpPr>
          <p:cNvPr id="34" name="Google Shape;34;p3"/>
          <p:cNvSpPr/>
          <p:nvPr/>
        </p:nvSpPr>
        <p:spPr>
          <a:xfrm>
            <a:off x="6976872" y="3163824"/>
            <a:ext cx="960120" cy="292608"/>
          </a:xfrm>
          <a:prstGeom prst="roundRect">
            <a:avLst>
              <a:gd fmla="val 18750" name="adj"/>
            </a:avLst>
          </a:prstGeom>
          <a:solidFill>
            <a:srgbClr val="3D2A5C"/>
          </a:solidFill>
          <a:ln cap="flat" cmpd="sng" w="9525">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txBox="1"/>
          <p:nvPr/>
        </p:nvSpPr>
        <p:spPr>
          <a:xfrm>
            <a:off x="6976872" y="3163824"/>
            <a:ext cx="9601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CPU ONLY</a:t>
            </a:r>
            <a:endParaRPr b="0" i="0" sz="950" u="none" cap="none" strike="noStrike">
              <a:solidFill>
                <a:schemeClr val="dk1"/>
              </a:solidFill>
              <a:latin typeface="Calibri"/>
              <a:ea typeface="Calibri"/>
              <a:cs typeface="Calibri"/>
              <a:sym typeface="Calibri"/>
            </a:endParaRPr>
          </a:p>
        </p:txBody>
      </p:sp>
      <p:sp>
        <p:nvSpPr>
          <p:cNvPr id="36" name="Google Shape;36;p3"/>
          <p:cNvSpPr txBox="1"/>
          <p:nvPr/>
        </p:nvSpPr>
        <p:spPr>
          <a:xfrm>
            <a:off x="502920" y="3840480"/>
            <a:ext cx="78638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300"/>
              <a:buFont typeface="Calibri"/>
              <a:buNone/>
            </a:pPr>
            <a:r>
              <a:rPr b="1" i="0" lang="en-US" sz="1300" u="none" cap="none" strike="noStrike">
                <a:solidFill>
                  <a:srgbClr val="E9DFFF"/>
                </a:solidFill>
                <a:latin typeface="Calibri"/>
                <a:ea typeface="Calibri"/>
                <a:cs typeface="Calibri"/>
                <a:sym typeface="Calibri"/>
              </a:rPr>
              <a:t>Karthik Shivashankar</a:t>
            </a:r>
            <a:r>
              <a:rPr b="0" i="0" lang="en-US" sz="1300" u="none" cap="none" strike="noStrike">
                <a:solidFill>
                  <a:srgbClr val="BBA9DE"/>
                </a:solidFill>
                <a:latin typeface="Calibri"/>
                <a:ea typeface="Calibri"/>
                <a:cs typeface="Calibri"/>
                <a:sym typeface="Calibri"/>
              </a:rPr>
              <a:t> — SINTEF Digital     </a:t>
            </a:r>
            <a:r>
              <a:rPr b="1" i="0" lang="en-US" sz="1300" u="none" cap="none" strike="noStrike">
                <a:solidFill>
                  <a:srgbClr val="E9DFFF"/>
                </a:solidFill>
                <a:latin typeface="Calibri"/>
                <a:ea typeface="Calibri"/>
                <a:cs typeface="Calibri"/>
                <a:sym typeface="Calibri"/>
              </a:rPr>
              <a:t>Adela Nedisan Videsjorden</a:t>
            </a:r>
            <a:r>
              <a:rPr b="0" i="0" lang="en-US" sz="1300" u="none" cap="none" strike="noStrike">
                <a:solidFill>
                  <a:srgbClr val="BBA9DE"/>
                </a:solidFill>
                <a:latin typeface="Calibri"/>
                <a:ea typeface="Calibri"/>
                <a:cs typeface="Calibri"/>
                <a:sym typeface="Calibri"/>
              </a:rPr>
              <a:t> — SINTEF Digital</a:t>
            </a:r>
            <a:endParaRPr b="0" i="0" sz="1300" u="none" cap="none" strike="noStrike">
              <a:solidFill>
                <a:schemeClr val="dk1"/>
              </a:solidFill>
              <a:latin typeface="Calibri"/>
              <a:ea typeface="Calibri"/>
              <a:cs typeface="Calibri"/>
              <a:sym typeface="Calibri"/>
            </a:endParaRPr>
          </a:p>
        </p:txBody>
      </p:sp>
      <p:sp>
        <p:nvSpPr>
          <p:cNvPr id="37" name="Google Shape;37;p3"/>
          <p:cNvSpPr/>
          <p:nvPr/>
        </p:nvSpPr>
        <p:spPr>
          <a:xfrm>
            <a:off x="502920" y="4261104"/>
            <a:ext cx="8138160" cy="502920"/>
          </a:xfrm>
          <a:prstGeom prst="roundRect">
            <a:avLst>
              <a:gd fmla="val 16364"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txBox="1"/>
          <p:nvPr/>
        </p:nvSpPr>
        <p:spPr>
          <a:xfrm>
            <a:off x="667512" y="4261104"/>
            <a:ext cx="7808976"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200"/>
              <a:buFont typeface="Calibri"/>
              <a:buNone/>
            </a:pPr>
            <a:r>
              <a:rPr b="0" i="0" lang="en-US" sz="1200" u="none" cap="none" strike="noStrike">
                <a:solidFill>
                  <a:srgbClr val="BBA9DE"/>
                </a:solidFill>
                <a:latin typeface="Calibri"/>
                <a:ea typeface="Calibri"/>
                <a:cs typeface="Calibri"/>
                <a:sym typeface="Calibri"/>
              </a:rPr>
              <a:t>Start now:  </a:t>
            </a:r>
            <a:r>
              <a:rPr b="1" i="0" lang="en-US" sz="1200" u="sng" cap="none" strike="noStrike">
                <a:solidFill>
                  <a:schemeClr val="hlink"/>
                </a:solidFill>
                <a:latin typeface="Calibri"/>
                <a:ea typeface="Calibri"/>
                <a:cs typeface="Calibri"/>
                <a:sym typeface="Calibri"/>
                <a:hlinkClick r:id="rId3"/>
              </a:rPr>
              <a:t>open the Colab</a:t>
            </a:r>
            <a:r>
              <a:rPr b="1" i="0" lang="en-US" sz="1200" u="none" cap="none" strike="noStrike">
                <a:solidFill>
                  <a:srgbClr val="E9DFFF"/>
                </a:solidFill>
                <a:latin typeface="Calibri"/>
                <a:ea typeface="Calibri"/>
                <a:cs typeface="Calibri"/>
                <a:sym typeface="Calibri"/>
              </a:rPr>
              <a:t> → run Part 0 → §0.2 loads your OPENROUTER_API_KEY.</a:t>
            </a:r>
            <a:r>
              <a:rPr b="0" i="0" lang="en-US" sz="1200" u="none" cap="none" strike="noStrike">
                <a:solidFill>
                  <a:srgbClr val="BBA9DE"/>
                </a:solidFill>
                <a:latin typeface="Calibri"/>
                <a:ea typeface="Calibri"/>
                <a:cs typeface="Calibri"/>
                <a:sym typeface="Calibri"/>
              </a:rPr>
              <a:t>   Everything today runs on CPU.</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43" name="Shape 43"/>
        <p:cNvGrpSpPr/>
        <p:nvPr/>
      </p:nvGrpSpPr>
      <p:grpSpPr>
        <a:xfrm>
          <a:off x="0" y="0"/>
          <a:ext cx="0" cy="0"/>
          <a:chOff x="0" y="0"/>
          <a:chExt cx="0" cy="0"/>
        </a:xfrm>
      </p:grpSpPr>
      <p:sp>
        <p:nvSpPr>
          <p:cNvPr id="44" name="Google Shape;44;p4"/>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THE NEXT THREE HOURS · CLICK A CARD TO JUMP</a:t>
            </a:r>
            <a:endParaRPr b="0" i="0" sz="1050" u="none" cap="none" strike="noStrike">
              <a:solidFill>
                <a:schemeClr val="dk1"/>
              </a:solidFill>
              <a:latin typeface="Calibri"/>
              <a:ea typeface="Calibri"/>
              <a:cs typeface="Calibri"/>
              <a:sym typeface="Calibri"/>
            </a:endParaRPr>
          </a:p>
        </p:txBody>
      </p:sp>
      <p:sp>
        <p:nvSpPr>
          <p:cNvPr id="45" name="Google Shape;45;p4"/>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Five parts, one notebook, one blackboard</a:t>
            </a:r>
            <a:endParaRPr b="0" i="0" sz="2700" u="none" cap="none" strike="noStrike">
              <a:solidFill>
                <a:schemeClr val="dk1"/>
              </a:solidFill>
              <a:latin typeface="Calibri"/>
              <a:ea typeface="Calibri"/>
              <a:cs typeface="Calibri"/>
              <a:sym typeface="Calibri"/>
            </a:endParaRPr>
          </a:p>
        </p:txBody>
      </p:sp>
      <p:sp>
        <p:nvSpPr>
          <p:cNvPr id="46" name="Google Shape;46;p4"/>
          <p:cNvSpPr/>
          <p:nvPr/>
        </p:nvSpPr>
        <p:spPr>
          <a:xfrm>
            <a:off x="502920" y="1188720"/>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685800" y="1321308"/>
            <a:ext cx="301752" cy="30175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4"/>
          <p:cNvSpPr txBox="1"/>
          <p:nvPr/>
        </p:nvSpPr>
        <p:spPr>
          <a:xfrm>
            <a:off x="685800" y="1321308"/>
            <a:ext cx="301752"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300"/>
              <a:buFont typeface="Courier New"/>
              <a:buNone/>
            </a:pPr>
            <a:r>
              <a:rPr b="1" i="0" lang="en-US" sz="1300" u="none" cap="none" strike="noStrike">
                <a:solidFill>
                  <a:srgbClr val="2A1B3D"/>
                </a:solidFill>
                <a:latin typeface="Courier New"/>
                <a:ea typeface="Courier New"/>
                <a:cs typeface="Courier New"/>
                <a:sym typeface="Courier New"/>
              </a:rPr>
              <a:t>0</a:t>
            </a:r>
            <a:endParaRPr b="0" i="0" sz="1300" u="none" cap="none" strike="noStrike">
              <a:solidFill>
                <a:schemeClr val="dk1"/>
              </a:solidFill>
              <a:latin typeface="Calibri"/>
              <a:ea typeface="Calibri"/>
              <a:cs typeface="Calibri"/>
              <a:sym typeface="Calibri"/>
            </a:endParaRPr>
          </a:p>
        </p:txBody>
      </p:sp>
      <p:sp>
        <p:nvSpPr>
          <p:cNvPr id="49" name="Google Shape;49;p4">
            <a:hlinkClick action="ppaction://hlinksldjump" r:id="rId3"/>
          </p:cNvPr>
          <p:cNvSpPr txBox="1"/>
          <p:nvPr/>
        </p:nvSpPr>
        <p:spPr>
          <a:xfrm>
            <a:off x="1106424" y="1261872"/>
            <a:ext cx="23774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action="ppaction://hlinksldjump" r:id="rId4"/>
              </a:rPr>
              <a:t>Setup + beginner basics</a:t>
            </a:r>
            <a:endParaRPr b="0" i="0" sz="1400" u="none" cap="none" strike="noStrike">
              <a:solidFill>
                <a:schemeClr val="dk1"/>
              </a:solidFill>
              <a:latin typeface="Calibri"/>
              <a:ea typeface="Calibri"/>
              <a:cs typeface="Calibri"/>
              <a:sym typeface="Calibri"/>
            </a:endParaRPr>
          </a:p>
        </p:txBody>
      </p:sp>
      <p:sp>
        <p:nvSpPr>
          <p:cNvPr id="50" name="Google Shape;50;p4"/>
          <p:cNvSpPr txBox="1"/>
          <p:nvPr/>
        </p:nvSpPr>
        <p:spPr>
          <a:xfrm>
            <a:off x="1106424" y="1490472"/>
            <a:ext cx="5074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Install the toolbox · load the key · six words · write the PayFlow + churn case study.</a:t>
            </a:r>
            <a:endParaRPr b="0" i="0" sz="1050" u="none" cap="none" strike="noStrike">
              <a:solidFill>
                <a:schemeClr val="dk1"/>
              </a:solidFill>
              <a:latin typeface="Calibri"/>
              <a:ea typeface="Calibri"/>
              <a:cs typeface="Calibri"/>
              <a:sym typeface="Calibri"/>
            </a:endParaRPr>
          </a:p>
        </p:txBody>
      </p:sp>
      <p:sp>
        <p:nvSpPr>
          <p:cNvPr id="51" name="Google Shape;51;p4"/>
          <p:cNvSpPr/>
          <p:nvPr/>
        </p:nvSpPr>
        <p:spPr>
          <a:xfrm>
            <a:off x="6400800" y="1357884"/>
            <a:ext cx="1051560" cy="228600"/>
          </a:xfrm>
          <a:prstGeom prst="roundRect">
            <a:avLst>
              <a:gd fmla="val 24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txBox="1"/>
          <p:nvPr/>
        </p:nvSpPr>
        <p:spPr>
          <a:xfrm>
            <a:off x="6400800" y="1357884"/>
            <a:ext cx="105156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850"/>
              <a:buFont typeface="Courier New"/>
              <a:buNone/>
            </a:pPr>
            <a:r>
              <a:rPr b="0" i="0" lang="en-US" sz="850" u="none" cap="none" strike="noStrike">
                <a:solidFill>
                  <a:srgbClr val="A78BFA"/>
                </a:solidFill>
                <a:latin typeface="Courier New"/>
                <a:ea typeface="Courier New"/>
                <a:cs typeface="Courier New"/>
                <a:sym typeface="Courier New"/>
              </a:rPr>
              <a:t>0:00 – 0:25</a:t>
            </a:r>
            <a:endParaRPr b="0" i="0" sz="850" u="none" cap="none" strike="noStrike">
              <a:solidFill>
                <a:schemeClr val="dk1"/>
              </a:solidFill>
              <a:latin typeface="Calibri"/>
              <a:ea typeface="Calibri"/>
              <a:cs typeface="Calibri"/>
              <a:sym typeface="Calibri"/>
            </a:endParaRPr>
          </a:p>
        </p:txBody>
      </p:sp>
      <p:sp>
        <p:nvSpPr>
          <p:cNvPr id="53" name="Google Shape;53;p4">
            <a:hlinkClick action="ppaction://hlinksldjump" r:id="rId5"/>
          </p:cNvPr>
          <p:cNvSpPr txBox="1"/>
          <p:nvPr/>
        </p:nvSpPr>
        <p:spPr>
          <a:xfrm>
            <a:off x="7562088" y="1357884"/>
            <a:ext cx="82296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78BFA"/>
              </a:buClr>
              <a:buSzPts val="850"/>
              <a:buFont typeface="Courier New"/>
              <a:buNone/>
            </a:pPr>
            <a:r>
              <a:rPr b="1" i="0" lang="en-US" sz="850" u="sng" cap="none" strike="noStrike">
                <a:solidFill>
                  <a:schemeClr val="hlink"/>
                </a:solidFill>
                <a:latin typeface="Courier New"/>
                <a:ea typeface="Courier New"/>
                <a:cs typeface="Courier New"/>
                <a:sym typeface="Courier New"/>
                <a:hlinkClick action="ppaction://hlinksldjump" r:id="rId6"/>
              </a:rPr>
              <a:t>JUMP →</a:t>
            </a:r>
            <a:endParaRPr b="0" i="0" sz="850" u="none" cap="none" strike="noStrike">
              <a:solidFill>
                <a:schemeClr val="dk1"/>
              </a:solidFill>
              <a:latin typeface="Calibri"/>
              <a:ea typeface="Calibri"/>
              <a:cs typeface="Calibri"/>
              <a:sym typeface="Calibri"/>
            </a:endParaRPr>
          </a:p>
        </p:txBody>
      </p:sp>
      <p:sp>
        <p:nvSpPr>
          <p:cNvPr id="54" name="Google Shape;54;p4"/>
          <p:cNvSpPr/>
          <p:nvPr/>
        </p:nvSpPr>
        <p:spPr>
          <a:xfrm>
            <a:off x="502920" y="1860804"/>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685800" y="1993392"/>
            <a:ext cx="301752" cy="301752"/>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4"/>
          <p:cNvSpPr txBox="1"/>
          <p:nvPr/>
        </p:nvSpPr>
        <p:spPr>
          <a:xfrm>
            <a:off x="685800" y="1993392"/>
            <a:ext cx="301752"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300"/>
              <a:buFont typeface="Courier New"/>
              <a:buNone/>
            </a:pPr>
            <a:r>
              <a:rPr b="1" i="0" lang="en-US" sz="1300" u="none" cap="none" strike="noStrike">
                <a:solidFill>
                  <a:srgbClr val="2A1B3D"/>
                </a:solidFill>
                <a:latin typeface="Courier New"/>
                <a:ea typeface="Courier New"/>
                <a:cs typeface="Courier New"/>
                <a:sym typeface="Courier New"/>
              </a:rPr>
              <a:t>1</a:t>
            </a:r>
            <a:endParaRPr b="0" i="0" sz="1300" u="none" cap="none" strike="noStrike">
              <a:solidFill>
                <a:schemeClr val="dk1"/>
              </a:solidFill>
              <a:latin typeface="Calibri"/>
              <a:ea typeface="Calibri"/>
              <a:cs typeface="Calibri"/>
              <a:sym typeface="Calibri"/>
            </a:endParaRPr>
          </a:p>
        </p:txBody>
      </p:sp>
      <p:sp>
        <p:nvSpPr>
          <p:cNvPr id="57" name="Google Shape;57;p4">
            <a:hlinkClick action="ppaction://hlinksldjump" r:id="rId7"/>
          </p:cNvPr>
          <p:cNvSpPr txBox="1"/>
          <p:nvPr/>
        </p:nvSpPr>
        <p:spPr>
          <a:xfrm>
            <a:off x="1106424" y="1933956"/>
            <a:ext cx="23774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action="ppaction://hlinksldjump" r:id="rId8"/>
              </a:rPr>
              <a:t>Parse, then measure</a:t>
            </a:r>
            <a:endParaRPr b="0" i="0" sz="1400" u="none" cap="none" strike="noStrike">
              <a:solidFill>
                <a:schemeClr val="dk1"/>
              </a:solidFill>
              <a:latin typeface="Calibri"/>
              <a:ea typeface="Calibri"/>
              <a:cs typeface="Calibri"/>
              <a:sym typeface="Calibri"/>
            </a:endParaRPr>
          </a:p>
        </p:txBody>
      </p:sp>
      <p:sp>
        <p:nvSpPr>
          <p:cNvPr id="58" name="Google Shape;58;p4"/>
          <p:cNvSpPr txBox="1"/>
          <p:nvPr/>
        </p:nvSpPr>
        <p:spPr>
          <a:xfrm>
            <a:off x="1106424" y="2162556"/>
            <a:ext cx="5074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AST → PyExamine · MLScent · radon · pylint. Then the auditor agent that reads their output.</a:t>
            </a:r>
            <a:endParaRPr b="0" i="0" sz="1050" u="none" cap="none" strike="noStrike">
              <a:solidFill>
                <a:schemeClr val="dk1"/>
              </a:solidFill>
              <a:latin typeface="Calibri"/>
              <a:ea typeface="Calibri"/>
              <a:cs typeface="Calibri"/>
              <a:sym typeface="Calibri"/>
            </a:endParaRPr>
          </a:p>
        </p:txBody>
      </p:sp>
      <p:sp>
        <p:nvSpPr>
          <p:cNvPr id="59" name="Google Shape;59;p4"/>
          <p:cNvSpPr/>
          <p:nvPr/>
        </p:nvSpPr>
        <p:spPr>
          <a:xfrm>
            <a:off x="6400800" y="2029968"/>
            <a:ext cx="1051560" cy="228600"/>
          </a:xfrm>
          <a:prstGeom prst="roundRect">
            <a:avLst>
              <a:gd fmla="val 24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4"/>
          <p:cNvSpPr txBox="1"/>
          <p:nvPr/>
        </p:nvSpPr>
        <p:spPr>
          <a:xfrm>
            <a:off x="6400800" y="2029968"/>
            <a:ext cx="105156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850"/>
              <a:buFont typeface="Courier New"/>
              <a:buNone/>
            </a:pPr>
            <a:r>
              <a:rPr b="0" i="0" lang="en-US" sz="850" u="none" cap="none" strike="noStrike">
                <a:solidFill>
                  <a:srgbClr val="5EE9B5"/>
                </a:solidFill>
                <a:latin typeface="Courier New"/>
                <a:ea typeface="Courier New"/>
                <a:cs typeface="Courier New"/>
                <a:sym typeface="Courier New"/>
              </a:rPr>
              <a:t>0:25 – 1:10</a:t>
            </a:r>
            <a:endParaRPr b="0" i="0" sz="850" u="none" cap="none" strike="noStrike">
              <a:solidFill>
                <a:schemeClr val="dk1"/>
              </a:solidFill>
              <a:latin typeface="Calibri"/>
              <a:ea typeface="Calibri"/>
              <a:cs typeface="Calibri"/>
              <a:sym typeface="Calibri"/>
            </a:endParaRPr>
          </a:p>
        </p:txBody>
      </p:sp>
      <p:sp>
        <p:nvSpPr>
          <p:cNvPr id="61" name="Google Shape;61;p4">
            <a:hlinkClick action="ppaction://hlinksldjump" r:id="rId9"/>
          </p:cNvPr>
          <p:cNvSpPr txBox="1"/>
          <p:nvPr/>
        </p:nvSpPr>
        <p:spPr>
          <a:xfrm>
            <a:off x="7562088" y="2029968"/>
            <a:ext cx="82296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E9B5"/>
              </a:buClr>
              <a:buSzPts val="850"/>
              <a:buFont typeface="Courier New"/>
              <a:buNone/>
            </a:pPr>
            <a:r>
              <a:rPr b="1" i="0" lang="en-US" sz="850" u="sng" cap="none" strike="noStrike">
                <a:solidFill>
                  <a:schemeClr val="hlink"/>
                </a:solidFill>
                <a:latin typeface="Courier New"/>
                <a:ea typeface="Courier New"/>
                <a:cs typeface="Courier New"/>
                <a:sym typeface="Courier New"/>
                <a:hlinkClick action="ppaction://hlinksldjump" r:id="rId10"/>
              </a:rPr>
              <a:t>JUMP →</a:t>
            </a:r>
            <a:endParaRPr b="0" i="0" sz="850" u="none" cap="none" strike="noStrike">
              <a:solidFill>
                <a:schemeClr val="dk1"/>
              </a:solidFill>
              <a:latin typeface="Calibri"/>
              <a:ea typeface="Calibri"/>
              <a:cs typeface="Calibri"/>
              <a:sym typeface="Calibri"/>
            </a:endParaRPr>
          </a:p>
        </p:txBody>
      </p:sp>
      <p:sp>
        <p:nvSpPr>
          <p:cNvPr id="62" name="Google Shape;62;p4"/>
          <p:cNvSpPr/>
          <p:nvPr/>
        </p:nvSpPr>
        <p:spPr>
          <a:xfrm>
            <a:off x="502920" y="2532888"/>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685800" y="2665476"/>
            <a:ext cx="301752" cy="301752"/>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4"/>
          <p:cNvSpPr txBox="1"/>
          <p:nvPr/>
        </p:nvSpPr>
        <p:spPr>
          <a:xfrm>
            <a:off x="685800" y="2665476"/>
            <a:ext cx="301752"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300"/>
              <a:buFont typeface="Courier New"/>
              <a:buNone/>
            </a:pPr>
            <a:r>
              <a:rPr b="1" i="0" lang="en-US" sz="1300" u="none" cap="none" strike="noStrike">
                <a:solidFill>
                  <a:srgbClr val="2A1B3D"/>
                </a:solidFill>
                <a:latin typeface="Courier New"/>
                <a:ea typeface="Courier New"/>
                <a:cs typeface="Courier New"/>
                <a:sym typeface="Courier New"/>
              </a:rPr>
              <a:t>2</a:t>
            </a:r>
            <a:endParaRPr b="0" i="0" sz="1300" u="none" cap="none" strike="noStrike">
              <a:solidFill>
                <a:schemeClr val="dk1"/>
              </a:solidFill>
              <a:latin typeface="Calibri"/>
              <a:ea typeface="Calibri"/>
              <a:cs typeface="Calibri"/>
              <a:sym typeface="Calibri"/>
            </a:endParaRPr>
          </a:p>
        </p:txBody>
      </p:sp>
      <p:sp>
        <p:nvSpPr>
          <p:cNvPr id="65" name="Google Shape;65;p4">
            <a:hlinkClick action="ppaction://hlinksldjump" r:id="rId11"/>
          </p:cNvPr>
          <p:cNvSpPr txBox="1"/>
          <p:nvPr/>
        </p:nvSpPr>
        <p:spPr>
          <a:xfrm>
            <a:off x="1106424" y="2606040"/>
            <a:ext cx="23774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action="ppaction://hlinksldjump" r:id="rId12"/>
              </a:rPr>
              <a:t>Cooperative team</a:t>
            </a:r>
            <a:endParaRPr b="0" i="0" sz="1400" u="none" cap="none" strike="noStrike">
              <a:solidFill>
                <a:schemeClr val="dk1"/>
              </a:solidFill>
              <a:latin typeface="Calibri"/>
              <a:ea typeface="Calibri"/>
              <a:cs typeface="Calibri"/>
              <a:sym typeface="Calibri"/>
            </a:endParaRPr>
          </a:p>
        </p:txBody>
      </p:sp>
      <p:sp>
        <p:nvSpPr>
          <p:cNvPr id="66" name="Google Shape;66;p4"/>
          <p:cNvSpPr txBox="1"/>
          <p:nvPr/>
        </p:nvSpPr>
        <p:spPr>
          <a:xfrm>
            <a:off x="1106424" y="2834640"/>
            <a:ext cx="5074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Blackboard · planner · refactorer · a QA agent with three gates and no LLM inside it.</a:t>
            </a:r>
            <a:endParaRPr b="0" i="0" sz="1050" u="none" cap="none" strike="noStrike">
              <a:solidFill>
                <a:schemeClr val="dk1"/>
              </a:solidFill>
              <a:latin typeface="Calibri"/>
              <a:ea typeface="Calibri"/>
              <a:cs typeface="Calibri"/>
              <a:sym typeface="Calibri"/>
            </a:endParaRPr>
          </a:p>
        </p:txBody>
      </p:sp>
      <p:sp>
        <p:nvSpPr>
          <p:cNvPr id="67" name="Google Shape;67;p4"/>
          <p:cNvSpPr/>
          <p:nvPr/>
        </p:nvSpPr>
        <p:spPr>
          <a:xfrm>
            <a:off x="6400800" y="2702052"/>
            <a:ext cx="1051560" cy="228600"/>
          </a:xfrm>
          <a:prstGeom prst="roundRect">
            <a:avLst>
              <a:gd fmla="val 24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txBox="1"/>
          <p:nvPr/>
        </p:nvSpPr>
        <p:spPr>
          <a:xfrm>
            <a:off x="6400800" y="2702052"/>
            <a:ext cx="105156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BF24"/>
              </a:buClr>
              <a:buSzPts val="850"/>
              <a:buFont typeface="Courier New"/>
              <a:buNone/>
            </a:pPr>
            <a:r>
              <a:rPr b="0" i="0" lang="en-US" sz="850" u="none" cap="none" strike="noStrike">
                <a:solidFill>
                  <a:srgbClr val="FBBF24"/>
                </a:solidFill>
                <a:latin typeface="Courier New"/>
                <a:ea typeface="Courier New"/>
                <a:cs typeface="Courier New"/>
                <a:sym typeface="Courier New"/>
              </a:rPr>
              <a:t>1:10 – 1:50</a:t>
            </a:r>
            <a:endParaRPr b="0" i="0" sz="850" u="none" cap="none" strike="noStrike">
              <a:solidFill>
                <a:schemeClr val="dk1"/>
              </a:solidFill>
              <a:latin typeface="Calibri"/>
              <a:ea typeface="Calibri"/>
              <a:cs typeface="Calibri"/>
              <a:sym typeface="Calibri"/>
            </a:endParaRPr>
          </a:p>
        </p:txBody>
      </p:sp>
      <p:sp>
        <p:nvSpPr>
          <p:cNvPr id="69" name="Google Shape;69;p4">
            <a:hlinkClick action="ppaction://hlinksldjump" r:id="rId13"/>
          </p:cNvPr>
          <p:cNvSpPr txBox="1"/>
          <p:nvPr/>
        </p:nvSpPr>
        <p:spPr>
          <a:xfrm>
            <a:off x="7562088" y="2702052"/>
            <a:ext cx="82296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BBF24"/>
              </a:buClr>
              <a:buSzPts val="850"/>
              <a:buFont typeface="Courier New"/>
              <a:buNone/>
            </a:pPr>
            <a:r>
              <a:rPr b="1" i="0" lang="en-US" sz="850" u="sng" cap="none" strike="noStrike">
                <a:solidFill>
                  <a:schemeClr val="hlink"/>
                </a:solidFill>
                <a:latin typeface="Courier New"/>
                <a:ea typeface="Courier New"/>
                <a:cs typeface="Courier New"/>
                <a:sym typeface="Courier New"/>
                <a:hlinkClick action="ppaction://hlinksldjump" r:id="rId14"/>
              </a:rPr>
              <a:t>JUMP →</a:t>
            </a:r>
            <a:endParaRPr b="0" i="0" sz="850" u="none" cap="none" strike="noStrike">
              <a:solidFill>
                <a:schemeClr val="dk1"/>
              </a:solidFill>
              <a:latin typeface="Calibri"/>
              <a:ea typeface="Calibri"/>
              <a:cs typeface="Calibri"/>
              <a:sym typeface="Calibri"/>
            </a:endParaRPr>
          </a:p>
        </p:txBody>
      </p:sp>
      <p:sp>
        <p:nvSpPr>
          <p:cNvPr id="70" name="Google Shape;70;p4"/>
          <p:cNvSpPr/>
          <p:nvPr/>
        </p:nvSpPr>
        <p:spPr>
          <a:xfrm>
            <a:off x="502920" y="3204972"/>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685800" y="3337560"/>
            <a:ext cx="301752" cy="301752"/>
          </a:xfrm>
          <a:prstGeom prst="ellipse">
            <a:avLst/>
          </a:prstGeom>
          <a:solidFill>
            <a:srgbClr val="E9DFFF"/>
          </a:solidFill>
          <a:ln cap="flat" cmpd="sng" w="12700">
            <a:solidFill>
              <a:srgbClr val="E9D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4"/>
          <p:cNvSpPr txBox="1"/>
          <p:nvPr/>
        </p:nvSpPr>
        <p:spPr>
          <a:xfrm>
            <a:off x="685800" y="3337560"/>
            <a:ext cx="301752"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300"/>
              <a:buFont typeface="Courier New"/>
              <a:buNone/>
            </a:pPr>
            <a:r>
              <a:rPr b="1" i="0" lang="en-US" sz="1300" u="none" cap="none" strike="noStrike">
                <a:solidFill>
                  <a:srgbClr val="2A1B3D"/>
                </a:solidFill>
                <a:latin typeface="Courier New"/>
                <a:ea typeface="Courier New"/>
                <a:cs typeface="Courier New"/>
                <a:sym typeface="Courier New"/>
              </a:rPr>
              <a:t>3</a:t>
            </a:r>
            <a:endParaRPr b="0" i="0" sz="1300" u="none" cap="none" strike="noStrike">
              <a:solidFill>
                <a:schemeClr val="dk1"/>
              </a:solidFill>
              <a:latin typeface="Calibri"/>
              <a:ea typeface="Calibri"/>
              <a:cs typeface="Calibri"/>
              <a:sym typeface="Calibri"/>
            </a:endParaRPr>
          </a:p>
        </p:txBody>
      </p:sp>
      <p:sp>
        <p:nvSpPr>
          <p:cNvPr id="73" name="Google Shape;73;p4">
            <a:hlinkClick action="ppaction://hlinksldjump" r:id="rId15"/>
          </p:cNvPr>
          <p:cNvSpPr txBox="1"/>
          <p:nvPr/>
        </p:nvSpPr>
        <p:spPr>
          <a:xfrm>
            <a:off x="1106424" y="3278124"/>
            <a:ext cx="23774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action="ppaction://hlinksldjump" r:id="rId16"/>
              </a:rPr>
              <a:t>Frameworks</a:t>
            </a:r>
            <a:endParaRPr b="0" i="0" sz="1400" u="none" cap="none" strike="noStrike">
              <a:solidFill>
                <a:schemeClr val="dk1"/>
              </a:solidFill>
              <a:latin typeface="Calibri"/>
              <a:ea typeface="Calibri"/>
              <a:cs typeface="Calibri"/>
              <a:sym typeface="Calibri"/>
            </a:endParaRPr>
          </a:p>
        </p:txBody>
      </p:sp>
      <p:sp>
        <p:nvSpPr>
          <p:cNvPr id="74" name="Google Shape;74;p4"/>
          <p:cNvSpPr txBox="1"/>
          <p:nvPr/>
        </p:nvSpPr>
        <p:spPr>
          <a:xfrm>
            <a:off x="1106424" y="3506724"/>
            <a:ext cx="5074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The same loop with less glue: LangChain → a LangGraph state machine → Deep Agents.</a:t>
            </a:r>
            <a:endParaRPr b="0" i="0" sz="1050" u="none" cap="none" strike="noStrike">
              <a:solidFill>
                <a:schemeClr val="dk1"/>
              </a:solidFill>
              <a:latin typeface="Calibri"/>
              <a:ea typeface="Calibri"/>
              <a:cs typeface="Calibri"/>
              <a:sym typeface="Calibri"/>
            </a:endParaRPr>
          </a:p>
        </p:txBody>
      </p:sp>
      <p:sp>
        <p:nvSpPr>
          <p:cNvPr id="75" name="Google Shape;75;p4"/>
          <p:cNvSpPr/>
          <p:nvPr/>
        </p:nvSpPr>
        <p:spPr>
          <a:xfrm>
            <a:off x="6400800" y="3374136"/>
            <a:ext cx="1051560" cy="228600"/>
          </a:xfrm>
          <a:prstGeom prst="roundRect">
            <a:avLst>
              <a:gd fmla="val 24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txBox="1"/>
          <p:nvPr/>
        </p:nvSpPr>
        <p:spPr>
          <a:xfrm>
            <a:off x="6400800" y="3374136"/>
            <a:ext cx="105156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850"/>
              <a:buFont typeface="Courier New"/>
              <a:buNone/>
            </a:pPr>
            <a:r>
              <a:rPr b="0" i="0" lang="en-US" sz="850" u="none" cap="none" strike="noStrike">
                <a:solidFill>
                  <a:srgbClr val="E9DFFF"/>
                </a:solidFill>
                <a:latin typeface="Courier New"/>
                <a:ea typeface="Courier New"/>
                <a:cs typeface="Courier New"/>
                <a:sym typeface="Courier New"/>
              </a:rPr>
              <a:t>1:50 – 2:30</a:t>
            </a:r>
            <a:endParaRPr b="0" i="0" sz="850" u="none" cap="none" strike="noStrike">
              <a:solidFill>
                <a:schemeClr val="dk1"/>
              </a:solidFill>
              <a:latin typeface="Calibri"/>
              <a:ea typeface="Calibri"/>
              <a:cs typeface="Calibri"/>
              <a:sym typeface="Calibri"/>
            </a:endParaRPr>
          </a:p>
        </p:txBody>
      </p:sp>
      <p:sp>
        <p:nvSpPr>
          <p:cNvPr id="77" name="Google Shape;77;p4">
            <a:hlinkClick action="ppaction://hlinksldjump" r:id="rId17"/>
          </p:cNvPr>
          <p:cNvSpPr txBox="1"/>
          <p:nvPr/>
        </p:nvSpPr>
        <p:spPr>
          <a:xfrm>
            <a:off x="7562088" y="3374136"/>
            <a:ext cx="82296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9DFFF"/>
              </a:buClr>
              <a:buSzPts val="850"/>
              <a:buFont typeface="Courier New"/>
              <a:buNone/>
            </a:pPr>
            <a:r>
              <a:rPr b="1" i="0" lang="en-US" sz="850" u="sng" cap="none" strike="noStrike">
                <a:solidFill>
                  <a:schemeClr val="hlink"/>
                </a:solidFill>
                <a:latin typeface="Courier New"/>
                <a:ea typeface="Courier New"/>
                <a:cs typeface="Courier New"/>
                <a:sym typeface="Courier New"/>
                <a:hlinkClick action="ppaction://hlinksldjump" r:id="rId18"/>
              </a:rPr>
              <a:t>JUMP →</a:t>
            </a:r>
            <a:endParaRPr b="0" i="0" sz="850" u="none" cap="none" strike="noStrike">
              <a:solidFill>
                <a:schemeClr val="dk1"/>
              </a:solidFill>
              <a:latin typeface="Calibri"/>
              <a:ea typeface="Calibri"/>
              <a:cs typeface="Calibri"/>
              <a:sym typeface="Calibri"/>
            </a:endParaRPr>
          </a:p>
        </p:txBody>
      </p:sp>
      <p:sp>
        <p:nvSpPr>
          <p:cNvPr id="78" name="Google Shape;78;p4"/>
          <p:cNvSpPr/>
          <p:nvPr/>
        </p:nvSpPr>
        <p:spPr>
          <a:xfrm>
            <a:off x="502920" y="3877056"/>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4"/>
          <p:cNvSpPr/>
          <p:nvPr/>
        </p:nvSpPr>
        <p:spPr>
          <a:xfrm>
            <a:off x="685800" y="4009644"/>
            <a:ext cx="301752" cy="301752"/>
          </a:xfrm>
          <a:prstGeom prst="ellipse">
            <a:avLst/>
          </a:prstGeom>
          <a:solidFill>
            <a:srgbClr val="FB7185"/>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4"/>
          <p:cNvSpPr txBox="1"/>
          <p:nvPr/>
        </p:nvSpPr>
        <p:spPr>
          <a:xfrm>
            <a:off x="685800" y="4009644"/>
            <a:ext cx="301752"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300"/>
              <a:buFont typeface="Courier New"/>
              <a:buNone/>
            </a:pPr>
            <a:r>
              <a:rPr b="1" i="0" lang="en-US" sz="1300" u="none" cap="none" strike="noStrike">
                <a:solidFill>
                  <a:srgbClr val="2A1B3D"/>
                </a:solidFill>
                <a:latin typeface="Courier New"/>
                <a:ea typeface="Courier New"/>
                <a:cs typeface="Courier New"/>
                <a:sym typeface="Courier New"/>
              </a:rPr>
              <a:t>4</a:t>
            </a:r>
            <a:endParaRPr b="0" i="0" sz="1300" u="none" cap="none" strike="noStrike">
              <a:solidFill>
                <a:schemeClr val="dk1"/>
              </a:solidFill>
              <a:latin typeface="Calibri"/>
              <a:ea typeface="Calibri"/>
              <a:cs typeface="Calibri"/>
              <a:sym typeface="Calibri"/>
            </a:endParaRPr>
          </a:p>
        </p:txBody>
      </p:sp>
      <p:sp>
        <p:nvSpPr>
          <p:cNvPr id="81" name="Google Shape;81;p4">
            <a:hlinkClick action="ppaction://hlinksldjump" r:id="rId19"/>
          </p:cNvPr>
          <p:cNvSpPr txBox="1"/>
          <p:nvPr/>
        </p:nvSpPr>
        <p:spPr>
          <a:xfrm>
            <a:off x="1106424" y="3950208"/>
            <a:ext cx="23774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action="ppaction://hlinksldjump" r:id="rId20"/>
              </a:rPr>
              <a:t>Debt resolution &amp; ship</a:t>
            </a:r>
            <a:endParaRPr b="0" i="0" sz="1400" u="none" cap="none" strike="noStrike">
              <a:solidFill>
                <a:schemeClr val="dk1"/>
              </a:solidFill>
              <a:latin typeface="Calibri"/>
              <a:ea typeface="Calibri"/>
              <a:cs typeface="Calibri"/>
              <a:sym typeface="Calibri"/>
            </a:endParaRPr>
          </a:p>
        </p:txBody>
      </p:sp>
      <p:sp>
        <p:nvSpPr>
          <p:cNvPr id="82" name="Google Shape;82;p4"/>
          <p:cNvSpPr txBox="1"/>
          <p:nvPr/>
        </p:nvSpPr>
        <p:spPr>
          <a:xfrm>
            <a:off x="1106424" y="4178808"/>
            <a:ext cx="5074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Classify + triage six real GitHub issues, then the full pipeline → TECH_DEBT_REPORT.md.</a:t>
            </a:r>
            <a:endParaRPr b="0" i="0" sz="1050" u="none" cap="none" strike="noStrike">
              <a:solidFill>
                <a:schemeClr val="dk1"/>
              </a:solidFill>
              <a:latin typeface="Calibri"/>
              <a:ea typeface="Calibri"/>
              <a:cs typeface="Calibri"/>
              <a:sym typeface="Calibri"/>
            </a:endParaRPr>
          </a:p>
        </p:txBody>
      </p:sp>
      <p:sp>
        <p:nvSpPr>
          <p:cNvPr id="83" name="Google Shape;83;p4"/>
          <p:cNvSpPr/>
          <p:nvPr/>
        </p:nvSpPr>
        <p:spPr>
          <a:xfrm>
            <a:off x="6400800" y="4046220"/>
            <a:ext cx="1051560" cy="228600"/>
          </a:xfrm>
          <a:prstGeom prst="roundRect">
            <a:avLst>
              <a:gd fmla="val 24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4"/>
          <p:cNvSpPr txBox="1"/>
          <p:nvPr/>
        </p:nvSpPr>
        <p:spPr>
          <a:xfrm>
            <a:off x="6400800" y="4046220"/>
            <a:ext cx="105156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7185"/>
              </a:buClr>
              <a:buSzPts val="850"/>
              <a:buFont typeface="Courier New"/>
              <a:buNone/>
            </a:pPr>
            <a:r>
              <a:rPr b="0" i="0" lang="en-US" sz="850" u="none" cap="none" strike="noStrike">
                <a:solidFill>
                  <a:srgbClr val="FB7185"/>
                </a:solidFill>
                <a:latin typeface="Courier New"/>
                <a:ea typeface="Courier New"/>
                <a:cs typeface="Courier New"/>
                <a:sym typeface="Courier New"/>
              </a:rPr>
              <a:t>2:30 – 2:55</a:t>
            </a:r>
            <a:endParaRPr b="0" i="0" sz="850" u="none" cap="none" strike="noStrike">
              <a:solidFill>
                <a:schemeClr val="dk1"/>
              </a:solidFill>
              <a:latin typeface="Calibri"/>
              <a:ea typeface="Calibri"/>
              <a:cs typeface="Calibri"/>
              <a:sym typeface="Calibri"/>
            </a:endParaRPr>
          </a:p>
        </p:txBody>
      </p:sp>
      <p:sp>
        <p:nvSpPr>
          <p:cNvPr id="85" name="Google Shape;85;p4">
            <a:hlinkClick action="ppaction://hlinksldjump" r:id="rId21"/>
          </p:cNvPr>
          <p:cNvSpPr txBox="1"/>
          <p:nvPr/>
        </p:nvSpPr>
        <p:spPr>
          <a:xfrm>
            <a:off x="7562088" y="4046220"/>
            <a:ext cx="82296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B7185"/>
              </a:buClr>
              <a:buSzPts val="850"/>
              <a:buFont typeface="Courier New"/>
              <a:buNone/>
            </a:pPr>
            <a:r>
              <a:rPr b="1" i="0" lang="en-US" sz="850" u="sng" cap="none" strike="noStrike">
                <a:solidFill>
                  <a:schemeClr val="hlink"/>
                </a:solidFill>
                <a:latin typeface="Courier New"/>
                <a:ea typeface="Courier New"/>
                <a:cs typeface="Courier New"/>
                <a:sym typeface="Courier New"/>
                <a:hlinkClick action="ppaction://hlinksldjump" r:id="rId22"/>
              </a:rPr>
              <a:t>JUMP →</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90" name="Shape 90"/>
        <p:cNvGrpSpPr/>
        <p:nvPr/>
      </p:nvGrpSpPr>
      <p:grpSpPr>
        <a:xfrm>
          <a:off x="0" y="0"/>
          <a:ext cx="0" cy="0"/>
          <a:chOff x="0" y="0"/>
          <a:chExt cx="0" cy="0"/>
        </a:xfrm>
      </p:grpSpPr>
      <p:sp>
        <p:nvSpPr>
          <p:cNvPr id="91" name="Google Shape;91;p5"/>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IF YOU REMEMBER ONE LINE</a:t>
            </a:r>
            <a:endParaRPr b="0" i="0" sz="1050" u="none" cap="none" strike="noStrike">
              <a:solidFill>
                <a:schemeClr val="dk1"/>
              </a:solidFill>
              <a:latin typeface="Calibri"/>
              <a:ea typeface="Calibri"/>
              <a:cs typeface="Calibri"/>
              <a:sym typeface="Calibri"/>
            </a:endParaRPr>
          </a:p>
        </p:txBody>
      </p:sp>
      <p:sp>
        <p:nvSpPr>
          <p:cNvPr id="92" name="Google Shape;92;p5"/>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Tools measure · the LLM interprets · a gate decides</a:t>
            </a:r>
            <a:endParaRPr b="0" i="0" sz="2700" u="none" cap="none" strike="noStrike">
              <a:solidFill>
                <a:schemeClr val="dk1"/>
              </a:solidFill>
              <a:latin typeface="Calibri"/>
              <a:ea typeface="Calibri"/>
              <a:cs typeface="Calibri"/>
              <a:sym typeface="Calibri"/>
            </a:endParaRPr>
          </a:p>
        </p:txBody>
      </p:sp>
      <p:sp>
        <p:nvSpPr>
          <p:cNvPr id="93" name="Google Shape;93;p5">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94" name="Google Shape;94;p5"/>
          <p:cNvSpPr/>
          <p:nvPr/>
        </p:nvSpPr>
        <p:spPr>
          <a:xfrm>
            <a:off x="502920" y="1152144"/>
            <a:ext cx="2602992" cy="2395728"/>
          </a:xfrm>
          <a:prstGeom prst="roundRect">
            <a:avLst>
              <a:gd fmla="val 343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5"/>
          <p:cNvSpPr/>
          <p:nvPr/>
        </p:nvSpPr>
        <p:spPr>
          <a:xfrm>
            <a:off x="667512" y="1298448"/>
            <a:ext cx="384048" cy="384048"/>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5"/>
          <p:cNvSpPr txBox="1"/>
          <p:nvPr/>
        </p:nvSpPr>
        <p:spPr>
          <a:xfrm>
            <a:off x="667512" y="129844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97" name="Google Shape;97;p5"/>
          <p:cNvSpPr txBox="1"/>
          <p:nvPr/>
        </p:nvSpPr>
        <p:spPr>
          <a:xfrm>
            <a:off x="1143000" y="1316736"/>
            <a:ext cx="1825752"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50"/>
              <a:buFont typeface="Courier New"/>
              <a:buNone/>
            </a:pPr>
            <a:r>
              <a:rPr b="0" i="0" lang="en-US" sz="850" u="none" cap="none" strike="noStrike">
                <a:solidFill>
                  <a:srgbClr val="5EE9B5"/>
                </a:solidFill>
                <a:latin typeface="Courier New"/>
                <a:ea typeface="Courier New"/>
                <a:cs typeface="Courier New"/>
                <a:sym typeface="Courier New"/>
              </a:rPr>
              <a:t>TOOLS MEASURE</a:t>
            </a:r>
            <a:endParaRPr b="0" i="0" sz="850" u="none" cap="none" strike="noStrike">
              <a:solidFill>
                <a:schemeClr val="dk1"/>
              </a:solidFill>
              <a:latin typeface="Calibri"/>
              <a:ea typeface="Calibri"/>
              <a:cs typeface="Calibri"/>
              <a:sym typeface="Calibri"/>
            </a:endParaRPr>
          </a:p>
        </p:txBody>
      </p:sp>
      <p:sp>
        <p:nvSpPr>
          <p:cNvPr id="98" name="Google Shape;98;p5"/>
          <p:cNvSpPr txBox="1"/>
          <p:nvPr/>
        </p:nvSpPr>
        <p:spPr>
          <a:xfrm>
            <a:off x="1143000" y="1499616"/>
            <a:ext cx="182575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Deterministic</a:t>
            </a:r>
            <a:endParaRPr b="0" i="0" sz="1400" u="none" cap="none" strike="noStrike">
              <a:solidFill>
                <a:schemeClr val="dk1"/>
              </a:solidFill>
              <a:latin typeface="Calibri"/>
              <a:ea typeface="Calibri"/>
              <a:cs typeface="Calibri"/>
              <a:sym typeface="Calibri"/>
            </a:endParaRPr>
          </a:p>
        </p:txBody>
      </p:sp>
      <p:sp>
        <p:nvSpPr>
          <p:cNvPr id="99" name="Google Shape;99;p5"/>
          <p:cNvSpPr txBox="1"/>
          <p:nvPr/>
        </p:nvSpPr>
        <p:spPr>
          <a:xfrm>
            <a:off x="685800" y="1847088"/>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E9B5"/>
              </a:buClr>
              <a:buSzPts val="1200"/>
              <a:buFont typeface="Calibri"/>
              <a:buNone/>
            </a:pPr>
            <a:r>
              <a:rPr b="0" i="0" lang="en-US" sz="1200" u="none" cap="none" strike="noStrike">
                <a:solidFill>
                  <a:srgbClr val="5EE9B5"/>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00" name="Google Shape;100;p5"/>
          <p:cNvSpPr txBox="1"/>
          <p:nvPr/>
        </p:nvSpPr>
        <p:spPr>
          <a:xfrm>
            <a:off x="832104" y="1847088"/>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radon, PyExamine, MLScent, pytest</a:t>
            </a:r>
            <a:endParaRPr b="0" i="0" sz="1050" u="none" cap="none" strike="noStrike">
              <a:solidFill>
                <a:schemeClr val="dk1"/>
              </a:solidFill>
              <a:latin typeface="Calibri"/>
              <a:ea typeface="Calibri"/>
              <a:cs typeface="Calibri"/>
              <a:sym typeface="Calibri"/>
            </a:endParaRPr>
          </a:p>
        </p:txBody>
      </p:sp>
      <p:sp>
        <p:nvSpPr>
          <p:cNvPr id="101" name="Google Shape;101;p5"/>
          <p:cNvSpPr txBox="1"/>
          <p:nvPr/>
        </p:nvSpPr>
        <p:spPr>
          <a:xfrm>
            <a:off x="685800" y="2231136"/>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E9B5"/>
              </a:buClr>
              <a:buSzPts val="1200"/>
              <a:buFont typeface="Calibri"/>
              <a:buNone/>
            </a:pPr>
            <a:r>
              <a:rPr b="0" i="0" lang="en-US" sz="1200" u="none" cap="none" strike="noStrike">
                <a:solidFill>
                  <a:srgbClr val="5EE9B5"/>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02" name="Google Shape;102;p5"/>
          <p:cNvSpPr txBox="1"/>
          <p:nvPr/>
        </p:nvSpPr>
        <p:spPr>
          <a:xfrm>
            <a:off x="832104" y="2231136"/>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parse the source, never run it</a:t>
            </a:r>
            <a:endParaRPr b="0" i="0" sz="1050" u="none" cap="none" strike="noStrike">
              <a:solidFill>
                <a:schemeClr val="dk1"/>
              </a:solidFill>
              <a:latin typeface="Calibri"/>
              <a:ea typeface="Calibri"/>
              <a:cs typeface="Calibri"/>
              <a:sym typeface="Calibri"/>
            </a:endParaRPr>
          </a:p>
        </p:txBody>
      </p:sp>
      <p:sp>
        <p:nvSpPr>
          <p:cNvPr id="103" name="Google Shape;103;p5"/>
          <p:cNvSpPr txBox="1"/>
          <p:nvPr/>
        </p:nvSpPr>
        <p:spPr>
          <a:xfrm>
            <a:off x="685800" y="2615184"/>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E9B5"/>
              </a:buClr>
              <a:buSzPts val="1200"/>
              <a:buFont typeface="Calibri"/>
              <a:buNone/>
            </a:pPr>
            <a:r>
              <a:rPr b="0" i="0" lang="en-US" sz="1200" u="none" cap="none" strike="noStrike">
                <a:solidFill>
                  <a:srgbClr val="5EE9B5"/>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04" name="Google Shape;104;p5"/>
          <p:cNvSpPr txBox="1"/>
          <p:nvPr/>
        </p:nvSpPr>
        <p:spPr>
          <a:xfrm>
            <a:off x="832104" y="2615184"/>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same input → same number, every time</a:t>
            </a:r>
            <a:endParaRPr b="0" i="0" sz="1050" u="none" cap="none" strike="noStrike">
              <a:solidFill>
                <a:schemeClr val="dk1"/>
              </a:solidFill>
              <a:latin typeface="Calibri"/>
              <a:ea typeface="Calibri"/>
              <a:cs typeface="Calibri"/>
              <a:sym typeface="Calibri"/>
            </a:endParaRPr>
          </a:p>
        </p:txBody>
      </p:sp>
      <p:sp>
        <p:nvSpPr>
          <p:cNvPr id="105" name="Google Shape;105;p5"/>
          <p:cNvSpPr txBox="1"/>
          <p:nvPr/>
        </p:nvSpPr>
        <p:spPr>
          <a:xfrm>
            <a:off x="685800" y="2999232"/>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E9B5"/>
              </a:buClr>
              <a:buSzPts val="1200"/>
              <a:buFont typeface="Calibri"/>
              <a:buNone/>
            </a:pPr>
            <a:r>
              <a:rPr b="0" i="0" lang="en-US" sz="1200" u="none" cap="none" strike="noStrike">
                <a:solidFill>
                  <a:srgbClr val="5EE9B5"/>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06" name="Google Shape;106;p5"/>
          <p:cNvSpPr txBox="1"/>
          <p:nvPr/>
        </p:nvSpPr>
        <p:spPr>
          <a:xfrm>
            <a:off x="832104" y="2999232"/>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cheap, fast, cannot hallucinate</a:t>
            </a:r>
            <a:endParaRPr b="0" i="0" sz="1050" u="none" cap="none" strike="noStrike">
              <a:solidFill>
                <a:schemeClr val="dk1"/>
              </a:solidFill>
              <a:latin typeface="Calibri"/>
              <a:ea typeface="Calibri"/>
              <a:cs typeface="Calibri"/>
              <a:sym typeface="Calibri"/>
            </a:endParaRPr>
          </a:p>
        </p:txBody>
      </p:sp>
      <p:sp>
        <p:nvSpPr>
          <p:cNvPr id="107" name="Google Shape;107;p5"/>
          <p:cNvSpPr/>
          <p:nvPr/>
        </p:nvSpPr>
        <p:spPr>
          <a:xfrm>
            <a:off x="3270504" y="1152144"/>
            <a:ext cx="2602992" cy="2395728"/>
          </a:xfrm>
          <a:prstGeom prst="roundRect">
            <a:avLst>
              <a:gd fmla="val 343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5"/>
          <p:cNvSpPr/>
          <p:nvPr/>
        </p:nvSpPr>
        <p:spPr>
          <a:xfrm>
            <a:off x="3435096" y="1298448"/>
            <a:ext cx="384048" cy="384048"/>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5"/>
          <p:cNvSpPr txBox="1"/>
          <p:nvPr/>
        </p:nvSpPr>
        <p:spPr>
          <a:xfrm>
            <a:off x="3435096" y="129844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10" name="Google Shape;110;p5"/>
          <p:cNvSpPr txBox="1"/>
          <p:nvPr/>
        </p:nvSpPr>
        <p:spPr>
          <a:xfrm>
            <a:off x="3910584" y="1316736"/>
            <a:ext cx="1825752"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50"/>
              <a:buFont typeface="Courier New"/>
              <a:buNone/>
            </a:pPr>
            <a:r>
              <a:rPr b="0" i="0" lang="en-US" sz="850" u="none" cap="none" strike="noStrike">
                <a:solidFill>
                  <a:srgbClr val="FBBF24"/>
                </a:solidFill>
                <a:latin typeface="Courier New"/>
                <a:ea typeface="Courier New"/>
                <a:cs typeface="Courier New"/>
                <a:sym typeface="Courier New"/>
              </a:rPr>
              <a:t>THE LLM INTERPRETS</a:t>
            </a:r>
            <a:endParaRPr b="0" i="0" sz="850" u="none" cap="none" strike="noStrike">
              <a:solidFill>
                <a:schemeClr val="dk1"/>
              </a:solidFill>
              <a:latin typeface="Calibri"/>
              <a:ea typeface="Calibri"/>
              <a:cs typeface="Calibri"/>
              <a:sym typeface="Calibri"/>
            </a:endParaRPr>
          </a:p>
        </p:txBody>
      </p:sp>
      <p:sp>
        <p:nvSpPr>
          <p:cNvPr id="111" name="Google Shape;111;p5"/>
          <p:cNvSpPr txBox="1"/>
          <p:nvPr/>
        </p:nvSpPr>
        <p:spPr>
          <a:xfrm>
            <a:off x="3910584" y="1499616"/>
            <a:ext cx="182575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Grounded</a:t>
            </a:r>
            <a:endParaRPr b="0" i="0" sz="1400" u="none" cap="none" strike="noStrike">
              <a:solidFill>
                <a:schemeClr val="dk1"/>
              </a:solidFill>
              <a:latin typeface="Calibri"/>
              <a:ea typeface="Calibri"/>
              <a:cs typeface="Calibri"/>
              <a:sym typeface="Calibri"/>
            </a:endParaRPr>
          </a:p>
        </p:txBody>
      </p:sp>
      <p:sp>
        <p:nvSpPr>
          <p:cNvPr id="112" name="Google Shape;112;p5"/>
          <p:cNvSpPr txBox="1"/>
          <p:nvPr/>
        </p:nvSpPr>
        <p:spPr>
          <a:xfrm>
            <a:off x="3453384" y="1847088"/>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BBF24"/>
              </a:buClr>
              <a:buSzPts val="1200"/>
              <a:buFont typeface="Calibri"/>
              <a:buNone/>
            </a:pPr>
            <a:r>
              <a:rPr b="0" i="0" lang="en-US" sz="1200" u="none" cap="none" strike="noStrike">
                <a:solidFill>
                  <a:srgbClr val="FBBF24"/>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13" name="Google Shape;113;p5"/>
          <p:cNvSpPr txBox="1"/>
          <p:nvPr/>
        </p:nvSpPr>
        <p:spPr>
          <a:xfrm>
            <a:off x="3599688" y="1847088"/>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names the smell in English</a:t>
            </a:r>
            <a:endParaRPr b="0" i="0" sz="1050" u="none" cap="none" strike="noStrike">
              <a:solidFill>
                <a:schemeClr val="dk1"/>
              </a:solidFill>
              <a:latin typeface="Calibri"/>
              <a:ea typeface="Calibri"/>
              <a:cs typeface="Calibri"/>
              <a:sym typeface="Calibri"/>
            </a:endParaRPr>
          </a:p>
        </p:txBody>
      </p:sp>
      <p:sp>
        <p:nvSpPr>
          <p:cNvPr id="114" name="Google Shape;114;p5"/>
          <p:cNvSpPr txBox="1"/>
          <p:nvPr/>
        </p:nvSpPr>
        <p:spPr>
          <a:xfrm>
            <a:off x="3453384" y="2231136"/>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BBF24"/>
              </a:buClr>
              <a:buSzPts val="1200"/>
              <a:buFont typeface="Calibri"/>
              <a:buNone/>
            </a:pPr>
            <a:r>
              <a:rPr b="0" i="0" lang="en-US" sz="1200" u="none" cap="none" strike="noStrike">
                <a:solidFill>
                  <a:srgbClr val="FBBF24"/>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15" name="Google Shape;115;p5"/>
          <p:cNvSpPr txBox="1"/>
          <p:nvPr/>
        </p:nvSpPr>
        <p:spPr>
          <a:xfrm>
            <a:off x="3599688" y="2231136"/>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ranks it against the other findings</a:t>
            </a:r>
            <a:endParaRPr b="0" i="0" sz="1050" u="none" cap="none" strike="noStrike">
              <a:solidFill>
                <a:schemeClr val="dk1"/>
              </a:solidFill>
              <a:latin typeface="Calibri"/>
              <a:ea typeface="Calibri"/>
              <a:cs typeface="Calibri"/>
              <a:sym typeface="Calibri"/>
            </a:endParaRPr>
          </a:p>
        </p:txBody>
      </p:sp>
      <p:sp>
        <p:nvSpPr>
          <p:cNvPr id="116" name="Google Shape;116;p5"/>
          <p:cNvSpPr txBox="1"/>
          <p:nvPr/>
        </p:nvSpPr>
        <p:spPr>
          <a:xfrm>
            <a:off x="3453384" y="2615184"/>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BBF24"/>
              </a:buClr>
              <a:buSzPts val="1200"/>
              <a:buFont typeface="Calibri"/>
              <a:buNone/>
            </a:pPr>
            <a:r>
              <a:rPr b="0" i="0" lang="en-US" sz="1200" u="none" cap="none" strike="noStrike">
                <a:solidFill>
                  <a:srgbClr val="FBBF24"/>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17" name="Google Shape;117;p5"/>
          <p:cNvSpPr txBox="1"/>
          <p:nvPr/>
        </p:nvSpPr>
        <p:spPr>
          <a:xfrm>
            <a:off x="3599688" y="2615184"/>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writes the candidate patch</a:t>
            </a:r>
            <a:endParaRPr b="0" i="0" sz="1050" u="none" cap="none" strike="noStrike">
              <a:solidFill>
                <a:schemeClr val="dk1"/>
              </a:solidFill>
              <a:latin typeface="Calibri"/>
              <a:ea typeface="Calibri"/>
              <a:cs typeface="Calibri"/>
              <a:sym typeface="Calibri"/>
            </a:endParaRPr>
          </a:p>
        </p:txBody>
      </p:sp>
      <p:sp>
        <p:nvSpPr>
          <p:cNvPr id="118" name="Google Shape;118;p5"/>
          <p:cNvSpPr txBox="1"/>
          <p:nvPr/>
        </p:nvSpPr>
        <p:spPr>
          <a:xfrm>
            <a:off x="3453384" y="2999232"/>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BBF24"/>
              </a:buClr>
              <a:buSzPts val="1200"/>
              <a:buFont typeface="Calibri"/>
              <a:buNone/>
            </a:pPr>
            <a:r>
              <a:rPr b="0" i="0" lang="en-US" sz="1200" u="none" cap="none" strike="noStrike">
                <a:solidFill>
                  <a:srgbClr val="FBBF24"/>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19" name="Google Shape;119;p5"/>
          <p:cNvSpPr txBox="1"/>
          <p:nvPr/>
        </p:nvSpPr>
        <p:spPr>
          <a:xfrm>
            <a:off x="3599688" y="2999232"/>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sees the tool dump BEFORE it answers</a:t>
            </a:r>
            <a:endParaRPr b="0" i="0" sz="1050" u="none" cap="none" strike="noStrike">
              <a:solidFill>
                <a:schemeClr val="dk1"/>
              </a:solidFill>
              <a:latin typeface="Calibri"/>
              <a:ea typeface="Calibri"/>
              <a:cs typeface="Calibri"/>
              <a:sym typeface="Calibri"/>
            </a:endParaRPr>
          </a:p>
        </p:txBody>
      </p:sp>
      <p:sp>
        <p:nvSpPr>
          <p:cNvPr id="120" name="Google Shape;120;p5"/>
          <p:cNvSpPr/>
          <p:nvPr/>
        </p:nvSpPr>
        <p:spPr>
          <a:xfrm>
            <a:off x="6038088" y="1152144"/>
            <a:ext cx="2602992" cy="2395728"/>
          </a:xfrm>
          <a:prstGeom prst="roundRect">
            <a:avLst>
              <a:gd fmla="val 343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5"/>
          <p:cNvSpPr/>
          <p:nvPr/>
        </p:nvSpPr>
        <p:spPr>
          <a:xfrm>
            <a:off x="6202680" y="1298448"/>
            <a:ext cx="384048" cy="384048"/>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5"/>
          <p:cNvSpPr txBox="1"/>
          <p:nvPr/>
        </p:nvSpPr>
        <p:spPr>
          <a:xfrm>
            <a:off x="6202680" y="129844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23" name="Google Shape;123;p5"/>
          <p:cNvSpPr txBox="1"/>
          <p:nvPr/>
        </p:nvSpPr>
        <p:spPr>
          <a:xfrm>
            <a:off x="6678168" y="1316736"/>
            <a:ext cx="1825752"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50"/>
              <a:buFont typeface="Courier New"/>
              <a:buNone/>
            </a:pPr>
            <a:r>
              <a:rPr b="0" i="0" lang="en-US" sz="850" u="none" cap="none" strike="noStrike">
                <a:solidFill>
                  <a:srgbClr val="A78BFA"/>
                </a:solidFill>
                <a:latin typeface="Courier New"/>
                <a:ea typeface="Courier New"/>
                <a:cs typeface="Courier New"/>
                <a:sym typeface="Courier New"/>
              </a:rPr>
              <a:t>A GATE DECIDES</a:t>
            </a:r>
            <a:endParaRPr b="0" i="0" sz="850" u="none" cap="none" strike="noStrike">
              <a:solidFill>
                <a:schemeClr val="dk1"/>
              </a:solidFill>
              <a:latin typeface="Calibri"/>
              <a:ea typeface="Calibri"/>
              <a:cs typeface="Calibri"/>
              <a:sym typeface="Calibri"/>
            </a:endParaRPr>
          </a:p>
        </p:txBody>
      </p:sp>
      <p:sp>
        <p:nvSpPr>
          <p:cNvPr id="124" name="Google Shape;124;p5"/>
          <p:cNvSpPr txBox="1"/>
          <p:nvPr/>
        </p:nvSpPr>
        <p:spPr>
          <a:xfrm>
            <a:off x="6678168" y="1499616"/>
            <a:ext cx="182575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No LLM inside</a:t>
            </a:r>
            <a:endParaRPr b="0" i="0" sz="1400" u="none" cap="none" strike="noStrike">
              <a:solidFill>
                <a:schemeClr val="dk1"/>
              </a:solidFill>
              <a:latin typeface="Calibri"/>
              <a:ea typeface="Calibri"/>
              <a:cs typeface="Calibri"/>
              <a:sym typeface="Calibri"/>
            </a:endParaRPr>
          </a:p>
        </p:txBody>
      </p:sp>
      <p:sp>
        <p:nvSpPr>
          <p:cNvPr id="125" name="Google Shape;125;p5"/>
          <p:cNvSpPr txBox="1"/>
          <p:nvPr/>
        </p:nvSpPr>
        <p:spPr>
          <a:xfrm>
            <a:off x="6220968" y="1847088"/>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78BFA"/>
              </a:buClr>
              <a:buSzPts val="1200"/>
              <a:buFont typeface="Calibri"/>
              <a:buNone/>
            </a:pPr>
            <a:r>
              <a:rPr b="0" i="0" lang="en-US" sz="1200" u="none" cap="none" strike="noStrike">
                <a:solidFill>
                  <a:srgbClr val="A78BFA"/>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26" name="Google Shape;126;p5"/>
          <p:cNvSpPr txBox="1"/>
          <p:nvPr/>
        </p:nvSpPr>
        <p:spPr>
          <a:xfrm>
            <a:off x="6367272" y="1847088"/>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ast.parse → pytest → Δ complexity</a:t>
            </a:r>
            <a:endParaRPr b="0" i="0" sz="1050" u="none" cap="none" strike="noStrike">
              <a:solidFill>
                <a:schemeClr val="dk1"/>
              </a:solidFill>
              <a:latin typeface="Calibri"/>
              <a:ea typeface="Calibri"/>
              <a:cs typeface="Calibri"/>
              <a:sym typeface="Calibri"/>
            </a:endParaRPr>
          </a:p>
        </p:txBody>
      </p:sp>
      <p:sp>
        <p:nvSpPr>
          <p:cNvPr id="127" name="Google Shape;127;p5"/>
          <p:cNvSpPr txBox="1"/>
          <p:nvPr/>
        </p:nvSpPr>
        <p:spPr>
          <a:xfrm>
            <a:off x="6220968" y="2231136"/>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78BFA"/>
              </a:buClr>
              <a:buSzPts val="1200"/>
              <a:buFont typeface="Calibri"/>
              <a:buNone/>
            </a:pPr>
            <a:r>
              <a:rPr b="0" i="0" lang="en-US" sz="1200" u="none" cap="none" strike="noStrike">
                <a:solidFill>
                  <a:srgbClr val="A78BFA"/>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28" name="Google Shape;128;p5"/>
          <p:cNvSpPr txBox="1"/>
          <p:nvPr/>
        </p:nvSpPr>
        <p:spPr>
          <a:xfrm>
            <a:off x="6367272" y="2231136"/>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exit code, not an opinion</a:t>
            </a:r>
            <a:endParaRPr b="0" i="0" sz="1050" u="none" cap="none" strike="noStrike">
              <a:solidFill>
                <a:schemeClr val="dk1"/>
              </a:solidFill>
              <a:latin typeface="Calibri"/>
              <a:ea typeface="Calibri"/>
              <a:cs typeface="Calibri"/>
              <a:sym typeface="Calibri"/>
            </a:endParaRPr>
          </a:p>
        </p:txBody>
      </p:sp>
      <p:sp>
        <p:nvSpPr>
          <p:cNvPr id="129" name="Google Shape;129;p5"/>
          <p:cNvSpPr txBox="1"/>
          <p:nvPr/>
        </p:nvSpPr>
        <p:spPr>
          <a:xfrm>
            <a:off x="6220968" y="2615184"/>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78BFA"/>
              </a:buClr>
              <a:buSzPts val="1200"/>
              <a:buFont typeface="Calibri"/>
              <a:buNone/>
            </a:pPr>
            <a:r>
              <a:rPr b="0" i="0" lang="en-US" sz="1200" u="none" cap="none" strike="noStrike">
                <a:solidFill>
                  <a:srgbClr val="A78BFA"/>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30" name="Google Shape;130;p5"/>
          <p:cNvSpPr txBox="1"/>
          <p:nvPr/>
        </p:nvSpPr>
        <p:spPr>
          <a:xfrm>
            <a:off x="6367272" y="2615184"/>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fails → the patch did not happen</a:t>
            </a:r>
            <a:endParaRPr b="0" i="0" sz="1050" u="none" cap="none" strike="noStrike">
              <a:solidFill>
                <a:schemeClr val="dk1"/>
              </a:solidFill>
              <a:latin typeface="Calibri"/>
              <a:ea typeface="Calibri"/>
              <a:cs typeface="Calibri"/>
              <a:sym typeface="Calibri"/>
            </a:endParaRPr>
          </a:p>
        </p:txBody>
      </p:sp>
      <p:sp>
        <p:nvSpPr>
          <p:cNvPr id="131" name="Google Shape;131;p5"/>
          <p:cNvSpPr txBox="1"/>
          <p:nvPr/>
        </p:nvSpPr>
        <p:spPr>
          <a:xfrm>
            <a:off x="6220968" y="2999232"/>
            <a:ext cx="128016"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78BFA"/>
              </a:buClr>
              <a:buSzPts val="1200"/>
              <a:buFont typeface="Calibri"/>
              <a:buNone/>
            </a:pPr>
            <a:r>
              <a:rPr b="0" i="0" lang="en-US" sz="1200" u="none" cap="none" strike="noStrike">
                <a:solidFill>
                  <a:srgbClr val="A78BFA"/>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32" name="Google Shape;132;p5"/>
          <p:cNvSpPr txBox="1"/>
          <p:nvPr/>
        </p:nvSpPr>
        <p:spPr>
          <a:xfrm>
            <a:off x="6367272" y="2999232"/>
            <a:ext cx="2100072"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the model does not get a vote</a:t>
            </a:r>
            <a:endParaRPr b="0" i="0" sz="1050" u="none" cap="none" strike="noStrike">
              <a:solidFill>
                <a:schemeClr val="dk1"/>
              </a:solidFill>
              <a:latin typeface="Calibri"/>
              <a:ea typeface="Calibri"/>
              <a:cs typeface="Calibri"/>
              <a:sym typeface="Calibri"/>
            </a:endParaRPr>
          </a:p>
        </p:txBody>
      </p:sp>
      <p:sp>
        <p:nvSpPr>
          <p:cNvPr id="133" name="Google Shape;133;p5"/>
          <p:cNvSpPr/>
          <p:nvPr/>
        </p:nvSpPr>
        <p:spPr>
          <a:xfrm>
            <a:off x="502920" y="3621024"/>
            <a:ext cx="8138160" cy="713232"/>
          </a:xfrm>
          <a:prstGeom prst="roundRect">
            <a:avLst>
              <a:gd fmla="val 11538" name="adj"/>
            </a:avLst>
          </a:prstGeom>
          <a:solidFill>
            <a:srgbClr val="1E1230"/>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5"/>
          <p:cNvSpPr txBox="1"/>
          <p:nvPr/>
        </p:nvSpPr>
        <p:spPr>
          <a:xfrm>
            <a:off x="667512" y="3694176"/>
            <a:ext cx="2011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50"/>
              <a:buFont typeface="Courier New"/>
              <a:buNone/>
            </a:pPr>
            <a:r>
              <a:rPr b="0" i="0" lang="en-US" sz="850" u="none" cap="none" strike="noStrike">
                <a:solidFill>
                  <a:srgbClr val="FB7185"/>
                </a:solidFill>
                <a:latin typeface="Courier New"/>
                <a:ea typeface="Courier New"/>
                <a:cs typeface="Courier New"/>
                <a:sym typeface="Courier New"/>
              </a:rPr>
              <a:t>THE CAUTIONARY TALE</a:t>
            </a:r>
            <a:endParaRPr b="0" i="0" sz="850" u="none" cap="none" strike="noStrike">
              <a:solidFill>
                <a:schemeClr val="dk1"/>
              </a:solidFill>
              <a:latin typeface="Calibri"/>
              <a:ea typeface="Calibri"/>
              <a:cs typeface="Calibri"/>
              <a:sym typeface="Calibri"/>
            </a:endParaRPr>
          </a:p>
        </p:txBody>
      </p:sp>
      <p:sp>
        <p:nvSpPr>
          <p:cNvPr id="135" name="Google Shape;135;p5"/>
          <p:cNvSpPr txBox="1"/>
          <p:nvPr/>
        </p:nvSpPr>
        <p:spPr>
          <a:xfrm>
            <a:off x="667512" y="3895344"/>
            <a:ext cx="7808976"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200"/>
              <a:buFont typeface="Calibri"/>
              <a:buNone/>
            </a:pPr>
            <a:r>
              <a:rPr b="0" i="0" lang="en-US" sz="1200" u="none" cap="none" strike="noStrike">
                <a:solidFill>
                  <a:srgbClr val="D8CDEE"/>
                </a:solidFill>
                <a:latin typeface="Calibri"/>
                <a:ea typeface="Calibri"/>
                <a:cs typeface="Calibri"/>
                <a:sym typeface="Calibri"/>
              </a:rPr>
              <a:t>A reviewer pastes a billing function into a chat window and asks “is this complex?” The model says </a:t>
            </a:r>
            <a:r>
              <a:rPr b="1" i="0" lang="en-US" sz="1200" u="none" cap="none" strike="noStrike">
                <a:solidFill>
                  <a:srgbClr val="FBBF24"/>
                </a:solidFill>
                <a:latin typeface="Calibri"/>
                <a:ea typeface="Calibri"/>
                <a:cs typeface="Calibri"/>
                <a:sym typeface="Calibri"/>
              </a:rPr>
              <a:t>cyclomatic complexity 4</a:t>
            </a:r>
            <a:r>
              <a:rPr b="0" i="0" lang="en-US" sz="1200" u="none" cap="none" strike="noStrike">
                <a:solidFill>
                  <a:srgbClr val="D8CDEE"/>
                </a:solidFill>
                <a:latin typeface="Calibri"/>
                <a:ea typeface="Calibri"/>
                <a:cs typeface="Calibri"/>
                <a:sym typeface="Calibri"/>
              </a:rPr>
              <a:t>.  radon says </a:t>
            </a:r>
            <a:r>
              <a:rPr b="1" i="0" lang="en-US" sz="1200" u="none" cap="none" strike="noStrike">
                <a:solidFill>
                  <a:srgbClr val="5EE9B5"/>
                </a:solidFill>
                <a:latin typeface="Calibri"/>
                <a:ea typeface="Calibri"/>
                <a:cs typeface="Calibri"/>
                <a:sym typeface="Calibri"/>
              </a:rPr>
              <a:t>7</a:t>
            </a:r>
            <a:r>
              <a:rPr b="0" i="0" lang="en-US" sz="1200" u="none" cap="none" strike="noStrike">
                <a:solidFill>
                  <a:srgbClr val="D8CDEE"/>
                </a:solidFill>
                <a:latin typeface="Calibri"/>
                <a:ea typeface="Calibri"/>
                <a:cs typeface="Calibri"/>
                <a:sym typeface="Calibri"/>
              </a:rPr>
              <a:t>.  Gate a merge on the chat reply and you shipped a lie.</a:t>
            </a:r>
            <a:endParaRPr b="0" i="0" sz="1200" u="none" cap="none" strike="noStrike">
              <a:solidFill>
                <a:schemeClr val="dk1"/>
              </a:solidFill>
              <a:latin typeface="Calibri"/>
              <a:ea typeface="Calibri"/>
              <a:cs typeface="Calibri"/>
              <a:sym typeface="Calibri"/>
            </a:endParaRPr>
          </a:p>
        </p:txBody>
      </p:sp>
      <p:sp>
        <p:nvSpPr>
          <p:cNvPr id="136" name="Google Shape;136;p5"/>
          <p:cNvSpPr/>
          <p:nvPr/>
        </p:nvSpPr>
        <p:spPr>
          <a:xfrm>
            <a:off x="502920" y="4443984"/>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5"/>
          <p:cNvSpPr txBox="1"/>
          <p:nvPr/>
        </p:nvSpPr>
        <p:spPr>
          <a:xfrm>
            <a:off x="649224" y="4443984"/>
            <a:ext cx="7845552"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100"/>
              <a:buFont typeface="Calibri"/>
              <a:buNone/>
            </a:pPr>
            <a:r>
              <a:rPr b="0" i="1" lang="en-US" sz="1100" u="none" cap="none" strike="noStrike">
                <a:solidFill>
                  <a:srgbClr val="E9DFFF"/>
                </a:solidFill>
                <a:latin typeface="Calibri"/>
                <a:ea typeface="Calibri"/>
                <a:cs typeface="Calibri"/>
                <a:sym typeface="Calibri"/>
              </a:rPr>
              <a:t>Today we build a team that cannot certify itself. That single constraint is what separates a demo from something you would let near a merge button.</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42" name="Shape 142"/>
        <p:cNvGrpSpPr/>
        <p:nvPr/>
      </p:nvGrpSpPr>
      <p:grpSpPr>
        <a:xfrm>
          <a:off x="0" y="0"/>
          <a:ext cx="0" cy="0"/>
          <a:chOff x="0" y="0"/>
          <a:chExt cx="0" cy="0"/>
        </a:xfrm>
      </p:grpSpPr>
      <p:sp>
        <p:nvSpPr>
          <p:cNvPr id="143" name="Google Shape;143;p6"/>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VOCABULARY CHECK · NOTEBOOK §0 INTRO</a:t>
            </a:r>
            <a:endParaRPr b="0" i="0" sz="1050" u="none" cap="none" strike="noStrike">
              <a:solidFill>
                <a:schemeClr val="dk1"/>
              </a:solidFill>
              <a:latin typeface="Calibri"/>
              <a:ea typeface="Calibri"/>
              <a:cs typeface="Calibri"/>
              <a:sym typeface="Calibri"/>
            </a:endParaRPr>
          </a:p>
        </p:txBody>
      </p:sp>
      <p:sp>
        <p:nvSpPr>
          <p:cNvPr id="144" name="Google Shape;144;p6"/>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Working code ≠ healthy code</a:t>
            </a:r>
            <a:endParaRPr b="0" i="0" sz="2700" u="none" cap="none" strike="noStrike">
              <a:solidFill>
                <a:schemeClr val="dk1"/>
              </a:solidFill>
              <a:latin typeface="Calibri"/>
              <a:ea typeface="Calibri"/>
              <a:cs typeface="Calibri"/>
              <a:sym typeface="Calibri"/>
            </a:endParaRPr>
          </a:p>
        </p:txBody>
      </p:sp>
      <p:sp>
        <p:nvSpPr>
          <p:cNvPr id="145" name="Google Shape;145;p6">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46" name="Google Shape;146;p6"/>
          <p:cNvSpPr/>
          <p:nvPr/>
        </p:nvSpPr>
        <p:spPr>
          <a:xfrm>
            <a:off x="502920" y="1170432"/>
            <a:ext cx="8138160" cy="1005840"/>
          </a:xfrm>
          <a:prstGeom prst="roundRect">
            <a:avLst>
              <a:gd fmla="val 818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6"/>
          <p:cNvSpPr/>
          <p:nvPr/>
        </p:nvSpPr>
        <p:spPr>
          <a:xfrm>
            <a:off x="704088" y="1444752"/>
            <a:ext cx="457200" cy="457200"/>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6"/>
          <p:cNvSpPr txBox="1"/>
          <p:nvPr/>
        </p:nvSpPr>
        <p:spPr>
          <a:xfrm>
            <a:off x="704088" y="144475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alibri"/>
              <a:buNone/>
            </a:pPr>
            <a:r>
              <a:rPr b="1" i="0" lang="en-US" sz="1700" u="none" cap="none" strike="noStrike">
                <a:solidFill>
                  <a:srgbClr val="2A1B3D"/>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49" name="Google Shape;149;p6"/>
          <p:cNvSpPr txBox="1"/>
          <p:nvPr/>
        </p:nvSpPr>
        <p:spPr>
          <a:xfrm>
            <a:off x="1289304" y="1325880"/>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i="0" lang="en-US" sz="1700" u="none" cap="none" strike="noStrike">
                <a:solidFill>
                  <a:srgbClr val="FFFFFF"/>
                </a:solidFill>
                <a:latin typeface="Cambria"/>
                <a:ea typeface="Cambria"/>
                <a:cs typeface="Cambria"/>
                <a:sym typeface="Cambria"/>
              </a:rPr>
              <a:t>Smell</a:t>
            </a:r>
            <a:endParaRPr b="0" i="0" sz="1700" u="none" cap="none" strike="noStrike">
              <a:solidFill>
                <a:schemeClr val="dk1"/>
              </a:solidFill>
              <a:latin typeface="Calibri"/>
              <a:ea typeface="Calibri"/>
              <a:cs typeface="Calibri"/>
              <a:sym typeface="Calibri"/>
            </a:endParaRPr>
          </a:p>
        </p:txBody>
      </p:sp>
      <p:sp>
        <p:nvSpPr>
          <p:cNvPr id="150" name="Google Shape;150;p6"/>
          <p:cNvSpPr txBox="1"/>
          <p:nvPr/>
        </p:nvSpPr>
        <p:spPr>
          <a:xfrm>
            <a:off x="1289304" y="1627632"/>
            <a:ext cx="18288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THE SYMPTOM</a:t>
            </a:r>
            <a:endParaRPr b="0" i="0" sz="800" u="none" cap="none" strike="noStrike">
              <a:solidFill>
                <a:schemeClr val="dk1"/>
              </a:solidFill>
              <a:latin typeface="Calibri"/>
              <a:ea typeface="Calibri"/>
              <a:cs typeface="Calibri"/>
              <a:sym typeface="Calibri"/>
            </a:endParaRPr>
          </a:p>
        </p:txBody>
      </p:sp>
      <p:sp>
        <p:nvSpPr>
          <p:cNvPr id="151" name="Google Shape;151;p6"/>
          <p:cNvSpPr txBox="1"/>
          <p:nvPr/>
        </p:nvSpPr>
        <p:spPr>
          <a:xfrm>
            <a:off x="1289304" y="1847088"/>
            <a:ext cx="19659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Valid, executable code signalling friction ahead.</a:t>
            </a:r>
            <a:endParaRPr b="0" i="0" sz="950" u="none" cap="none" strike="noStrike">
              <a:solidFill>
                <a:schemeClr val="dk1"/>
              </a:solidFill>
              <a:latin typeface="Calibri"/>
              <a:ea typeface="Calibri"/>
              <a:cs typeface="Calibri"/>
              <a:sym typeface="Calibri"/>
            </a:endParaRPr>
          </a:p>
        </p:txBody>
      </p:sp>
      <p:sp>
        <p:nvSpPr>
          <p:cNvPr id="152" name="Google Shape;152;p6"/>
          <p:cNvSpPr txBox="1"/>
          <p:nvPr/>
        </p:nvSpPr>
        <p:spPr>
          <a:xfrm>
            <a:off x="3337560" y="1325880"/>
            <a:ext cx="128016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Intuition</a:t>
            </a:r>
            <a:endParaRPr b="0" i="0" sz="800" u="none" cap="none" strike="noStrike">
              <a:solidFill>
                <a:schemeClr val="dk1"/>
              </a:solidFill>
              <a:latin typeface="Calibri"/>
              <a:ea typeface="Calibri"/>
              <a:cs typeface="Calibri"/>
              <a:sym typeface="Calibri"/>
            </a:endParaRPr>
          </a:p>
        </p:txBody>
      </p:sp>
      <p:sp>
        <p:nvSpPr>
          <p:cNvPr id="153" name="Google Shape;153;p6"/>
          <p:cNvSpPr txBox="1"/>
          <p:nvPr/>
        </p:nvSpPr>
        <p:spPr>
          <a:xfrm>
            <a:off x="3337560" y="1536192"/>
            <a:ext cx="278892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50"/>
              <a:buFont typeface="Calibri"/>
              <a:buNone/>
            </a:pPr>
            <a:r>
              <a:rPr b="0" i="1" lang="en-US" sz="1150" u="none" cap="none" strike="noStrike">
                <a:solidFill>
                  <a:srgbClr val="D8CDEE"/>
                </a:solidFill>
                <a:latin typeface="Calibri"/>
                <a:ea typeface="Calibri"/>
                <a:cs typeface="Calibri"/>
                <a:sym typeface="Calibri"/>
              </a:rPr>
              <a:t>A squeaky brake pad — the car stops, but wear is compounding.</a:t>
            </a:r>
            <a:endParaRPr b="0" i="0" sz="1150" u="none" cap="none" strike="noStrike">
              <a:solidFill>
                <a:schemeClr val="dk1"/>
              </a:solidFill>
              <a:latin typeface="Calibri"/>
              <a:ea typeface="Calibri"/>
              <a:cs typeface="Calibri"/>
              <a:sym typeface="Calibri"/>
            </a:endParaRPr>
          </a:p>
        </p:txBody>
      </p:sp>
      <p:sp>
        <p:nvSpPr>
          <p:cNvPr id="154" name="Google Shape;154;p6"/>
          <p:cNvSpPr/>
          <p:nvPr/>
        </p:nvSpPr>
        <p:spPr>
          <a:xfrm>
            <a:off x="6309360" y="1316736"/>
            <a:ext cx="2139696" cy="713232"/>
          </a:xfrm>
          <a:prstGeom prst="roundRect">
            <a:avLst>
              <a:gd fmla="val 8974"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6437376" y="1371600"/>
            <a:ext cx="1883664"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000"/>
              <a:buFont typeface="Courier New"/>
              <a:buNone/>
            </a:pPr>
            <a:r>
              <a:rPr b="1" i="0" lang="en-US" sz="1000" u="none" cap="none" strike="noStrike">
                <a:solidFill>
                  <a:srgbClr val="5EE9B5"/>
                </a:solidFill>
                <a:latin typeface="Courier New"/>
                <a:ea typeface="Courier New"/>
                <a:cs typeface="Courier New"/>
                <a:sym typeface="Courier New"/>
              </a:rPr>
              <a:t>FRICTION</a:t>
            </a:r>
            <a:endParaRPr b="0" i="0" sz="1000" u="none" cap="none" strike="noStrike">
              <a:solidFill>
                <a:schemeClr val="dk1"/>
              </a:solidFill>
              <a:latin typeface="Calibri"/>
              <a:ea typeface="Calibri"/>
              <a:cs typeface="Calibri"/>
              <a:sym typeface="Calibri"/>
            </a:endParaRPr>
          </a:p>
        </p:txBody>
      </p:sp>
      <p:sp>
        <p:nvSpPr>
          <p:cNvPr id="156" name="Google Shape;156;p6"/>
          <p:cNvSpPr txBox="1"/>
          <p:nvPr/>
        </p:nvSpPr>
        <p:spPr>
          <a:xfrm>
            <a:off x="6437376" y="1591056"/>
            <a:ext cx="188366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Cognitive overhead on every read and every touch.</a:t>
            </a:r>
            <a:endParaRPr b="0" i="0" sz="900" u="none" cap="none" strike="noStrike">
              <a:solidFill>
                <a:schemeClr val="dk1"/>
              </a:solidFill>
              <a:latin typeface="Calibri"/>
              <a:ea typeface="Calibri"/>
              <a:cs typeface="Calibri"/>
              <a:sym typeface="Calibri"/>
            </a:endParaRPr>
          </a:p>
        </p:txBody>
      </p:sp>
      <p:sp>
        <p:nvSpPr>
          <p:cNvPr id="157" name="Google Shape;157;p6"/>
          <p:cNvSpPr/>
          <p:nvPr/>
        </p:nvSpPr>
        <p:spPr>
          <a:xfrm>
            <a:off x="502920" y="2304288"/>
            <a:ext cx="8138160" cy="1005840"/>
          </a:xfrm>
          <a:prstGeom prst="roundRect">
            <a:avLst>
              <a:gd fmla="val 818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p:nvPr/>
        </p:nvSpPr>
        <p:spPr>
          <a:xfrm>
            <a:off x="704088" y="2578608"/>
            <a:ext cx="457200" cy="457200"/>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6"/>
          <p:cNvSpPr txBox="1"/>
          <p:nvPr/>
        </p:nvSpPr>
        <p:spPr>
          <a:xfrm>
            <a:off x="704088" y="257860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alibri"/>
              <a:buNone/>
            </a:pPr>
            <a:r>
              <a:rPr b="1" i="0" lang="en-US" sz="1700" u="none" cap="none" strike="noStrike">
                <a:solidFill>
                  <a:srgbClr val="2A1B3D"/>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60" name="Google Shape;160;p6"/>
          <p:cNvSpPr txBox="1"/>
          <p:nvPr/>
        </p:nvSpPr>
        <p:spPr>
          <a:xfrm>
            <a:off x="1289304" y="2459736"/>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i="0" lang="en-US" sz="1700" u="none" cap="none" strike="noStrike">
                <a:solidFill>
                  <a:srgbClr val="FFFFFF"/>
                </a:solidFill>
                <a:latin typeface="Cambria"/>
                <a:ea typeface="Cambria"/>
                <a:cs typeface="Cambria"/>
                <a:sym typeface="Cambria"/>
              </a:rPr>
              <a:t>Anti-pattern</a:t>
            </a:r>
            <a:endParaRPr b="0" i="0" sz="1700" u="none" cap="none" strike="noStrike">
              <a:solidFill>
                <a:schemeClr val="dk1"/>
              </a:solidFill>
              <a:latin typeface="Calibri"/>
              <a:ea typeface="Calibri"/>
              <a:cs typeface="Calibri"/>
              <a:sym typeface="Calibri"/>
            </a:endParaRPr>
          </a:p>
        </p:txBody>
      </p:sp>
      <p:sp>
        <p:nvSpPr>
          <p:cNvPr id="161" name="Google Shape;161;p6"/>
          <p:cNvSpPr txBox="1"/>
          <p:nvPr/>
        </p:nvSpPr>
        <p:spPr>
          <a:xfrm>
            <a:off x="1289304" y="2761488"/>
            <a:ext cx="18288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00"/>
              <a:buFont typeface="Courier New"/>
              <a:buNone/>
            </a:pPr>
            <a:r>
              <a:rPr b="0" i="0" lang="en-US" sz="800" u="none" cap="none" strike="noStrike">
                <a:solidFill>
                  <a:srgbClr val="FBBF24"/>
                </a:solidFill>
                <a:latin typeface="Courier New"/>
                <a:ea typeface="Courier New"/>
                <a:cs typeface="Courier New"/>
                <a:sym typeface="Courier New"/>
              </a:rPr>
              <a:t>THE FLAWED STRATEGY</a:t>
            </a:r>
            <a:endParaRPr b="0" i="0" sz="800" u="none" cap="none" strike="noStrike">
              <a:solidFill>
                <a:schemeClr val="dk1"/>
              </a:solidFill>
              <a:latin typeface="Calibri"/>
              <a:ea typeface="Calibri"/>
              <a:cs typeface="Calibri"/>
              <a:sym typeface="Calibri"/>
            </a:endParaRPr>
          </a:p>
        </p:txBody>
      </p:sp>
      <p:sp>
        <p:nvSpPr>
          <p:cNvPr id="162" name="Google Shape;162;p6"/>
          <p:cNvSpPr txBox="1"/>
          <p:nvPr/>
        </p:nvSpPr>
        <p:spPr>
          <a:xfrm>
            <a:off x="1289304" y="2980944"/>
            <a:ext cx="19659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A recurring, broken blueprint disguised as a fix.</a:t>
            </a:r>
            <a:endParaRPr b="0" i="0" sz="950" u="none" cap="none" strike="noStrike">
              <a:solidFill>
                <a:schemeClr val="dk1"/>
              </a:solidFill>
              <a:latin typeface="Calibri"/>
              <a:ea typeface="Calibri"/>
              <a:cs typeface="Calibri"/>
              <a:sym typeface="Calibri"/>
            </a:endParaRPr>
          </a:p>
        </p:txBody>
      </p:sp>
      <p:sp>
        <p:nvSpPr>
          <p:cNvPr id="163" name="Google Shape;163;p6"/>
          <p:cNvSpPr txBox="1"/>
          <p:nvPr/>
        </p:nvSpPr>
        <p:spPr>
          <a:xfrm>
            <a:off x="3337560" y="2459736"/>
            <a:ext cx="128016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Intuition</a:t>
            </a:r>
            <a:endParaRPr b="0" i="0" sz="800" u="none" cap="none" strike="noStrike">
              <a:solidFill>
                <a:schemeClr val="dk1"/>
              </a:solidFill>
              <a:latin typeface="Calibri"/>
              <a:ea typeface="Calibri"/>
              <a:cs typeface="Calibri"/>
              <a:sym typeface="Calibri"/>
            </a:endParaRPr>
          </a:p>
        </p:txBody>
      </p:sp>
      <p:sp>
        <p:nvSpPr>
          <p:cNvPr id="164" name="Google Shape;164;p6"/>
          <p:cNvSpPr txBox="1"/>
          <p:nvPr/>
        </p:nvSpPr>
        <p:spPr>
          <a:xfrm>
            <a:off x="3337560" y="2670048"/>
            <a:ext cx="278892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50"/>
              <a:buFont typeface="Calibri"/>
              <a:buNone/>
            </a:pPr>
            <a:r>
              <a:rPr b="0" i="1" lang="en-US" sz="1150" u="none" cap="none" strike="noStrike">
                <a:solidFill>
                  <a:srgbClr val="D8CDEE"/>
                </a:solidFill>
                <a:latin typeface="Calibri"/>
                <a:ea typeface="Calibri"/>
                <a:cs typeface="Calibri"/>
                <a:sym typeface="Calibri"/>
              </a:rPr>
              <a:t>Tape over the check-engine light to clear inspection.</a:t>
            </a:r>
            <a:endParaRPr b="0" i="0" sz="1150" u="none" cap="none" strike="noStrike">
              <a:solidFill>
                <a:schemeClr val="dk1"/>
              </a:solidFill>
              <a:latin typeface="Calibri"/>
              <a:ea typeface="Calibri"/>
              <a:cs typeface="Calibri"/>
              <a:sym typeface="Calibri"/>
            </a:endParaRPr>
          </a:p>
        </p:txBody>
      </p:sp>
      <p:sp>
        <p:nvSpPr>
          <p:cNvPr id="165" name="Google Shape;165;p6"/>
          <p:cNvSpPr/>
          <p:nvPr/>
        </p:nvSpPr>
        <p:spPr>
          <a:xfrm>
            <a:off x="6309360" y="2450592"/>
            <a:ext cx="2139696" cy="713232"/>
          </a:xfrm>
          <a:prstGeom prst="roundRect">
            <a:avLst>
              <a:gd fmla="val 8974"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6"/>
          <p:cNvSpPr txBox="1"/>
          <p:nvPr/>
        </p:nvSpPr>
        <p:spPr>
          <a:xfrm>
            <a:off x="6437376" y="2505456"/>
            <a:ext cx="1883664"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000"/>
              <a:buFont typeface="Courier New"/>
              <a:buNone/>
            </a:pPr>
            <a:r>
              <a:rPr b="1" i="0" lang="en-US" sz="1000" u="none" cap="none" strike="noStrike">
                <a:solidFill>
                  <a:srgbClr val="FBBF24"/>
                </a:solidFill>
                <a:latin typeface="Courier New"/>
                <a:ea typeface="Courier New"/>
                <a:cs typeface="Courier New"/>
                <a:sym typeface="Courier New"/>
              </a:rPr>
              <a:t>RISK</a:t>
            </a:r>
            <a:endParaRPr b="0" i="0" sz="1000" u="none" cap="none" strike="noStrike">
              <a:solidFill>
                <a:schemeClr val="dk1"/>
              </a:solidFill>
              <a:latin typeface="Calibri"/>
              <a:ea typeface="Calibri"/>
              <a:cs typeface="Calibri"/>
              <a:sym typeface="Calibri"/>
            </a:endParaRPr>
          </a:p>
        </p:txBody>
      </p:sp>
      <p:sp>
        <p:nvSpPr>
          <p:cNvPr id="167" name="Google Shape;167;p6"/>
          <p:cNvSpPr txBox="1"/>
          <p:nvPr/>
        </p:nvSpPr>
        <p:spPr>
          <a:xfrm>
            <a:off x="6437376" y="2724912"/>
            <a:ext cx="188366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Silently breeds regressions and reproducibility gaps.</a:t>
            </a:r>
            <a:endParaRPr b="0" i="0" sz="900" u="none" cap="none" strike="noStrike">
              <a:solidFill>
                <a:schemeClr val="dk1"/>
              </a:solidFill>
              <a:latin typeface="Calibri"/>
              <a:ea typeface="Calibri"/>
              <a:cs typeface="Calibri"/>
              <a:sym typeface="Calibri"/>
            </a:endParaRPr>
          </a:p>
        </p:txBody>
      </p:sp>
      <p:sp>
        <p:nvSpPr>
          <p:cNvPr id="168" name="Google Shape;168;p6"/>
          <p:cNvSpPr/>
          <p:nvPr/>
        </p:nvSpPr>
        <p:spPr>
          <a:xfrm>
            <a:off x="502920" y="3438144"/>
            <a:ext cx="8138160" cy="1005840"/>
          </a:xfrm>
          <a:prstGeom prst="roundRect">
            <a:avLst>
              <a:gd fmla="val 818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6"/>
          <p:cNvSpPr/>
          <p:nvPr/>
        </p:nvSpPr>
        <p:spPr>
          <a:xfrm>
            <a:off x="704088" y="3712464"/>
            <a:ext cx="457200" cy="457200"/>
          </a:xfrm>
          <a:prstGeom prst="ellipse">
            <a:avLst/>
          </a:prstGeom>
          <a:solidFill>
            <a:srgbClr val="FB7185"/>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6"/>
          <p:cNvSpPr txBox="1"/>
          <p:nvPr/>
        </p:nvSpPr>
        <p:spPr>
          <a:xfrm>
            <a:off x="704088" y="371246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alibri"/>
              <a:buNone/>
            </a:pPr>
            <a:r>
              <a:rPr b="1" i="0" lang="en-US" sz="1700" u="none" cap="none" strike="noStrike">
                <a:solidFill>
                  <a:srgbClr val="2A1B3D"/>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71" name="Google Shape;171;p6"/>
          <p:cNvSpPr txBox="1"/>
          <p:nvPr/>
        </p:nvSpPr>
        <p:spPr>
          <a:xfrm>
            <a:off x="1289304" y="3593592"/>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i="0" lang="en-US" sz="1700" u="none" cap="none" strike="noStrike">
                <a:solidFill>
                  <a:srgbClr val="FFFFFF"/>
                </a:solidFill>
                <a:latin typeface="Cambria"/>
                <a:ea typeface="Cambria"/>
                <a:cs typeface="Cambria"/>
                <a:sym typeface="Cambria"/>
              </a:rPr>
              <a:t>Debt</a:t>
            </a:r>
            <a:endParaRPr b="0" i="0" sz="1700" u="none" cap="none" strike="noStrike">
              <a:solidFill>
                <a:schemeClr val="dk1"/>
              </a:solidFill>
              <a:latin typeface="Calibri"/>
              <a:ea typeface="Calibri"/>
              <a:cs typeface="Calibri"/>
              <a:sym typeface="Calibri"/>
            </a:endParaRPr>
          </a:p>
        </p:txBody>
      </p:sp>
      <p:sp>
        <p:nvSpPr>
          <p:cNvPr id="172" name="Google Shape;172;p6"/>
          <p:cNvSpPr txBox="1"/>
          <p:nvPr/>
        </p:nvSpPr>
        <p:spPr>
          <a:xfrm>
            <a:off x="1289304" y="3895344"/>
            <a:ext cx="18288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THE COMPOUNDING LEDGER</a:t>
            </a:r>
            <a:endParaRPr b="0" i="0" sz="800" u="none" cap="none" strike="noStrike">
              <a:solidFill>
                <a:schemeClr val="dk1"/>
              </a:solidFill>
              <a:latin typeface="Calibri"/>
              <a:ea typeface="Calibri"/>
              <a:cs typeface="Calibri"/>
              <a:sym typeface="Calibri"/>
            </a:endParaRPr>
          </a:p>
        </p:txBody>
      </p:sp>
      <p:sp>
        <p:nvSpPr>
          <p:cNvPr id="173" name="Google Shape;173;p6"/>
          <p:cNvSpPr txBox="1"/>
          <p:nvPr/>
        </p:nvSpPr>
        <p:spPr>
          <a:xfrm>
            <a:off x="1289304" y="4114800"/>
            <a:ext cx="19659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The balance of delayed structural upkeep.</a:t>
            </a:r>
            <a:endParaRPr b="0" i="0" sz="950" u="none" cap="none" strike="noStrike">
              <a:solidFill>
                <a:schemeClr val="dk1"/>
              </a:solidFill>
              <a:latin typeface="Calibri"/>
              <a:ea typeface="Calibri"/>
              <a:cs typeface="Calibri"/>
              <a:sym typeface="Calibri"/>
            </a:endParaRPr>
          </a:p>
        </p:txBody>
      </p:sp>
      <p:sp>
        <p:nvSpPr>
          <p:cNvPr id="174" name="Google Shape;174;p6"/>
          <p:cNvSpPr txBox="1"/>
          <p:nvPr/>
        </p:nvSpPr>
        <p:spPr>
          <a:xfrm>
            <a:off x="3337560" y="3593592"/>
            <a:ext cx="128016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Intuition</a:t>
            </a:r>
            <a:endParaRPr b="0" i="0" sz="800" u="none" cap="none" strike="noStrike">
              <a:solidFill>
                <a:schemeClr val="dk1"/>
              </a:solidFill>
              <a:latin typeface="Calibri"/>
              <a:ea typeface="Calibri"/>
              <a:cs typeface="Calibri"/>
              <a:sym typeface="Calibri"/>
            </a:endParaRPr>
          </a:p>
        </p:txBody>
      </p:sp>
      <p:sp>
        <p:nvSpPr>
          <p:cNvPr id="175" name="Google Shape;175;p6"/>
          <p:cNvSpPr txBox="1"/>
          <p:nvPr/>
        </p:nvSpPr>
        <p:spPr>
          <a:xfrm>
            <a:off x="3337560" y="3803904"/>
            <a:ext cx="278892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50"/>
              <a:buFont typeface="Calibri"/>
              <a:buNone/>
            </a:pPr>
            <a:r>
              <a:rPr b="0" i="1" lang="en-US" sz="1150" u="none" cap="none" strike="noStrike">
                <a:solidFill>
                  <a:srgbClr val="D8CDEE"/>
                </a:solidFill>
                <a:latin typeface="Calibri"/>
                <a:ea typeface="Calibri"/>
                <a:cs typeface="Calibri"/>
                <a:sym typeface="Calibri"/>
              </a:rPr>
              <a:t>A credit-card balance — ignore the principal, the bill balloons.</a:t>
            </a:r>
            <a:endParaRPr b="0" i="0" sz="1150" u="none" cap="none" strike="noStrike">
              <a:solidFill>
                <a:schemeClr val="dk1"/>
              </a:solidFill>
              <a:latin typeface="Calibri"/>
              <a:ea typeface="Calibri"/>
              <a:cs typeface="Calibri"/>
              <a:sym typeface="Calibri"/>
            </a:endParaRPr>
          </a:p>
        </p:txBody>
      </p:sp>
      <p:sp>
        <p:nvSpPr>
          <p:cNvPr id="176" name="Google Shape;176;p6"/>
          <p:cNvSpPr/>
          <p:nvPr/>
        </p:nvSpPr>
        <p:spPr>
          <a:xfrm>
            <a:off x="6309360" y="3584448"/>
            <a:ext cx="2139696" cy="713232"/>
          </a:xfrm>
          <a:prstGeom prst="roundRect">
            <a:avLst>
              <a:gd fmla="val 8974"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6"/>
          <p:cNvSpPr txBox="1"/>
          <p:nvPr/>
        </p:nvSpPr>
        <p:spPr>
          <a:xfrm>
            <a:off x="6437376" y="3639312"/>
            <a:ext cx="1883664"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1000"/>
              <a:buFont typeface="Courier New"/>
              <a:buNone/>
            </a:pPr>
            <a:r>
              <a:rPr b="1" i="0" lang="en-US" sz="1000" u="none" cap="none" strike="noStrike">
                <a:solidFill>
                  <a:srgbClr val="FB7185"/>
                </a:solidFill>
                <a:latin typeface="Courier New"/>
                <a:ea typeface="Courier New"/>
                <a:cs typeface="Courier New"/>
                <a:sym typeface="Courier New"/>
              </a:rPr>
              <a:t>INTEREST</a:t>
            </a:r>
            <a:endParaRPr b="0" i="0" sz="1000" u="none" cap="none" strike="noStrike">
              <a:solidFill>
                <a:schemeClr val="dk1"/>
              </a:solidFill>
              <a:latin typeface="Calibri"/>
              <a:ea typeface="Calibri"/>
              <a:cs typeface="Calibri"/>
              <a:sym typeface="Calibri"/>
            </a:endParaRPr>
          </a:p>
        </p:txBody>
      </p:sp>
      <p:sp>
        <p:nvSpPr>
          <p:cNvPr id="178" name="Google Shape;178;p6"/>
          <p:cNvSpPr txBox="1"/>
          <p:nvPr/>
        </p:nvSpPr>
        <p:spPr>
          <a:xfrm>
            <a:off x="6437376" y="3858768"/>
            <a:ext cx="188366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A quick win today, paid for every sprint after.</a:t>
            </a:r>
            <a:endParaRPr b="0" i="0" sz="900" u="none" cap="none" strike="noStrike">
              <a:solidFill>
                <a:schemeClr val="dk1"/>
              </a:solidFill>
              <a:latin typeface="Calibri"/>
              <a:ea typeface="Calibri"/>
              <a:cs typeface="Calibri"/>
              <a:sym typeface="Calibri"/>
            </a:endParaRPr>
          </a:p>
        </p:txBody>
      </p:sp>
      <p:sp>
        <p:nvSpPr>
          <p:cNvPr id="179" name="Google Shape;179;p6"/>
          <p:cNvSpPr/>
          <p:nvPr/>
        </p:nvSpPr>
        <p:spPr>
          <a:xfrm>
            <a:off x="502920" y="4443984"/>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6"/>
          <p:cNvSpPr txBox="1"/>
          <p:nvPr/>
        </p:nvSpPr>
        <p:spPr>
          <a:xfrm>
            <a:off x="649224" y="4443984"/>
            <a:ext cx="7845552"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100"/>
              <a:buFont typeface="Calibri"/>
              <a:buNone/>
            </a:pPr>
            <a:r>
              <a:rPr b="0" i="1" lang="en-US" sz="1100" u="none" cap="none" strike="noStrike">
                <a:solidFill>
                  <a:srgbClr val="E9DFFF"/>
                </a:solidFill>
                <a:latin typeface="Calibri"/>
                <a:ea typeface="Calibri"/>
                <a:cs typeface="Calibri"/>
                <a:sym typeface="Calibri"/>
              </a:rPr>
              <a:t>Smells are the symptoms → anti-patterns are the diseases → debt is the bill. Detectors find the first two; only a human decides which bills to pay.</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85" name="Shape 185"/>
        <p:cNvGrpSpPr/>
        <p:nvPr/>
      </p:nvGrpSpPr>
      <p:grpSpPr>
        <a:xfrm>
          <a:off x="0" y="0"/>
          <a:ext cx="0" cy="0"/>
          <a:chOff x="0" y="0"/>
          <a:chExt cx="0" cy="0"/>
        </a:xfrm>
      </p:grpSpPr>
      <p:sp>
        <p:nvSpPr>
          <p:cNvPr id="186" name="Google Shape;186;p7"/>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WHY ANYONE FUNDS THIS WORK · NOTEBOOK PART 4</a:t>
            </a:r>
            <a:endParaRPr b="0" i="0" sz="1050" u="none" cap="none" strike="noStrike">
              <a:solidFill>
                <a:schemeClr val="dk1"/>
              </a:solidFill>
              <a:latin typeface="Calibri"/>
              <a:ea typeface="Calibri"/>
              <a:cs typeface="Calibri"/>
              <a:sym typeface="Calibri"/>
            </a:endParaRPr>
          </a:p>
        </p:txBody>
      </p:sp>
      <p:sp>
        <p:nvSpPr>
          <p:cNvPr id="187" name="Google Shape;187;p7"/>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priority = interest ÷ principal</a:t>
            </a:r>
            <a:endParaRPr b="0" i="0" sz="2700" u="none" cap="none" strike="noStrike">
              <a:solidFill>
                <a:schemeClr val="dk1"/>
              </a:solidFill>
              <a:latin typeface="Calibri"/>
              <a:ea typeface="Calibri"/>
              <a:cs typeface="Calibri"/>
              <a:sym typeface="Calibri"/>
            </a:endParaRPr>
          </a:p>
        </p:txBody>
      </p:sp>
      <p:sp>
        <p:nvSpPr>
          <p:cNvPr id="188" name="Google Shape;188;p7">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89" name="Google Shape;189;p7"/>
          <p:cNvSpPr/>
          <p:nvPr/>
        </p:nvSpPr>
        <p:spPr>
          <a:xfrm>
            <a:off x="502920" y="1133856"/>
            <a:ext cx="3977640" cy="1481328"/>
          </a:xfrm>
          <a:prstGeom prst="roundRect">
            <a:avLst>
              <a:gd fmla="val 555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7"/>
          <p:cNvSpPr txBox="1"/>
          <p:nvPr/>
        </p:nvSpPr>
        <p:spPr>
          <a:xfrm>
            <a:off x="685800" y="124358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The metaphor, precisely</a:t>
            </a:r>
            <a:endParaRPr b="0" i="0" sz="1400" u="none" cap="none" strike="noStrike">
              <a:solidFill>
                <a:schemeClr val="dk1"/>
              </a:solidFill>
              <a:latin typeface="Calibri"/>
              <a:ea typeface="Calibri"/>
              <a:cs typeface="Calibri"/>
              <a:sym typeface="Calibri"/>
            </a:endParaRPr>
          </a:p>
        </p:txBody>
      </p:sp>
      <p:sp>
        <p:nvSpPr>
          <p:cNvPr id="191" name="Google Shape;191;p7"/>
          <p:cNvSpPr txBox="1"/>
          <p:nvPr/>
        </p:nvSpPr>
        <p:spPr>
          <a:xfrm>
            <a:off x="685800" y="1517904"/>
            <a:ext cx="3611880" cy="1024128"/>
          </a:xfrm>
          <a:prstGeom prst="rect">
            <a:avLst/>
          </a:prstGeom>
          <a:noFill/>
          <a:ln>
            <a:noFill/>
          </a:ln>
        </p:spPr>
        <p:txBody>
          <a:bodyPr anchorCtr="0" anchor="ctr" bIns="0" lIns="0" spcFirstLastPara="1" rIns="0" wrap="square" tIns="0">
            <a:noAutofit/>
          </a:bodyPr>
          <a:lstStyle/>
          <a:p>
            <a:pPr indent="0" lvl="0" marL="0" marR="0" rtl="0" algn="l">
              <a:lnSpc>
                <a:spcPct val="133333"/>
              </a:lnSpc>
              <a:spcBef>
                <a:spcPts val="0"/>
              </a:spcBef>
              <a:spcAft>
                <a:spcPts val="0"/>
              </a:spcAft>
              <a:buClr>
                <a:srgbClr val="E9DFFF"/>
              </a:buClr>
              <a:buSzPts val="1050"/>
              <a:buFont typeface="Calibri"/>
              <a:buNone/>
            </a:pPr>
            <a:r>
              <a:rPr b="1" i="0" lang="en-US" sz="1050" u="none" cap="none" strike="noStrike">
                <a:solidFill>
                  <a:srgbClr val="E9DFFF"/>
                </a:solidFill>
                <a:latin typeface="Calibri"/>
                <a:ea typeface="Calibri"/>
                <a:cs typeface="Calibri"/>
                <a:sym typeface="Calibri"/>
              </a:rPr>
              <a:t>Principal</a:t>
            </a:r>
            <a:r>
              <a:rPr b="0" i="0" lang="en-US" sz="1050" u="none" cap="none" strike="noStrike">
                <a:solidFill>
                  <a:srgbClr val="D8CDEE"/>
                </a:solidFill>
                <a:latin typeface="Calibri"/>
                <a:ea typeface="Calibri"/>
                <a:cs typeface="Calibri"/>
                <a:sym typeface="Calibri"/>
              </a:rPr>
              <a:t> — the one-time cost of the proper fix.</a:t>
            </a:r>
            <a:br>
              <a:rPr b="0" i="0" lang="en-US" sz="1050" u="none" cap="none" strike="noStrike">
                <a:solidFill>
                  <a:srgbClr val="D8CDEE"/>
                </a:solidFill>
                <a:latin typeface="Calibri"/>
                <a:ea typeface="Calibri"/>
                <a:cs typeface="Calibri"/>
                <a:sym typeface="Calibri"/>
              </a:rPr>
            </a:br>
            <a:r>
              <a:rPr b="1" i="0" lang="en-US" sz="1050" u="none" cap="none" strike="noStrike">
                <a:solidFill>
                  <a:srgbClr val="FBBF24"/>
                </a:solidFill>
                <a:latin typeface="Calibri"/>
                <a:ea typeface="Calibri"/>
                <a:cs typeface="Calibri"/>
                <a:sym typeface="Calibri"/>
              </a:rPr>
              <a:t>Interest</a:t>
            </a:r>
            <a:r>
              <a:rPr b="0" i="0" lang="en-US" sz="1050" u="none" cap="none" strike="noStrike">
                <a:solidFill>
                  <a:srgbClr val="D8CDEE"/>
                </a:solidFill>
                <a:latin typeface="Calibri"/>
                <a:ea typeface="Calibri"/>
                <a:cs typeface="Calibri"/>
                <a:sym typeface="Calibri"/>
              </a:rPr>
              <a:t> — the recurring cost of NOT fixing: slower features, more bugs, longer onboarding — every single sprint.</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Taking debt can be rational. </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rgbClr val="E9DFFF"/>
              </a:buClr>
              <a:buSzPts val="1050"/>
              <a:buFont typeface="Calibri"/>
              <a:buNone/>
            </a:pPr>
            <a:r>
              <a:rPr b="0" i="0" lang="en-US" sz="1050" u="none" cap="none" strike="noStrike">
                <a:solidFill>
                  <a:srgbClr val="E9DFFF"/>
                </a:solidFill>
                <a:latin typeface="Calibri"/>
                <a:ea typeface="Calibri"/>
                <a:cs typeface="Calibri"/>
                <a:sym typeface="Calibri"/>
              </a:rPr>
              <a:t>Unmanaged, invisible debt is what kills codebases.</a:t>
            </a:r>
            <a:endParaRPr b="0" i="0" sz="1050" u="none" cap="none" strike="noStrike">
              <a:solidFill>
                <a:schemeClr val="dk1"/>
              </a:solidFill>
              <a:latin typeface="Calibri"/>
              <a:ea typeface="Calibri"/>
              <a:cs typeface="Calibri"/>
              <a:sym typeface="Calibri"/>
            </a:endParaRPr>
          </a:p>
        </p:txBody>
      </p:sp>
      <p:sp>
        <p:nvSpPr>
          <p:cNvPr id="192" name="Google Shape;192;p7"/>
          <p:cNvSpPr/>
          <p:nvPr/>
        </p:nvSpPr>
        <p:spPr>
          <a:xfrm>
            <a:off x="4663440" y="1133856"/>
            <a:ext cx="3977640" cy="1481328"/>
          </a:xfrm>
          <a:prstGeom prst="roundRect">
            <a:avLst>
              <a:gd fmla="val 555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7"/>
          <p:cNvSpPr/>
          <p:nvPr/>
        </p:nvSpPr>
        <p:spPr>
          <a:xfrm>
            <a:off x="5230368" y="1408176"/>
            <a:ext cx="1600200" cy="420624"/>
          </a:xfrm>
          <a:prstGeom prst="roundRect">
            <a:avLst>
              <a:gd fmla="val 13043"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7"/>
          <p:cNvSpPr txBox="1"/>
          <p:nvPr/>
        </p:nvSpPr>
        <p:spPr>
          <a:xfrm>
            <a:off x="5321808" y="1490472"/>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900"/>
              <a:buFont typeface="Courier New"/>
              <a:buNone/>
            </a:pPr>
            <a:r>
              <a:rPr b="1" i="0" lang="en-US" sz="900" u="none" cap="none" strike="noStrike">
                <a:solidFill>
                  <a:srgbClr val="5EE9B5"/>
                </a:solidFill>
                <a:latin typeface="Courier New"/>
                <a:ea typeface="Courier New"/>
                <a:cs typeface="Courier New"/>
                <a:sym typeface="Courier New"/>
              </a:rPr>
              <a:t>FIX NOW</a:t>
            </a:r>
            <a:endParaRPr b="0" i="0" sz="900" u="none" cap="none" strike="noStrike">
              <a:solidFill>
                <a:schemeClr val="dk1"/>
              </a:solidFill>
              <a:latin typeface="Calibri"/>
              <a:ea typeface="Calibri"/>
              <a:cs typeface="Calibri"/>
              <a:sym typeface="Calibri"/>
            </a:endParaRPr>
          </a:p>
        </p:txBody>
      </p:sp>
      <p:sp>
        <p:nvSpPr>
          <p:cNvPr id="195" name="Google Shape;195;p7"/>
          <p:cNvSpPr txBox="1"/>
          <p:nvPr/>
        </p:nvSpPr>
        <p:spPr>
          <a:xfrm>
            <a:off x="5321808" y="1673352"/>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quick wins</a:t>
            </a:r>
            <a:endParaRPr b="0" i="0" sz="850" u="none" cap="none" strike="noStrike">
              <a:solidFill>
                <a:schemeClr val="dk1"/>
              </a:solidFill>
              <a:latin typeface="Calibri"/>
              <a:ea typeface="Calibri"/>
              <a:cs typeface="Calibri"/>
              <a:sym typeface="Calibri"/>
            </a:endParaRPr>
          </a:p>
        </p:txBody>
      </p:sp>
      <p:sp>
        <p:nvSpPr>
          <p:cNvPr id="196" name="Google Shape;196;p7"/>
          <p:cNvSpPr/>
          <p:nvPr/>
        </p:nvSpPr>
        <p:spPr>
          <a:xfrm>
            <a:off x="6885432" y="1408176"/>
            <a:ext cx="1600200" cy="420624"/>
          </a:xfrm>
          <a:prstGeom prst="roundRect">
            <a:avLst>
              <a:gd fmla="val 13043"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7"/>
          <p:cNvSpPr txBox="1"/>
          <p:nvPr/>
        </p:nvSpPr>
        <p:spPr>
          <a:xfrm>
            <a:off x="6976872" y="1490472"/>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900"/>
              <a:buFont typeface="Courier New"/>
              <a:buNone/>
            </a:pPr>
            <a:r>
              <a:rPr b="1" i="0" lang="en-US" sz="900" u="none" cap="none" strike="noStrike">
                <a:solidFill>
                  <a:srgbClr val="FBBF24"/>
                </a:solidFill>
                <a:latin typeface="Courier New"/>
                <a:ea typeface="Courier New"/>
                <a:cs typeface="Courier New"/>
                <a:sym typeface="Courier New"/>
              </a:rPr>
              <a:t>SCHEDULE</a:t>
            </a:r>
            <a:endParaRPr b="0" i="0" sz="900" u="none" cap="none" strike="noStrike">
              <a:solidFill>
                <a:schemeClr val="dk1"/>
              </a:solidFill>
              <a:latin typeface="Calibri"/>
              <a:ea typeface="Calibri"/>
              <a:cs typeface="Calibri"/>
              <a:sym typeface="Calibri"/>
            </a:endParaRPr>
          </a:p>
        </p:txBody>
      </p:sp>
      <p:sp>
        <p:nvSpPr>
          <p:cNvPr id="198" name="Google Shape;198;p7"/>
          <p:cNvSpPr txBox="1"/>
          <p:nvPr/>
        </p:nvSpPr>
        <p:spPr>
          <a:xfrm>
            <a:off x="6976872" y="1673352"/>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never “fits between”</a:t>
            </a:r>
            <a:endParaRPr b="0" i="0" sz="850" u="none" cap="none" strike="noStrike">
              <a:solidFill>
                <a:schemeClr val="dk1"/>
              </a:solidFill>
              <a:latin typeface="Calibri"/>
              <a:ea typeface="Calibri"/>
              <a:cs typeface="Calibri"/>
              <a:sym typeface="Calibri"/>
            </a:endParaRPr>
          </a:p>
        </p:txBody>
      </p:sp>
      <p:sp>
        <p:nvSpPr>
          <p:cNvPr id="199" name="Google Shape;199;p7"/>
          <p:cNvSpPr/>
          <p:nvPr/>
        </p:nvSpPr>
        <p:spPr>
          <a:xfrm>
            <a:off x="5230368" y="1883664"/>
            <a:ext cx="1600200" cy="420624"/>
          </a:xfrm>
          <a:prstGeom prst="roundRect">
            <a:avLst>
              <a:gd fmla="val 13043"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7"/>
          <p:cNvSpPr txBox="1"/>
          <p:nvPr/>
        </p:nvSpPr>
        <p:spPr>
          <a:xfrm>
            <a:off x="5321808" y="1965960"/>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ourier New"/>
              <a:buNone/>
            </a:pPr>
            <a:r>
              <a:rPr b="1" i="0" lang="en-US" sz="900" u="none" cap="none" strike="noStrike">
                <a:solidFill>
                  <a:srgbClr val="BBA9DE"/>
                </a:solidFill>
                <a:latin typeface="Courier New"/>
                <a:ea typeface="Courier New"/>
                <a:cs typeface="Courier New"/>
                <a:sym typeface="Courier New"/>
              </a:rPr>
              <a:t>BATCH IT</a:t>
            </a:r>
            <a:endParaRPr b="0" i="0" sz="900" u="none" cap="none" strike="noStrike">
              <a:solidFill>
                <a:schemeClr val="dk1"/>
              </a:solidFill>
              <a:latin typeface="Calibri"/>
              <a:ea typeface="Calibri"/>
              <a:cs typeface="Calibri"/>
              <a:sym typeface="Calibri"/>
            </a:endParaRPr>
          </a:p>
        </p:txBody>
      </p:sp>
      <p:sp>
        <p:nvSpPr>
          <p:cNvPr id="201" name="Google Shape;201;p7"/>
          <p:cNvSpPr txBox="1"/>
          <p:nvPr/>
        </p:nvSpPr>
        <p:spPr>
          <a:xfrm>
            <a:off x="5321808" y="2148840"/>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do while you are in there</a:t>
            </a:r>
            <a:endParaRPr b="0" i="0" sz="850" u="none" cap="none" strike="noStrike">
              <a:solidFill>
                <a:schemeClr val="dk1"/>
              </a:solidFill>
              <a:latin typeface="Calibri"/>
              <a:ea typeface="Calibri"/>
              <a:cs typeface="Calibri"/>
              <a:sym typeface="Calibri"/>
            </a:endParaRPr>
          </a:p>
        </p:txBody>
      </p:sp>
      <p:sp>
        <p:nvSpPr>
          <p:cNvPr id="202" name="Google Shape;202;p7"/>
          <p:cNvSpPr/>
          <p:nvPr/>
        </p:nvSpPr>
        <p:spPr>
          <a:xfrm>
            <a:off x="6885432" y="1883664"/>
            <a:ext cx="1600200" cy="420624"/>
          </a:xfrm>
          <a:prstGeom prst="roundRect">
            <a:avLst>
              <a:gd fmla="val 13043"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7"/>
          <p:cNvSpPr txBox="1"/>
          <p:nvPr/>
        </p:nvSpPr>
        <p:spPr>
          <a:xfrm>
            <a:off x="6976872" y="1965960"/>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ourier New"/>
              <a:buNone/>
            </a:pPr>
            <a:r>
              <a:rPr b="1" i="0" lang="en-US" sz="900" u="none" cap="none" strike="noStrike">
                <a:solidFill>
                  <a:srgbClr val="BBA9DE"/>
                </a:solidFill>
                <a:latin typeface="Courier New"/>
                <a:ea typeface="Courier New"/>
                <a:cs typeface="Courier New"/>
                <a:sym typeface="Courier New"/>
              </a:rPr>
              <a:t>LEAVE IT</a:t>
            </a:r>
            <a:endParaRPr b="0" i="0" sz="900" u="none" cap="none" strike="noStrike">
              <a:solidFill>
                <a:schemeClr val="dk1"/>
              </a:solidFill>
              <a:latin typeface="Calibri"/>
              <a:ea typeface="Calibri"/>
              <a:cs typeface="Calibri"/>
              <a:sym typeface="Calibri"/>
            </a:endParaRPr>
          </a:p>
        </p:txBody>
      </p:sp>
      <p:sp>
        <p:nvSpPr>
          <p:cNvPr id="204" name="Google Shape;204;p7"/>
          <p:cNvSpPr txBox="1"/>
          <p:nvPr/>
        </p:nvSpPr>
        <p:spPr>
          <a:xfrm>
            <a:off x="6976872" y="2148840"/>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document, move on</a:t>
            </a:r>
            <a:endParaRPr b="0" i="0" sz="850" u="none" cap="none" strike="noStrike">
              <a:solidFill>
                <a:schemeClr val="dk1"/>
              </a:solidFill>
              <a:latin typeface="Calibri"/>
              <a:ea typeface="Calibri"/>
              <a:cs typeface="Calibri"/>
              <a:sym typeface="Calibri"/>
            </a:endParaRPr>
          </a:p>
        </p:txBody>
      </p:sp>
      <p:sp>
        <p:nvSpPr>
          <p:cNvPr id="205" name="Google Shape;205;p7"/>
          <p:cNvSpPr txBox="1"/>
          <p:nvPr/>
        </p:nvSpPr>
        <p:spPr>
          <a:xfrm>
            <a:off x="4700016" y="1408176"/>
            <a:ext cx="512064" cy="8961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750"/>
              <a:buFont typeface="Courier New"/>
              <a:buNone/>
            </a:pPr>
            <a:r>
              <a:rPr b="1" i="0" lang="en-US" sz="750" u="none" cap="none" strike="noStrike">
                <a:solidFill>
                  <a:srgbClr val="A78BFA"/>
                </a:solidFill>
                <a:latin typeface="Courier New"/>
                <a:ea typeface="Courier New"/>
                <a:cs typeface="Courier New"/>
                <a:sym typeface="Courier New"/>
              </a:rPr>
              <a:t>interest</a:t>
            </a:r>
            <a:endParaRPr b="1" i="0" sz="7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A78BFA"/>
              </a:buClr>
              <a:buSzPts val="750"/>
              <a:buFont typeface="Courier New"/>
              <a:buNone/>
            </a:pPr>
            <a:r>
              <a:rPr b="1" i="0" lang="en-US" sz="750" u="none" cap="none" strike="noStrike">
                <a:solidFill>
                  <a:srgbClr val="A78BFA"/>
                </a:solidFill>
                <a:latin typeface="Courier New"/>
                <a:ea typeface="Courier New"/>
                <a:cs typeface="Courier New"/>
                <a:sym typeface="Courier New"/>
              </a:rPr>
              <a:t>↑</a:t>
            </a:r>
            <a:endParaRPr b="1" i="0" sz="750" u="none" cap="none" strike="noStrike">
              <a:solidFill>
                <a:schemeClr val="dk1"/>
              </a:solidFill>
              <a:latin typeface="Calibri"/>
              <a:ea typeface="Calibri"/>
              <a:cs typeface="Calibri"/>
              <a:sym typeface="Calibri"/>
            </a:endParaRPr>
          </a:p>
        </p:txBody>
      </p:sp>
      <p:sp>
        <p:nvSpPr>
          <p:cNvPr id="206" name="Google Shape;206;p7"/>
          <p:cNvSpPr txBox="1"/>
          <p:nvPr/>
        </p:nvSpPr>
        <p:spPr>
          <a:xfrm>
            <a:off x="5230368" y="2377440"/>
            <a:ext cx="3255264"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750"/>
              <a:buFont typeface="Courier New"/>
              <a:buNone/>
            </a:pPr>
            <a:r>
              <a:rPr b="1" i="0" lang="en-US" sz="750" u="none" cap="none" strike="noStrike">
                <a:solidFill>
                  <a:srgbClr val="A78BFA"/>
                </a:solidFill>
                <a:latin typeface="Courier New"/>
                <a:ea typeface="Courier New"/>
                <a:cs typeface="Courier New"/>
                <a:sym typeface="Courier New"/>
              </a:rPr>
              <a:t>principal (cost to fix) →</a:t>
            </a:r>
            <a:endParaRPr b="1" i="0" sz="750" u="none" cap="none" strike="noStrike">
              <a:solidFill>
                <a:schemeClr val="dk1"/>
              </a:solidFill>
              <a:latin typeface="Calibri"/>
              <a:ea typeface="Calibri"/>
              <a:cs typeface="Calibri"/>
              <a:sym typeface="Calibri"/>
            </a:endParaRPr>
          </a:p>
        </p:txBody>
      </p:sp>
      <p:sp>
        <p:nvSpPr>
          <p:cNvPr id="207" name="Google Shape;207;p7"/>
          <p:cNvSpPr/>
          <p:nvPr/>
        </p:nvSpPr>
        <p:spPr>
          <a:xfrm>
            <a:off x="502920" y="2779776"/>
            <a:ext cx="8138160" cy="566928"/>
          </a:xfrm>
          <a:prstGeom prst="roundRect">
            <a:avLst>
              <a:gd fmla="val 14516"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7"/>
          <p:cNvSpPr txBox="1"/>
          <p:nvPr/>
        </p:nvSpPr>
        <p:spPr>
          <a:xfrm>
            <a:off x="667512" y="2834640"/>
            <a:ext cx="21031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000"/>
              <a:buFont typeface="Courier New"/>
              <a:buNone/>
            </a:pPr>
            <a:r>
              <a:rPr b="1" i="0" lang="en-US" sz="1000" u="none" cap="none" strike="noStrike">
                <a:solidFill>
                  <a:srgbClr val="E9DFFF"/>
                </a:solidFill>
                <a:latin typeface="Courier New"/>
                <a:ea typeface="Courier New"/>
                <a:cs typeface="Courier New"/>
                <a:sym typeface="Courier New"/>
              </a:rPr>
              <a:t>pallets/flask#5214</a:t>
            </a:r>
            <a:endParaRPr b="0" i="0" sz="1000" u="none" cap="none" strike="noStrike">
              <a:solidFill>
                <a:schemeClr val="dk1"/>
              </a:solidFill>
              <a:latin typeface="Calibri"/>
              <a:ea typeface="Calibri"/>
              <a:cs typeface="Calibri"/>
              <a:sym typeface="Calibri"/>
            </a:endParaRPr>
          </a:p>
        </p:txBody>
      </p:sp>
      <p:sp>
        <p:nvSpPr>
          <p:cNvPr id="209" name="Google Shape;209;p7"/>
          <p:cNvSpPr txBox="1"/>
          <p:nvPr/>
        </p:nvSpPr>
        <p:spPr>
          <a:xfrm>
            <a:off x="667512" y="3063240"/>
            <a:ext cx="21031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stale docstring</a:t>
            </a:r>
            <a:endParaRPr b="0" i="0" sz="950" u="none" cap="none" strike="noStrike">
              <a:solidFill>
                <a:schemeClr val="dk1"/>
              </a:solidFill>
              <a:latin typeface="Calibri"/>
              <a:ea typeface="Calibri"/>
              <a:cs typeface="Calibri"/>
              <a:sym typeface="Calibri"/>
            </a:endParaRPr>
          </a:p>
        </p:txBody>
      </p:sp>
      <p:sp>
        <p:nvSpPr>
          <p:cNvPr id="210" name="Google Shape;210;p7"/>
          <p:cNvSpPr txBox="1"/>
          <p:nvPr/>
        </p:nvSpPr>
        <p:spPr>
          <a:xfrm>
            <a:off x="2898648" y="2825496"/>
            <a:ext cx="100584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mbria"/>
              <a:buNone/>
            </a:pPr>
            <a:r>
              <a:rPr b="1" i="0" lang="en-US" sz="2200" u="none" cap="none" strike="noStrike">
                <a:solidFill>
                  <a:srgbClr val="FFFFFF"/>
                </a:solidFill>
                <a:latin typeface="Cambria"/>
                <a:ea typeface="Cambria"/>
                <a:cs typeface="Cambria"/>
                <a:sym typeface="Cambria"/>
              </a:rPr>
              <a:t>8</a:t>
            </a:r>
            <a:endParaRPr b="0" i="0" sz="2200" u="none" cap="none" strike="noStrike">
              <a:solidFill>
                <a:schemeClr val="dk1"/>
              </a:solidFill>
              <a:latin typeface="Calibri"/>
              <a:ea typeface="Calibri"/>
              <a:cs typeface="Calibri"/>
              <a:sym typeface="Calibri"/>
            </a:endParaRPr>
          </a:p>
        </p:txBody>
      </p:sp>
      <p:sp>
        <p:nvSpPr>
          <p:cNvPr id="211" name="Google Shape;211;p7"/>
          <p:cNvSpPr txBox="1"/>
          <p:nvPr/>
        </p:nvSpPr>
        <p:spPr>
          <a:xfrm>
            <a:off x="2898648" y="3145536"/>
            <a:ext cx="10058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interest</a:t>
            </a:r>
            <a:endParaRPr b="0" i="0" sz="750" u="none" cap="none" strike="noStrike">
              <a:solidFill>
                <a:schemeClr val="dk1"/>
              </a:solidFill>
              <a:latin typeface="Calibri"/>
              <a:ea typeface="Calibri"/>
              <a:cs typeface="Calibri"/>
              <a:sym typeface="Calibri"/>
            </a:endParaRPr>
          </a:p>
        </p:txBody>
      </p:sp>
      <p:sp>
        <p:nvSpPr>
          <p:cNvPr id="212" name="Google Shape;212;p7"/>
          <p:cNvSpPr txBox="1"/>
          <p:nvPr/>
        </p:nvSpPr>
        <p:spPr>
          <a:xfrm>
            <a:off x="4069080" y="2825496"/>
            <a:ext cx="100584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mbria"/>
              <a:buNone/>
            </a:pPr>
            <a:r>
              <a:rPr b="1" i="0" lang="en-US" sz="2200" u="none" cap="none" strike="noStrike">
                <a:solidFill>
                  <a:srgbClr val="FFFFFF"/>
                </a:solidFill>
                <a:latin typeface="Cambria"/>
                <a:ea typeface="Cambria"/>
                <a:cs typeface="Cambria"/>
                <a:sym typeface="Cambria"/>
              </a:rPr>
              <a:t>2</a:t>
            </a:r>
            <a:endParaRPr b="0" i="0" sz="2200" u="none" cap="none" strike="noStrike">
              <a:solidFill>
                <a:schemeClr val="dk1"/>
              </a:solidFill>
              <a:latin typeface="Calibri"/>
              <a:ea typeface="Calibri"/>
              <a:cs typeface="Calibri"/>
              <a:sym typeface="Calibri"/>
            </a:endParaRPr>
          </a:p>
        </p:txBody>
      </p:sp>
      <p:sp>
        <p:nvSpPr>
          <p:cNvPr id="213" name="Google Shape;213;p7"/>
          <p:cNvSpPr txBox="1"/>
          <p:nvPr/>
        </p:nvSpPr>
        <p:spPr>
          <a:xfrm>
            <a:off x="4069080" y="3145536"/>
            <a:ext cx="10058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principal</a:t>
            </a:r>
            <a:endParaRPr b="0" i="0" sz="750" u="none" cap="none" strike="noStrike">
              <a:solidFill>
                <a:schemeClr val="dk1"/>
              </a:solidFill>
              <a:latin typeface="Calibri"/>
              <a:ea typeface="Calibri"/>
              <a:cs typeface="Calibri"/>
              <a:sym typeface="Calibri"/>
            </a:endParaRPr>
          </a:p>
        </p:txBody>
      </p:sp>
      <p:sp>
        <p:nvSpPr>
          <p:cNvPr id="214" name="Google Shape;214;p7"/>
          <p:cNvSpPr txBox="1"/>
          <p:nvPr/>
        </p:nvSpPr>
        <p:spPr>
          <a:xfrm>
            <a:off x="3904488" y="2871216"/>
            <a:ext cx="182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1600"/>
              <a:buFont typeface="Calibri"/>
              <a:buNone/>
            </a:pPr>
            <a:r>
              <a:rPr b="0" i="0" lang="en-US" sz="1600" u="none" cap="none" strike="noStrike">
                <a:solidFill>
                  <a:srgbClr val="A78BFA"/>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15" name="Google Shape;215;p7"/>
          <p:cNvSpPr txBox="1"/>
          <p:nvPr/>
        </p:nvSpPr>
        <p:spPr>
          <a:xfrm>
            <a:off x="5074920" y="2871216"/>
            <a:ext cx="21945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1600"/>
              <a:buFont typeface="Calibri"/>
              <a:buNone/>
            </a:pPr>
            <a:r>
              <a:rPr b="0" i="0" lang="en-US" sz="1600" u="none" cap="none" strike="noStrike">
                <a:solidFill>
                  <a:srgbClr val="A78BFA"/>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16" name="Google Shape;216;p7"/>
          <p:cNvSpPr txBox="1"/>
          <p:nvPr/>
        </p:nvSpPr>
        <p:spPr>
          <a:xfrm>
            <a:off x="5330952" y="2825496"/>
            <a:ext cx="91440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2200"/>
              <a:buFont typeface="Cambria"/>
              <a:buNone/>
            </a:pPr>
            <a:r>
              <a:rPr b="1" i="0" lang="en-US" sz="2200" u="none" cap="none" strike="noStrike">
                <a:solidFill>
                  <a:srgbClr val="5EE9B5"/>
                </a:solidFill>
                <a:latin typeface="Cambria"/>
                <a:ea typeface="Cambria"/>
                <a:cs typeface="Cambria"/>
                <a:sym typeface="Cambria"/>
              </a:rPr>
              <a:t>4.00</a:t>
            </a:r>
            <a:endParaRPr b="0" i="0" sz="2200" u="none" cap="none" strike="noStrike">
              <a:solidFill>
                <a:schemeClr val="dk1"/>
              </a:solidFill>
              <a:latin typeface="Calibri"/>
              <a:ea typeface="Calibri"/>
              <a:cs typeface="Calibri"/>
              <a:sym typeface="Calibri"/>
            </a:endParaRPr>
          </a:p>
        </p:txBody>
      </p:sp>
      <p:sp>
        <p:nvSpPr>
          <p:cNvPr id="217" name="Google Shape;217;p7"/>
          <p:cNvSpPr txBox="1"/>
          <p:nvPr/>
        </p:nvSpPr>
        <p:spPr>
          <a:xfrm>
            <a:off x="5330952" y="3145536"/>
            <a:ext cx="91440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priority</a:t>
            </a:r>
            <a:endParaRPr b="0" i="0" sz="750" u="none" cap="none" strike="noStrike">
              <a:solidFill>
                <a:schemeClr val="dk1"/>
              </a:solidFill>
              <a:latin typeface="Calibri"/>
              <a:ea typeface="Calibri"/>
              <a:cs typeface="Calibri"/>
              <a:sym typeface="Calibri"/>
            </a:endParaRPr>
          </a:p>
        </p:txBody>
      </p:sp>
      <p:sp>
        <p:nvSpPr>
          <p:cNvPr id="218" name="Google Shape;218;p7"/>
          <p:cNvSpPr/>
          <p:nvPr/>
        </p:nvSpPr>
        <p:spPr>
          <a:xfrm>
            <a:off x="6446520" y="2935224"/>
            <a:ext cx="2011680" cy="256032"/>
          </a:xfrm>
          <a:prstGeom prst="roundRect">
            <a:avLst>
              <a:gd fmla="val 21429"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7"/>
          <p:cNvSpPr txBox="1"/>
          <p:nvPr/>
        </p:nvSpPr>
        <p:spPr>
          <a:xfrm>
            <a:off x="6446520" y="2935224"/>
            <a:ext cx="201168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850"/>
              <a:buFont typeface="Courier New"/>
              <a:buNone/>
            </a:pPr>
            <a:r>
              <a:rPr b="0" i="0" lang="en-US" sz="850" u="none" cap="none" strike="noStrike">
                <a:solidFill>
                  <a:srgbClr val="5EE9B5"/>
                </a:solidFill>
                <a:latin typeface="Courier New"/>
                <a:ea typeface="Courier New"/>
                <a:cs typeface="Courier New"/>
                <a:sym typeface="Courier New"/>
              </a:rPr>
              <a:t>FIX THIS AFTERNOON</a:t>
            </a:r>
            <a:endParaRPr b="0" i="0" sz="850" u="none" cap="none" strike="noStrike">
              <a:solidFill>
                <a:schemeClr val="dk1"/>
              </a:solidFill>
              <a:latin typeface="Calibri"/>
              <a:ea typeface="Calibri"/>
              <a:cs typeface="Calibri"/>
              <a:sym typeface="Calibri"/>
            </a:endParaRPr>
          </a:p>
        </p:txBody>
      </p:sp>
      <p:sp>
        <p:nvSpPr>
          <p:cNvPr id="220" name="Google Shape;220;p7"/>
          <p:cNvSpPr/>
          <p:nvPr/>
        </p:nvSpPr>
        <p:spPr>
          <a:xfrm>
            <a:off x="502920" y="3438144"/>
            <a:ext cx="8138160" cy="566928"/>
          </a:xfrm>
          <a:prstGeom prst="roundRect">
            <a:avLst>
              <a:gd fmla="val 14516"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7"/>
          <p:cNvSpPr txBox="1"/>
          <p:nvPr/>
        </p:nvSpPr>
        <p:spPr>
          <a:xfrm>
            <a:off x="667512" y="3493008"/>
            <a:ext cx="21031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000"/>
              <a:buFont typeface="Courier New"/>
              <a:buNone/>
            </a:pPr>
            <a:r>
              <a:rPr b="1" i="0" lang="en-US" sz="1000" u="none" cap="none" strike="noStrike">
                <a:solidFill>
                  <a:srgbClr val="E9DFFF"/>
                </a:solidFill>
                <a:latin typeface="Courier New"/>
                <a:ea typeface="Courier New"/>
                <a:cs typeface="Courier New"/>
                <a:sym typeface="Courier New"/>
              </a:rPr>
              <a:t>encode/httpx#3071</a:t>
            </a:r>
            <a:endParaRPr b="0" i="0" sz="1000" u="none" cap="none" strike="noStrike">
              <a:solidFill>
                <a:schemeClr val="dk1"/>
              </a:solidFill>
              <a:latin typeface="Calibri"/>
              <a:ea typeface="Calibri"/>
              <a:cs typeface="Calibri"/>
              <a:sym typeface="Calibri"/>
            </a:endParaRPr>
          </a:p>
        </p:txBody>
      </p:sp>
      <p:sp>
        <p:nvSpPr>
          <p:cNvPr id="222" name="Google Shape;222;p7"/>
          <p:cNvSpPr txBox="1"/>
          <p:nvPr/>
        </p:nvSpPr>
        <p:spPr>
          <a:xfrm>
            <a:off x="667512" y="3721608"/>
            <a:ext cx="21031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transport rewrite</a:t>
            </a:r>
            <a:endParaRPr b="0" i="0" sz="950" u="none" cap="none" strike="noStrike">
              <a:solidFill>
                <a:schemeClr val="dk1"/>
              </a:solidFill>
              <a:latin typeface="Calibri"/>
              <a:ea typeface="Calibri"/>
              <a:cs typeface="Calibri"/>
              <a:sym typeface="Calibri"/>
            </a:endParaRPr>
          </a:p>
        </p:txBody>
      </p:sp>
      <p:sp>
        <p:nvSpPr>
          <p:cNvPr id="223" name="Google Shape;223;p7"/>
          <p:cNvSpPr txBox="1"/>
          <p:nvPr/>
        </p:nvSpPr>
        <p:spPr>
          <a:xfrm>
            <a:off x="2898648" y="3483864"/>
            <a:ext cx="100584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mbria"/>
              <a:buNone/>
            </a:pPr>
            <a:r>
              <a:rPr b="1" i="0" lang="en-US" sz="2200" u="none" cap="none" strike="noStrike">
                <a:solidFill>
                  <a:srgbClr val="FFFFFF"/>
                </a:solidFill>
                <a:latin typeface="Cambria"/>
                <a:ea typeface="Cambria"/>
                <a:cs typeface="Cambria"/>
                <a:sym typeface="Cambria"/>
              </a:rPr>
              <a:t>6</a:t>
            </a:r>
            <a:endParaRPr b="0" i="0" sz="2200" u="none" cap="none" strike="noStrike">
              <a:solidFill>
                <a:schemeClr val="dk1"/>
              </a:solidFill>
              <a:latin typeface="Calibri"/>
              <a:ea typeface="Calibri"/>
              <a:cs typeface="Calibri"/>
              <a:sym typeface="Calibri"/>
            </a:endParaRPr>
          </a:p>
        </p:txBody>
      </p:sp>
      <p:sp>
        <p:nvSpPr>
          <p:cNvPr id="224" name="Google Shape;224;p7"/>
          <p:cNvSpPr txBox="1"/>
          <p:nvPr/>
        </p:nvSpPr>
        <p:spPr>
          <a:xfrm>
            <a:off x="2898648" y="3803904"/>
            <a:ext cx="10058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interest</a:t>
            </a:r>
            <a:endParaRPr b="0" i="0" sz="750" u="none" cap="none" strike="noStrike">
              <a:solidFill>
                <a:schemeClr val="dk1"/>
              </a:solidFill>
              <a:latin typeface="Calibri"/>
              <a:ea typeface="Calibri"/>
              <a:cs typeface="Calibri"/>
              <a:sym typeface="Calibri"/>
            </a:endParaRPr>
          </a:p>
        </p:txBody>
      </p:sp>
      <p:sp>
        <p:nvSpPr>
          <p:cNvPr id="225" name="Google Shape;225;p7"/>
          <p:cNvSpPr txBox="1"/>
          <p:nvPr/>
        </p:nvSpPr>
        <p:spPr>
          <a:xfrm>
            <a:off x="4069080" y="3483864"/>
            <a:ext cx="100584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mbria"/>
              <a:buNone/>
            </a:pPr>
            <a:r>
              <a:rPr b="1" i="0" lang="en-US" sz="2200" u="none" cap="none" strike="noStrike">
                <a:solidFill>
                  <a:srgbClr val="FFFFFF"/>
                </a:solidFill>
                <a:latin typeface="Cambria"/>
                <a:ea typeface="Cambria"/>
                <a:cs typeface="Cambria"/>
                <a:sym typeface="Cambria"/>
              </a:rPr>
              <a:t>9</a:t>
            </a:r>
            <a:endParaRPr b="0" i="0" sz="2200" u="none" cap="none" strike="noStrike">
              <a:solidFill>
                <a:schemeClr val="dk1"/>
              </a:solidFill>
              <a:latin typeface="Calibri"/>
              <a:ea typeface="Calibri"/>
              <a:cs typeface="Calibri"/>
              <a:sym typeface="Calibri"/>
            </a:endParaRPr>
          </a:p>
        </p:txBody>
      </p:sp>
      <p:sp>
        <p:nvSpPr>
          <p:cNvPr id="226" name="Google Shape;226;p7"/>
          <p:cNvSpPr txBox="1"/>
          <p:nvPr/>
        </p:nvSpPr>
        <p:spPr>
          <a:xfrm>
            <a:off x="4069080" y="3803904"/>
            <a:ext cx="10058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principal</a:t>
            </a:r>
            <a:endParaRPr b="0" i="0" sz="750" u="none" cap="none" strike="noStrike">
              <a:solidFill>
                <a:schemeClr val="dk1"/>
              </a:solidFill>
              <a:latin typeface="Calibri"/>
              <a:ea typeface="Calibri"/>
              <a:cs typeface="Calibri"/>
              <a:sym typeface="Calibri"/>
            </a:endParaRPr>
          </a:p>
        </p:txBody>
      </p:sp>
      <p:sp>
        <p:nvSpPr>
          <p:cNvPr id="227" name="Google Shape;227;p7"/>
          <p:cNvSpPr txBox="1"/>
          <p:nvPr/>
        </p:nvSpPr>
        <p:spPr>
          <a:xfrm>
            <a:off x="3904488" y="3529584"/>
            <a:ext cx="182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1600"/>
              <a:buFont typeface="Calibri"/>
              <a:buNone/>
            </a:pPr>
            <a:r>
              <a:rPr b="0" i="0" lang="en-US" sz="1600" u="none" cap="none" strike="noStrike">
                <a:solidFill>
                  <a:srgbClr val="A78BFA"/>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28" name="Google Shape;228;p7"/>
          <p:cNvSpPr txBox="1"/>
          <p:nvPr/>
        </p:nvSpPr>
        <p:spPr>
          <a:xfrm>
            <a:off x="5074920" y="3529584"/>
            <a:ext cx="21945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1600"/>
              <a:buFont typeface="Calibri"/>
              <a:buNone/>
            </a:pPr>
            <a:r>
              <a:rPr b="0" i="0" lang="en-US" sz="1600" u="none" cap="none" strike="noStrike">
                <a:solidFill>
                  <a:srgbClr val="A78BFA"/>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29" name="Google Shape;229;p7"/>
          <p:cNvSpPr txBox="1"/>
          <p:nvPr/>
        </p:nvSpPr>
        <p:spPr>
          <a:xfrm>
            <a:off x="5330952" y="3483864"/>
            <a:ext cx="91440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7185"/>
              </a:buClr>
              <a:buSzPts val="2200"/>
              <a:buFont typeface="Cambria"/>
              <a:buNone/>
            </a:pPr>
            <a:r>
              <a:rPr b="1" i="0" lang="en-US" sz="2200" u="none" cap="none" strike="noStrike">
                <a:solidFill>
                  <a:srgbClr val="FB7185"/>
                </a:solidFill>
                <a:latin typeface="Cambria"/>
                <a:ea typeface="Cambria"/>
                <a:cs typeface="Cambria"/>
                <a:sym typeface="Cambria"/>
              </a:rPr>
              <a:t>0.67</a:t>
            </a:r>
            <a:endParaRPr b="0" i="0" sz="2200" u="none" cap="none" strike="noStrike">
              <a:solidFill>
                <a:schemeClr val="dk1"/>
              </a:solidFill>
              <a:latin typeface="Calibri"/>
              <a:ea typeface="Calibri"/>
              <a:cs typeface="Calibri"/>
              <a:sym typeface="Calibri"/>
            </a:endParaRPr>
          </a:p>
        </p:txBody>
      </p:sp>
      <p:sp>
        <p:nvSpPr>
          <p:cNvPr id="230" name="Google Shape;230;p7"/>
          <p:cNvSpPr txBox="1"/>
          <p:nvPr/>
        </p:nvSpPr>
        <p:spPr>
          <a:xfrm>
            <a:off x="5330952" y="3803904"/>
            <a:ext cx="91440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priority</a:t>
            </a:r>
            <a:endParaRPr b="0" i="0" sz="750" u="none" cap="none" strike="noStrike">
              <a:solidFill>
                <a:schemeClr val="dk1"/>
              </a:solidFill>
              <a:latin typeface="Calibri"/>
              <a:ea typeface="Calibri"/>
              <a:cs typeface="Calibri"/>
              <a:sym typeface="Calibri"/>
            </a:endParaRPr>
          </a:p>
        </p:txBody>
      </p:sp>
      <p:sp>
        <p:nvSpPr>
          <p:cNvPr id="231" name="Google Shape;231;p7"/>
          <p:cNvSpPr/>
          <p:nvPr/>
        </p:nvSpPr>
        <p:spPr>
          <a:xfrm>
            <a:off x="6446520" y="3593592"/>
            <a:ext cx="2011680" cy="256032"/>
          </a:xfrm>
          <a:prstGeom prst="roundRect">
            <a:avLst>
              <a:gd fmla="val 21429"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7"/>
          <p:cNvSpPr txBox="1"/>
          <p:nvPr/>
        </p:nvSpPr>
        <p:spPr>
          <a:xfrm>
            <a:off x="6446520" y="3593592"/>
            <a:ext cx="201168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7185"/>
              </a:buClr>
              <a:buSzPts val="850"/>
              <a:buFont typeface="Courier New"/>
              <a:buNone/>
            </a:pPr>
            <a:r>
              <a:rPr b="0" i="0" lang="en-US" sz="850" u="none" cap="none" strike="noStrike">
                <a:solidFill>
                  <a:srgbClr val="FB7185"/>
                </a:solidFill>
                <a:latin typeface="Courier New"/>
                <a:ea typeface="Courier New"/>
                <a:cs typeface="Courier New"/>
                <a:sym typeface="Courier New"/>
              </a:rPr>
              <a:t>DO NOT START IT HERE</a:t>
            </a:r>
            <a:endParaRPr b="0" i="0" sz="850" u="none" cap="none" strike="noStrike">
              <a:solidFill>
                <a:schemeClr val="dk1"/>
              </a:solidFill>
              <a:latin typeface="Calibri"/>
              <a:ea typeface="Calibri"/>
              <a:cs typeface="Calibri"/>
              <a:sym typeface="Calibri"/>
            </a:endParaRPr>
          </a:p>
        </p:txBody>
      </p:sp>
      <p:sp>
        <p:nvSpPr>
          <p:cNvPr id="233" name="Google Shape;233;p7"/>
          <p:cNvSpPr/>
          <p:nvPr/>
        </p:nvSpPr>
        <p:spPr>
          <a:xfrm>
            <a:off x="502920" y="4443984"/>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238" name="Shape 238"/>
        <p:cNvGrpSpPr/>
        <p:nvPr/>
      </p:nvGrpSpPr>
      <p:grpSpPr>
        <a:xfrm>
          <a:off x="0" y="0"/>
          <a:ext cx="0" cy="0"/>
          <a:chOff x="0" y="0"/>
          <a:chExt cx="0" cy="0"/>
        </a:xfrm>
      </p:grpSpPr>
      <p:sp>
        <p:nvSpPr>
          <p:cNvPr id="239" name="Google Shape;239;p8"/>
          <p:cNvSpPr/>
          <p:nvPr/>
        </p:nvSpPr>
        <p:spPr>
          <a:xfrm>
            <a:off x="502920" y="502920"/>
            <a:ext cx="8138160" cy="4114800"/>
          </a:xfrm>
          <a:prstGeom prst="roundRect">
            <a:avLst>
              <a:gd fmla="val 3111" name="adj"/>
            </a:avLst>
          </a:prstGeom>
          <a:solidFill>
            <a:srgbClr val="34234F"/>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8"/>
          <p:cNvSpPr/>
          <p:nvPr/>
        </p:nvSpPr>
        <p:spPr>
          <a:xfrm>
            <a:off x="960120" y="960120"/>
            <a:ext cx="713232" cy="7132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txBox="1"/>
          <p:nvPr/>
        </p:nvSpPr>
        <p:spPr>
          <a:xfrm>
            <a:off x="960120" y="960120"/>
            <a:ext cx="713232"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2600"/>
              <a:buFont typeface="Courier New"/>
              <a:buNone/>
            </a:pPr>
            <a:r>
              <a:rPr b="1" i="0" lang="en-US" sz="2600" u="none" cap="none" strike="noStrike">
                <a:solidFill>
                  <a:srgbClr val="2A1B3D"/>
                </a:solidFill>
                <a:latin typeface="Courier New"/>
                <a:ea typeface="Courier New"/>
                <a:cs typeface="Courier New"/>
                <a:sym typeface="Courier New"/>
              </a:rPr>
              <a:t>0</a:t>
            </a:r>
            <a:endParaRPr b="0" i="0" sz="2600" u="none" cap="none" strike="noStrike">
              <a:solidFill>
                <a:schemeClr val="dk1"/>
              </a:solidFill>
              <a:latin typeface="Calibri"/>
              <a:ea typeface="Calibri"/>
              <a:cs typeface="Calibri"/>
              <a:sym typeface="Calibri"/>
            </a:endParaRPr>
          </a:p>
        </p:txBody>
      </p:sp>
      <p:sp>
        <p:nvSpPr>
          <p:cNvPr id="242" name="Google Shape;242;p8"/>
          <p:cNvSpPr txBox="1"/>
          <p:nvPr/>
        </p:nvSpPr>
        <p:spPr>
          <a:xfrm>
            <a:off x="1874520" y="987552"/>
            <a:ext cx="5120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100"/>
              <a:buFont typeface="Courier New"/>
              <a:buNone/>
            </a:pPr>
            <a:r>
              <a:rPr b="0" i="0" lang="en-US" sz="1100" u="none" cap="none" strike="noStrike">
                <a:solidFill>
                  <a:srgbClr val="A78BFA"/>
                </a:solidFill>
                <a:latin typeface="Courier New"/>
                <a:ea typeface="Courier New"/>
                <a:cs typeface="Courier New"/>
                <a:sym typeface="Courier New"/>
              </a:rPr>
              <a:t>HANDS-ON · THE ONLY HARD SYNC POINT</a:t>
            </a:r>
            <a:endParaRPr b="0" i="0" sz="1100" u="none" cap="none" strike="noStrike">
              <a:solidFill>
                <a:schemeClr val="dk1"/>
              </a:solidFill>
              <a:latin typeface="Calibri"/>
              <a:ea typeface="Calibri"/>
              <a:cs typeface="Calibri"/>
              <a:sym typeface="Calibri"/>
            </a:endParaRPr>
          </a:p>
        </p:txBody>
      </p:sp>
      <p:sp>
        <p:nvSpPr>
          <p:cNvPr id="243" name="Google Shape;243;p8"/>
          <p:cNvSpPr txBox="1"/>
          <p:nvPr/>
        </p:nvSpPr>
        <p:spPr>
          <a:xfrm>
            <a:off x="1874520" y="1261872"/>
            <a:ext cx="6035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Setup + beginner basics</a:t>
            </a:r>
            <a:endParaRPr b="0" i="0" sz="3200" u="none" cap="none" strike="noStrike">
              <a:solidFill>
                <a:schemeClr val="dk1"/>
              </a:solidFill>
              <a:latin typeface="Calibri"/>
              <a:ea typeface="Calibri"/>
              <a:cs typeface="Calibri"/>
              <a:sym typeface="Calibri"/>
            </a:endParaRPr>
          </a:p>
        </p:txBody>
      </p:sp>
      <p:sp>
        <p:nvSpPr>
          <p:cNvPr id="244" name="Google Shape;244;p8"/>
          <p:cNvSpPr txBox="1"/>
          <p:nvPr/>
        </p:nvSpPr>
        <p:spPr>
          <a:xfrm>
            <a:off x="1892808" y="1810512"/>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245" name="Google Shape;245;p8"/>
          <p:cNvSpPr txBox="1"/>
          <p:nvPr/>
        </p:nvSpPr>
        <p:spPr>
          <a:xfrm>
            <a:off x="2130552" y="1810512"/>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§0.1  pip install the toolbox — openai · radon · pylint · pytest · langgraph · deepagents · PyExamine · MLScent</a:t>
            </a:r>
            <a:endParaRPr b="0" i="0" sz="1100" u="none" cap="none" strike="noStrike">
              <a:solidFill>
                <a:schemeClr val="dk1"/>
              </a:solidFill>
              <a:latin typeface="Calibri"/>
              <a:ea typeface="Calibri"/>
              <a:cs typeface="Calibri"/>
              <a:sym typeface="Calibri"/>
            </a:endParaRPr>
          </a:p>
        </p:txBody>
      </p:sp>
      <p:sp>
        <p:nvSpPr>
          <p:cNvPr id="246" name="Google Shape;246;p8"/>
          <p:cNvSpPr txBox="1"/>
          <p:nvPr/>
        </p:nvSpPr>
        <p:spPr>
          <a:xfrm>
            <a:off x="1892808" y="2194560"/>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247" name="Google Shape;247;p8"/>
          <p:cNvSpPr txBox="1"/>
          <p:nvPr/>
        </p:nvSpPr>
        <p:spPr>
          <a:xfrm>
            <a:off x="2130552" y="2194560"/>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§0.2  OPENROUTER_API_KEY from os.environ → .env → Colab Secrets → hidden prompt. Never paste a key in a cell.</a:t>
            </a:r>
            <a:endParaRPr b="0" i="0" sz="1100" u="none" cap="none" strike="noStrike">
              <a:solidFill>
                <a:schemeClr val="dk1"/>
              </a:solidFill>
              <a:latin typeface="Calibri"/>
              <a:ea typeface="Calibri"/>
              <a:cs typeface="Calibri"/>
              <a:sym typeface="Calibri"/>
            </a:endParaRPr>
          </a:p>
        </p:txBody>
      </p:sp>
      <p:sp>
        <p:nvSpPr>
          <p:cNvPr id="248" name="Google Shape;248;p8"/>
          <p:cNvSpPr txBox="1"/>
          <p:nvPr/>
        </p:nvSpPr>
        <p:spPr>
          <a:xfrm>
            <a:off x="1892808" y="2578608"/>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249" name="Google Shape;249;p8"/>
          <p:cNvSpPr txBox="1"/>
          <p:nvPr/>
        </p:nvSpPr>
        <p:spPr>
          <a:xfrm>
            <a:off x="2130552" y="2578608"/>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§0.3  switch_model("openai/gpt-5.6-luna") — the brain is one environment variable plus reset_client().</a:t>
            </a:r>
            <a:endParaRPr b="0" i="0" sz="1100" u="none" cap="none" strike="noStrike">
              <a:solidFill>
                <a:schemeClr val="dk1"/>
              </a:solidFill>
              <a:latin typeface="Calibri"/>
              <a:ea typeface="Calibri"/>
              <a:cs typeface="Calibri"/>
              <a:sym typeface="Calibri"/>
            </a:endParaRPr>
          </a:p>
        </p:txBody>
      </p:sp>
      <p:sp>
        <p:nvSpPr>
          <p:cNvPr id="250" name="Google Shape;250;p8"/>
          <p:cNvSpPr txBox="1"/>
          <p:nvPr/>
        </p:nvSpPr>
        <p:spPr>
          <a:xfrm>
            <a:off x="1892808" y="2962656"/>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251" name="Google Shape;251;p8"/>
          <p:cNvSpPr txBox="1"/>
          <p:nvPr/>
        </p:nvSpPr>
        <p:spPr>
          <a:xfrm>
            <a:off x="2130552" y="2962656"/>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§0.5  Six words: LLM call · tokens · tool · agent · gate · workflow.</a:t>
            </a:r>
            <a:endParaRPr b="0" i="0" sz="1100" u="none" cap="none" strike="noStrike">
              <a:solidFill>
                <a:schemeClr val="dk1"/>
              </a:solidFill>
              <a:latin typeface="Calibri"/>
              <a:ea typeface="Calibri"/>
              <a:cs typeface="Calibri"/>
              <a:sym typeface="Calibri"/>
            </a:endParaRPr>
          </a:p>
        </p:txBody>
      </p:sp>
      <p:sp>
        <p:nvSpPr>
          <p:cNvPr id="252" name="Google Shape;252;p8"/>
          <p:cNvSpPr txBox="1"/>
          <p:nvPr/>
        </p:nvSpPr>
        <p:spPr>
          <a:xfrm>
            <a:off x="1892808" y="3346704"/>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253" name="Google Shape;253;p8"/>
          <p:cNvSpPr txBox="1"/>
          <p:nvPr/>
        </p:nvSpPr>
        <p:spPr>
          <a:xfrm>
            <a:off x="2130552" y="3346704"/>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§0.8  write_case_study() writes PayFlow + the churn trainer to disk — no git clone, no venue Wi-Fi.</a:t>
            </a:r>
            <a:endParaRPr b="0" i="0" sz="1100" u="none" cap="none" strike="noStrike">
              <a:solidFill>
                <a:schemeClr val="dk1"/>
              </a:solidFill>
              <a:latin typeface="Calibri"/>
              <a:ea typeface="Calibri"/>
              <a:cs typeface="Calibri"/>
              <a:sym typeface="Calibri"/>
            </a:endParaRPr>
          </a:p>
        </p:txBody>
      </p:sp>
      <p:sp>
        <p:nvSpPr>
          <p:cNvPr id="254" name="Google Shape;254;p8"/>
          <p:cNvSpPr/>
          <p:nvPr/>
        </p:nvSpPr>
        <p:spPr>
          <a:xfrm>
            <a:off x="1874520" y="4187952"/>
            <a:ext cx="16002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8"/>
          <p:cNvSpPr txBox="1"/>
          <p:nvPr/>
        </p:nvSpPr>
        <p:spPr>
          <a:xfrm>
            <a:off x="1874520" y="4187952"/>
            <a:ext cx="16002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0:00 – 0:25</a:t>
            </a:r>
            <a:endParaRPr b="0" i="0" sz="950" u="none" cap="none" strike="noStrike">
              <a:solidFill>
                <a:schemeClr val="dk1"/>
              </a:solidFill>
              <a:latin typeface="Calibri"/>
              <a:ea typeface="Calibri"/>
              <a:cs typeface="Calibri"/>
              <a:sym typeface="Calibri"/>
            </a:endParaRPr>
          </a:p>
        </p:txBody>
      </p:sp>
      <p:sp>
        <p:nvSpPr>
          <p:cNvPr id="256" name="Google Shape;256;p8"/>
          <p:cNvSpPr/>
          <p:nvPr/>
        </p:nvSpPr>
        <p:spPr>
          <a:xfrm>
            <a:off x="3593592" y="4187952"/>
            <a:ext cx="22860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8"/>
          <p:cNvSpPr txBox="1"/>
          <p:nvPr/>
        </p:nvSpPr>
        <p:spPr>
          <a:xfrm>
            <a:off x="3593592" y="4187952"/>
            <a:ext cx="2286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950"/>
              <a:buFont typeface="Courier New"/>
              <a:buNone/>
            </a:pPr>
            <a:r>
              <a:rPr b="0" i="0" lang="en-US" sz="950" u="none" cap="none" strike="noStrike">
                <a:solidFill>
                  <a:srgbClr val="5EE9B5"/>
                </a:solidFill>
                <a:latin typeface="Courier New"/>
                <a:ea typeface="Courier New"/>
                <a:cs typeface="Courier New"/>
                <a:sym typeface="Courier New"/>
              </a:rPr>
              <a:t>NOTEBOOK · PART 0</a:t>
            </a:r>
            <a:endParaRPr b="0" i="0" sz="950" u="none" cap="none" strike="noStrike">
              <a:solidFill>
                <a:schemeClr val="dk1"/>
              </a:solidFill>
              <a:latin typeface="Calibri"/>
              <a:ea typeface="Calibri"/>
              <a:cs typeface="Calibri"/>
              <a:sym typeface="Calibri"/>
            </a:endParaRPr>
          </a:p>
        </p:txBody>
      </p:sp>
      <p:sp>
        <p:nvSpPr>
          <p:cNvPr id="258" name="Google Shape;258;p8">
            <a:hlinkClick action="ppaction://hlinksldjump" r:id="rId3"/>
          </p:cNvPr>
          <p:cNvSpPr txBox="1"/>
          <p:nvPr/>
        </p:nvSpPr>
        <p:spPr>
          <a:xfrm>
            <a:off x="7406640" y="4206240"/>
            <a:ext cx="96012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263" name="Shape 263"/>
        <p:cNvGrpSpPr/>
        <p:nvPr/>
      </p:nvGrpSpPr>
      <p:grpSpPr>
        <a:xfrm>
          <a:off x="0" y="0"/>
          <a:ext cx="0" cy="0"/>
          <a:chOff x="0" y="0"/>
          <a:chExt cx="0" cy="0"/>
        </a:xfrm>
      </p:grpSpPr>
      <p:sp>
        <p:nvSpPr>
          <p:cNvPr id="264" name="Google Shape;264;p9"/>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§0.2 – §0.3 · YOUR KEY, YOUR BUDGET, YOUR BRAIN</a:t>
            </a:r>
            <a:endParaRPr b="0" i="0" sz="1050" u="none" cap="none" strike="noStrike">
              <a:solidFill>
                <a:schemeClr val="dk1"/>
              </a:solidFill>
              <a:latin typeface="Calibri"/>
              <a:ea typeface="Calibri"/>
              <a:cs typeface="Calibri"/>
              <a:sym typeface="Calibri"/>
            </a:endParaRPr>
          </a:p>
        </p:txBody>
      </p:sp>
      <p:sp>
        <p:nvSpPr>
          <p:cNvPr id="265" name="Google Shape;265;p9"/>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One env var picks the brain. One function swaps it.</a:t>
            </a:r>
            <a:endParaRPr b="0" i="0" sz="2700" u="none" cap="none" strike="noStrike">
              <a:solidFill>
                <a:schemeClr val="dk1"/>
              </a:solidFill>
              <a:latin typeface="Calibri"/>
              <a:ea typeface="Calibri"/>
              <a:cs typeface="Calibri"/>
              <a:sym typeface="Calibri"/>
            </a:endParaRPr>
          </a:p>
        </p:txBody>
      </p:sp>
      <p:sp>
        <p:nvSpPr>
          <p:cNvPr id="266" name="Google Shape;266;p9">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267" name="Google Shape;267;p9"/>
          <p:cNvSpPr/>
          <p:nvPr/>
        </p:nvSpPr>
        <p:spPr>
          <a:xfrm>
            <a:off x="502920" y="1133856"/>
            <a:ext cx="3886200" cy="1755648"/>
          </a:xfrm>
          <a:prstGeom prst="roundRect">
            <a:avLst>
              <a:gd fmla="val 4688"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9"/>
          <p:cNvSpPr txBox="1"/>
          <p:nvPr/>
        </p:nvSpPr>
        <p:spPr>
          <a:xfrm>
            <a:off x="667512" y="1243584"/>
            <a:ext cx="35661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50"/>
              <a:buFont typeface="Courier New"/>
              <a:buNone/>
            </a:pPr>
            <a:r>
              <a:rPr b="0" i="0" lang="en-US" sz="850" u="none" cap="none" strike="noStrike">
                <a:solidFill>
                  <a:srgbClr val="A78BFA"/>
                </a:solidFill>
                <a:latin typeface="Courier New"/>
                <a:ea typeface="Courier New"/>
                <a:cs typeface="Courier New"/>
                <a:sym typeface="Courier New"/>
              </a:rPr>
              <a:t>LOAD ORDER — first hit wins</a:t>
            </a:r>
            <a:endParaRPr b="0" i="0" sz="850" u="none" cap="none" strike="noStrike">
              <a:solidFill>
                <a:schemeClr val="dk1"/>
              </a:solidFill>
              <a:latin typeface="Calibri"/>
              <a:ea typeface="Calibri"/>
              <a:cs typeface="Calibri"/>
              <a:sym typeface="Calibri"/>
            </a:endParaRPr>
          </a:p>
        </p:txBody>
      </p:sp>
      <p:sp>
        <p:nvSpPr>
          <p:cNvPr id="269" name="Google Shape;269;p9"/>
          <p:cNvSpPr/>
          <p:nvPr/>
        </p:nvSpPr>
        <p:spPr>
          <a:xfrm>
            <a:off x="685800" y="1545336"/>
            <a:ext cx="219456" cy="219456"/>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9"/>
          <p:cNvSpPr txBox="1"/>
          <p:nvPr/>
        </p:nvSpPr>
        <p:spPr>
          <a:xfrm>
            <a:off x="685800" y="1545336"/>
            <a:ext cx="219456"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1</a:t>
            </a:r>
            <a:endParaRPr b="0" i="0" sz="900" u="none" cap="none" strike="noStrike">
              <a:solidFill>
                <a:schemeClr val="dk1"/>
              </a:solidFill>
              <a:latin typeface="Calibri"/>
              <a:ea typeface="Calibri"/>
              <a:cs typeface="Calibri"/>
              <a:sym typeface="Calibri"/>
            </a:endParaRPr>
          </a:p>
        </p:txBody>
      </p:sp>
      <p:sp>
        <p:nvSpPr>
          <p:cNvPr id="271" name="Google Shape;271;p9"/>
          <p:cNvSpPr txBox="1"/>
          <p:nvPr/>
        </p:nvSpPr>
        <p:spPr>
          <a:xfrm>
            <a:off x="996696" y="1517904"/>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ourier New"/>
              <a:buNone/>
            </a:pPr>
            <a:r>
              <a:rPr b="1" i="0" lang="en-US" sz="1000" u="none" cap="none" strike="noStrike">
                <a:solidFill>
                  <a:srgbClr val="FFFFFF"/>
                </a:solidFill>
                <a:latin typeface="Courier New"/>
                <a:ea typeface="Courier New"/>
                <a:cs typeface="Courier New"/>
                <a:sym typeface="Courier New"/>
              </a:rPr>
              <a:t>os.environ</a:t>
            </a:r>
            <a:endParaRPr b="0" i="0" sz="1000" u="none" cap="none" strike="noStrike">
              <a:solidFill>
                <a:schemeClr val="dk1"/>
              </a:solidFill>
              <a:latin typeface="Calibri"/>
              <a:ea typeface="Calibri"/>
              <a:cs typeface="Calibri"/>
              <a:sym typeface="Calibri"/>
            </a:endParaRPr>
          </a:p>
        </p:txBody>
      </p:sp>
      <p:sp>
        <p:nvSpPr>
          <p:cNvPr id="272" name="Google Shape;272;p9"/>
          <p:cNvSpPr txBox="1"/>
          <p:nvPr/>
        </p:nvSpPr>
        <p:spPr>
          <a:xfrm>
            <a:off x="2258568" y="1517904"/>
            <a:ext cx="2011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already exported in your shell</a:t>
            </a:r>
            <a:endParaRPr b="0" i="0" sz="950" u="none" cap="none" strike="noStrike">
              <a:solidFill>
                <a:schemeClr val="dk1"/>
              </a:solidFill>
              <a:latin typeface="Calibri"/>
              <a:ea typeface="Calibri"/>
              <a:cs typeface="Calibri"/>
              <a:sym typeface="Calibri"/>
            </a:endParaRPr>
          </a:p>
        </p:txBody>
      </p:sp>
      <p:sp>
        <p:nvSpPr>
          <p:cNvPr id="273" name="Google Shape;273;p9"/>
          <p:cNvSpPr/>
          <p:nvPr/>
        </p:nvSpPr>
        <p:spPr>
          <a:xfrm>
            <a:off x="685800" y="1874520"/>
            <a:ext cx="219456" cy="219456"/>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9"/>
          <p:cNvSpPr txBox="1"/>
          <p:nvPr/>
        </p:nvSpPr>
        <p:spPr>
          <a:xfrm>
            <a:off x="685800" y="1874520"/>
            <a:ext cx="219456"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2</a:t>
            </a:r>
            <a:endParaRPr b="0" i="0" sz="900" u="none" cap="none" strike="noStrike">
              <a:solidFill>
                <a:schemeClr val="dk1"/>
              </a:solidFill>
              <a:latin typeface="Calibri"/>
              <a:ea typeface="Calibri"/>
              <a:cs typeface="Calibri"/>
              <a:sym typeface="Calibri"/>
            </a:endParaRPr>
          </a:p>
        </p:txBody>
      </p:sp>
      <p:sp>
        <p:nvSpPr>
          <p:cNvPr id="275" name="Google Shape;275;p9"/>
          <p:cNvSpPr txBox="1"/>
          <p:nvPr/>
        </p:nvSpPr>
        <p:spPr>
          <a:xfrm>
            <a:off x="996696" y="1847088"/>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ourier New"/>
              <a:buNone/>
            </a:pPr>
            <a:r>
              <a:rPr b="1" i="0" lang="en-US" sz="1000" u="none" cap="none" strike="noStrike">
                <a:solidFill>
                  <a:srgbClr val="FFFFFF"/>
                </a:solidFill>
                <a:latin typeface="Courier New"/>
                <a:ea typeface="Courier New"/>
                <a:cs typeface="Courier New"/>
                <a:sym typeface="Courier New"/>
              </a:rPr>
              <a:t>.env file</a:t>
            </a:r>
            <a:endParaRPr b="0" i="0" sz="1000" u="none" cap="none" strike="noStrike">
              <a:solidFill>
                <a:schemeClr val="dk1"/>
              </a:solidFill>
              <a:latin typeface="Calibri"/>
              <a:ea typeface="Calibri"/>
              <a:cs typeface="Calibri"/>
              <a:sym typeface="Calibri"/>
            </a:endParaRPr>
          </a:p>
        </p:txBody>
      </p:sp>
      <p:sp>
        <p:nvSpPr>
          <p:cNvPr id="276" name="Google Shape;276;p9"/>
          <p:cNvSpPr txBox="1"/>
          <p:nvPr/>
        </p:nvSpPr>
        <p:spPr>
          <a:xfrm>
            <a:off x="2258568" y="1847088"/>
            <a:ext cx="2011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/content/.env or any parent folder</a:t>
            </a:r>
            <a:endParaRPr b="0" i="0" sz="950" u="none" cap="none" strike="noStrike">
              <a:solidFill>
                <a:schemeClr val="dk1"/>
              </a:solidFill>
              <a:latin typeface="Calibri"/>
              <a:ea typeface="Calibri"/>
              <a:cs typeface="Calibri"/>
              <a:sym typeface="Calibri"/>
            </a:endParaRPr>
          </a:p>
        </p:txBody>
      </p:sp>
      <p:sp>
        <p:nvSpPr>
          <p:cNvPr id="277" name="Google Shape;277;p9"/>
          <p:cNvSpPr/>
          <p:nvPr/>
        </p:nvSpPr>
        <p:spPr>
          <a:xfrm>
            <a:off x="685800" y="2203704"/>
            <a:ext cx="219456" cy="219456"/>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9"/>
          <p:cNvSpPr txBox="1"/>
          <p:nvPr/>
        </p:nvSpPr>
        <p:spPr>
          <a:xfrm>
            <a:off x="685800" y="2203704"/>
            <a:ext cx="219456"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3</a:t>
            </a:r>
            <a:endParaRPr b="0" i="0" sz="900" u="none" cap="none" strike="noStrike">
              <a:solidFill>
                <a:schemeClr val="dk1"/>
              </a:solidFill>
              <a:latin typeface="Calibri"/>
              <a:ea typeface="Calibri"/>
              <a:cs typeface="Calibri"/>
              <a:sym typeface="Calibri"/>
            </a:endParaRPr>
          </a:p>
        </p:txBody>
      </p:sp>
      <p:sp>
        <p:nvSpPr>
          <p:cNvPr id="279" name="Google Shape;279;p9"/>
          <p:cNvSpPr txBox="1"/>
          <p:nvPr/>
        </p:nvSpPr>
        <p:spPr>
          <a:xfrm>
            <a:off x="996696" y="2176272"/>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ourier New"/>
              <a:buNone/>
            </a:pPr>
            <a:r>
              <a:rPr b="1" i="0" lang="en-US" sz="1000" u="none" cap="none" strike="noStrike">
                <a:solidFill>
                  <a:srgbClr val="FFFFFF"/>
                </a:solidFill>
                <a:latin typeface="Courier New"/>
                <a:ea typeface="Courier New"/>
                <a:cs typeface="Courier New"/>
                <a:sym typeface="Courier New"/>
              </a:rPr>
              <a:t>Colab Secrets</a:t>
            </a:r>
            <a:endParaRPr b="0" i="0" sz="1000" u="none" cap="none" strike="noStrike">
              <a:solidFill>
                <a:schemeClr val="dk1"/>
              </a:solidFill>
              <a:latin typeface="Calibri"/>
              <a:ea typeface="Calibri"/>
              <a:cs typeface="Calibri"/>
              <a:sym typeface="Calibri"/>
            </a:endParaRPr>
          </a:p>
        </p:txBody>
      </p:sp>
      <p:sp>
        <p:nvSpPr>
          <p:cNvPr id="280" name="Google Shape;280;p9"/>
          <p:cNvSpPr txBox="1"/>
          <p:nvPr/>
        </p:nvSpPr>
        <p:spPr>
          <a:xfrm>
            <a:off x="2258568" y="2176272"/>
            <a:ext cx="2011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 sidebar → enable notebook access</a:t>
            </a:r>
            <a:endParaRPr b="0" i="0" sz="950" u="none" cap="none" strike="noStrike">
              <a:solidFill>
                <a:schemeClr val="dk1"/>
              </a:solidFill>
              <a:latin typeface="Calibri"/>
              <a:ea typeface="Calibri"/>
              <a:cs typeface="Calibri"/>
              <a:sym typeface="Calibri"/>
            </a:endParaRPr>
          </a:p>
        </p:txBody>
      </p:sp>
      <p:sp>
        <p:nvSpPr>
          <p:cNvPr id="281" name="Google Shape;281;p9"/>
          <p:cNvSpPr/>
          <p:nvPr/>
        </p:nvSpPr>
        <p:spPr>
          <a:xfrm>
            <a:off x="685800" y="2532888"/>
            <a:ext cx="219456" cy="219456"/>
          </a:xfrm>
          <a:prstGeom prst="ellipse">
            <a:avLst/>
          </a:prstGeom>
          <a:solidFill>
            <a:srgbClr val="BBA9DE"/>
          </a:solidFill>
          <a:ln cap="flat" cmpd="sng" w="12700">
            <a:solidFill>
              <a:srgbClr val="BBA9D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9"/>
          <p:cNvSpPr txBox="1"/>
          <p:nvPr/>
        </p:nvSpPr>
        <p:spPr>
          <a:xfrm>
            <a:off x="685800" y="2532888"/>
            <a:ext cx="219456"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4</a:t>
            </a:r>
            <a:endParaRPr b="0" i="0" sz="900" u="none" cap="none" strike="noStrike">
              <a:solidFill>
                <a:schemeClr val="dk1"/>
              </a:solidFill>
              <a:latin typeface="Calibri"/>
              <a:ea typeface="Calibri"/>
              <a:cs typeface="Calibri"/>
              <a:sym typeface="Calibri"/>
            </a:endParaRPr>
          </a:p>
        </p:txBody>
      </p:sp>
      <p:sp>
        <p:nvSpPr>
          <p:cNvPr id="283" name="Google Shape;283;p9"/>
          <p:cNvSpPr txBox="1"/>
          <p:nvPr/>
        </p:nvSpPr>
        <p:spPr>
          <a:xfrm>
            <a:off x="996696" y="2505456"/>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ourier New"/>
              <a:buNone/>
            </a:pPr>
            <a:r>
              <a:rPr b="1" i="0" lang="en-US" sz="1000" u="none" cap="none" strike="noStrike">
                <a:solidFill>
                  <a:srgbClr val="FFFFFF"/>
                </a:solidFill>
                <a:latin typeface="Courier New"/>
                <a:ea typeface="Courier New"/>
                <a:cs typeface="Courier New"/>
                <a:sym typeface="Courier New"/>
              </a:rPr>
              <a:t>hidden prompt</a:t>
            </a:r>
            <a:endParaRPr b="0" i="0" sz="1000" u="none" cap="none" strike="noStrike">
              <a:solidFill>
                <a:schemeClr val="dk1"/>
              </a:solidFill>
              <a:latin typeface="Calibri"/>
              <a:ea typeface="Calibri"/>
              <a:cs typeface="Calibri"/>
              <a:sym typeface="Calibri"/>
            </a:endParaRPr>
          </a:p>
        </p:txBody>
      </p:sp>
      <p:sp>
        <p:nvSpPr>
          <p:cNvPr id="284" name="Google Shape;284;p9"/>
          <p:cNvSpPr txBox="1"/>
          <p:nvPr/>
        </p:nvSpPr>
        <p:spPr>
          <a:xfrm>
            <a:off x="2258568" y="2505456"/>
            <a:ext cx="2011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getpass fallback — masked input</a:t>
            </a:r>
            <a:endParaRPr b="0" i="0" sz="950" u="none" cap="none" strike="noStrike">
              <a:solidFill>
                <a:schemeClr val="dk1"/>
              </a:solidFill>
              <a:latin typeface="Calibri"/>
              <a:ea typeface="Calibri"/>
              <a:cs typeface="Calibri"/>
              <a:sym typeface="Calibri"/>
            </a:endParaRPr>
          </a:p>
        </p:txBody>
      </p:sp>
      <p:sp>
        <p:nvSpPr>
          <p:cNvPr id="285" name="Google Shape;285;p9"/>
          <p:cNvSpPr/>
          <p:nvPr/>
        </p:nvSpPr>
        <p:spPr>
          <a:xfrm>
            <a:off x="4572000" y="1133856"/>
            <a:ext cx="4069080" cy="1755648"/>
          </a:xfrm>
          <a:prstGeom prst="roundRect">
            <a:avLst>
              <a:gd fmla="val 3646"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9"/>
          <p:cNvSpPr txBox="1"/>
          <p:nvPr/>
        </p:nvSpPr>
        <p:spPr>
          <a:xfrm>
            <a:off x="4700016" y="1234440"/>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 the whole brain-swap API</a:t>
            </a:r>
            <a:endParaRPr b="0" i="0" sz="850" u="none" cap="none" strike="noStrike">
              <a:solidFill>
                <a:schemeClr val="dk1"/>
              </a:solidFill>
              <a:latin typeface="Calibri"/>
              <a:ea typeface="Calibri"/>
              <a:cs typeface="Calibri"/>
              <a:sym typeface="Calibri"/>
            </a:endParaRPr>
          </a:p>
        </p:txBody>
      </p:sp>
      <p:sp>
        <p:nvSpPr>
          <p:cNvPr id="287" name="Google Shape;287;p9"/>
          <p:cNvSpPr txBox="1"/>
          <p:nvPr/>
        </p:nvSpPr>
        <p:spPr>
          <a:xfrm>
            <a:off x="4700016" y="1412748"/>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50"/>
              <a:buFont typeface="Courier New"/>
              <a:buNone/>
            </a:pPr>
            <a:r>
              <a:rPr b="0" i="0" lang="en-US" sz="850" u="none" cap="none" strike="noStrike">
                <a:solidFill>
                  <a:srgbClr val="5EE9B5"/>
                </a:solidFill>
                <a:latin typeface="Courier New"/>
                <a:ea typeface="Courier New"/>
                <a:cs typeface="Courier New"/>
                <a:sym typeface="Courier New"/>
              </a:rPr>
              <a:t>switch_model("openai/gpt-5.6-luna")</a:t>
            </a:r>
            <a:endParaRPr b="0" i="0" sz="850" u="none" cap="none" strike="noStrike">
              <a:solidFill>
                <a:schemeClr val="dk1"/>
              </a:solidFill>
              <a:latin typeface="Calibri"/>
              <a:ea typeface="Calibri"/>
              <a:cs typeface="Calibri"/>
              <a:sym typeface="Calibri"/>
            </a:endParaRPr>
          </a:p>
        </p:txBody>
      </p:sp>
      <p:sp>
        <p:nvSpPr>
          <p:cNvPr id="288" name="Google Shape;288;p9"/>
          <p:cNvSpPr txBox="1"/>
          <p:nvPr/>
        </p:nvSpPr>
        <p:spPr>
          <a:xfrm>
            <a:off x="4700016" y="1591056"/>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p:txBody>
      </p:sp>
      <p:sp>
        <p:nvSpPr>
          <p:cNvPr id="289" name="Google Shape;289;p9"/>
          <p:cNvSpPr txBox="1"/>
          <p:nvPr/>
        </p:nvSpPr>
        <p:spPr>
          <a:xfrm>
            <a:off x="4700016" y="1769364"/>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 other providers, same key</a:t>
            </a:r>
            <a:endParaRPr b="0" i="0" sz="850" u="none" cap="none" strike="noStrike">
              <a:solidFill>
                <a:schemeClr val="dk1"/>
              </a:solidFill>
              <a:latin typeface="Calibri"/>
              <a:ea typeface="Calibri"/>
              <a:cs typeface="Calibri"/>
              <a:sym typeface="Calibri"/>
            </a:endParaRPr>
          </a:p>
        </p:txBody>
      </p:sp>
      <p:sp>
        <p:nvSpPr>
          <p:cNvPr id="290" name="Google Shape;290;p9"/>
          <p:cNvSpPr txBox="1"/>
          <p:nvPr/>
        </p:nvSpPr>
        <p:spPr>
          <a:xfrm>
            <a:off x="4700016" y="1947672"/>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 switch_model("anthropic/claude-sonnet-4")</a:t>
            </a:r>
            <a:endParaRPr b="0" i="0" sz="850" u="none" cap="none" strike="noStrike">
              <a:solidFill>
                <a:schemeClr val="dk1"/>
              </a:solidFill>
              <a:latin typeface="Calibri"/>
              <a:ea typeface="Calibri"/>
              <a:cs typeface="Calibri"/>
              <a:sym typeface="Calibri"/>
            </a:endParaRPr>
          </a:p>
        </p:txBody>
      </p:sp>
      <p:sp>
        <p:nvSpPr>
          <p:cNvPr id="291" name="Google Shape;291;p9"/>
          <p:cNvSpPr txBox="1"/>
          <p:nvPr/>
        </p:nvSpPr>
        <p:spPr>
          <a:xfrm>
            <a:off x="4700016" y="2125980"/>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 switch_model("google/gemini-2.5-flash")</a:t>
            </a:r>
            <a:endParaRPr b="0" i="0" sz="850" u="none" cap="none" strike="noStrike">
              <a:solidFill>
                <a:schemeClr val="dk1"/>
              </a:solidFill>
              <a:latin typeface="Calibri"/>
              <a:ea typeface="Calibri"/>
              <a:cs typeface="Calibri"/>
              <a:sym typeface="Calibri"/>
            </a:endParaRPr>
          </a:p>
        </p:txBody>
      </p:sp>
      <p:sp>
        <p:nvSpPr>
          <p:cNvPr id="292" name="Google Shape;292;p9"/>
          <p:cNvSpPr txBox="1"/>
          <p:nvPr/>
        </p:nvSpPr>
        <p:spPr>
          <a:xfrm>
            <a:off x="4700016" y="2304288"/>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p:txBody>
      </p:sp>
      <p:sp>
        <p:nvSpPr>
          <p:cNvPr id="293" name="Google Shape;293;p9"/>
          <p:cNvSpPr txBox="1"/>
          <p:nvPr/>
        </p:nvSpPr>
        <p:spPr>
          <a:xfrm>
            <a:off x="4700016" y="2482596"/>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os.environ["LLM_MODEL"] = slug</a:t>
            </a:r>
            <a:endParaRPr b="0" i="0" sz="850" u="none" cap="none" strike="noStrike">
              <a:solidFill>
                <a:schemeClr val="dk1"/>
              </a:solidFill>
              <a:latin typeface="Calibri"/>
              <a:ea typeface="Calibri"/>
              <a:cs typeface="Calibri"/>
              <a:sym typeface="Calibri"/>
            </a:endParaRPr>
          </a:p>
        </p:txBody>
      </p:sp>
      <p:sp>
        <p:nvSpPr>
          <p:cNvPr id="294" name="Google Shape;294;p9"/>
          <p:cNvSpPr txBox="1"/>
          <p:nvPr/>
        </p:nvSpPr>
        <p:spPr>
          <a:xfrm>
            <a:off x="4700016" y="2660904"/>
            <a:ext cx="3813048"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50"/>
              <a:buFont typeface="Courier New"/>
              <a:buNone/>
            </a:pPr>
            <a:r>
              <a:rPr b="0" i="0" lang="en-US" sz="850" u="none" cap="none" strike="noStrike">
                <a:solidFill>
                  <a:srgbClr val="FBBF24"/>
                </a:solidFill>
                <a:latin typeface="Courier New"/>
                <a:ea typeface="Courier New"/>
                <a:cs typeface="Courier New"/>
                <a:sym typeface="Courier New"/>
              </a:rPr>
              <a:t>reset_client()   # &lt;- do not forget this</a:t>
            </a:r>
            <a:endParaRPr b="0" i="0" sz="850" u="none" cap="none" strike="noStrike">
              <a:solidFill>
                <a:schemeClr val="dk1"/>
              </a:solidFill>
              <a:latin typeface="Calibri"/>
              <a:ea typeface="Calibri"/>
              <a:cs typeface="Calibri"/>
              <a:sym typeface="Calibri"/>
            </a:endParaRPr>
          </a:p>
        </p:txBody>
      </p:sp>
      <p:sp>
        <p:nvSpPr>
          <p:cNvPr id="295" name="Google Shape;295;p9"/>
          <p:cNvSpPr/>
          <p:nvPr/>
        </p:nvSpPr>
        <p:spPr>
          <a:xfrm>
            <a:off x="502920" y="3035808"/>
            <a:ext cx="2615184" cy="1298448"/>
          </a:xfrm>
          <a:prstGeom prst="roundRect">
            <a:avLst>
              <a:gd fmla="val 633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9"/>
          <p:cNvSpPr txBox="1"/>
          <p:nvPr/>
        </p:nvSpPr>
        <p:spPr>
          <a:xfrm>
            <a:off x="649224" y="3136392"/>
            <a:ext cx="2322576"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BASE URL</a:t>
            </a:r>
            <a:endParaRPr b="0" i="0" sz="800" u="none" cap="none" strike="noStrike">
              <a:solidFill>
                <a:schemeClr val="dk1"/>
              </a:solidFill>
              <a:latin typeface="Calibri"/>
              <a:ea typeface="Calibri"/>
              <a:cs typeface="Calibri"/>
              <a:sym typeface="Calibri"/>
            </a:endParaRPr>
          </a:p>
        </p:txBody>
      </p:sp>
      <p:sp>
        <p:nvSpPr>
          <p:cNvPr id="297" name="Google Shape;297;p9">
            <a:hlinkClick r:id="rId5"/>
          </p:cNvPr>
          <p:cNvSpPr txBox="1"/>
          <p:nvPr/>
        </p:nvSpPr>
        <p:spPr>
          <a:xfrm>
            <a:off x="649224" y="3328416"/>
            <a:ext cx="2322576"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ourier New"/>
              <a:buNone/>
            </a:pPr>
            <a:r>
              <a:rPr b="1" i="0" lang="en-US" sz="1100" u="sng" cap="none" strike="noStrike">
                <a:solidFill>
                  <a:schemeClr val="hlink"/>
                </a:solidFill>
                <a:latin typeface="Courier New"/>
                <a:ea typeface="Courier New"/>
                <a:cs typeface="Courier New"/>
                <a:sym typeface="Courier New"/>
                <a:hlinkClick r:id="rId6"/>
              </a:rPr>
              <a:t>openrouter.ai/api/v1</a:t>
            </a:r>
            <a:endParaRPr b="0" i="0" sz="1100" u="none" cap="none" strike="noStrike">
              <a:solidFill>
                <a:schemeClr val="dk1"/>
              </a:solidFill>
              <a:latin typeface="Calibri"/>
              <a:ea typeface="Calibri"/>
              <a:cs typeface="Calibri"/>
              <a:sym typeface="Calibri"/>
            </a:endParaRPr>
          </a:p>
        </p:txBody>
      </p:sp>
      <p:sp>
        <p:nvSpPr>
          <p:cNvPr id="298" name="Google Shape;298;p9"/>
          <p:cNvSpPr txBox="1"/>
          <p:nvPr/>
        </p:nvSpPr>
        <p:spPr>
          <a:xfrm>
            <a:off x="649224" y="3602736"/>
            <a:ext cx="2322576"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make_client() is openai.OpenAI(base_url=…). That object is a client, not “ChatGPT”.</a:t>
            </a:r>
            <a:endParaRPr b="0" i="0" sz="950" u="none" cap="none" strike="noStrike">
              <a:solidFill>
                <a:schemeClr val="dk1"/>
              </a:solidFill>
              <a:latin typeface="Calibri"/>
              <a:ea typeface="Calibri"/>
              <a:cs typeface="Calibri"/>
              <a:sym typeface="Calibri"/>
            </a:endParaRPr>
          </a:p>
        </p:txBody>
      </p:sp>
      <p:sp>
        <p:nvSpPr>
          <p:cNvPr id="299" name="Google Shape;299;p9"/>
          <p:cNvSpPr/>
          <p:nvPr/>
        </p:nvSpPr>
        <p:spPr>
          <a:xfrm>
            <a:off x="3264408" y="3035808"/>
            <a:ext cx="2615184" cy="1298448"/>
          </a:xfrm>
          <a:prstGeom prst="roundRect">
            <a:avLst>
              <a:gd fmla="val 633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9"/>
          <p:cNvSpPr txBox="1"/>
          <p:nvPr/>
        </p:nvSpPr>
        <p:spPr>
          <a:xfrm>
            <a:off x="3410712" y="3136392"/>
            <a:ext cx="2322576"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WORKSHOP SLUG</a:t>
            </a:r>
            <a:endParaRPr b="0" i="0" sz="800" u="none" cap="none" strike="noStrike">
              <a:solidFill>
                <a:schemeClr val="dk1"/>
              </a:solidFill>
              <a:latin typeface="Calibri"/>
              <a:ea typeface="Calibri"/>
              <a:cs typeface="Calibri"/>
              <a:sym typeface="Calibri"/>
            </a:endParaRPr>
          </a:p>
        </p:txBody>
      </p:sp>
      <p:sp>
        <p:nvSpPr>
          <p:cNvPr id="301" name="Google Shape;301;p9"/>
          <p:cNvSpPr txBox="1"/>
          <p:nvPr/>
        </p:nvSpPr>
        <p:spPr>
          <a:xfrm>
            <a:off x="3410712" y="3328416"/>
            <a:ext cx="2322576"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ourier New"/>
              <a:buNone/>
            </a:pPr>
            <a:r>
              <a:rPr b="1" i="0" lang="en-US" sz="1100" u="none" cap="none" strike="noStrike">
                <a:solidFill>
                  <a:srgbClr val="FFFFFF"/>
                </a:solidFill>
                <a:latin typeface="Courier New"/>
                <a:ea typeface="Courier New"/>
                <a:cs typeface="Courier New"/>
                <a:sym typeface="Courier New"/>
              </a:rPr>
              <a:t>openai/gpt-5.6-luna</a:t>
            </a:r>
            <a:endParaRPr b="0" i="0" sz="1100" u="none" cap="none" strike="noStrike">
              <a:solidFill>
                <a:schemeClr val="dk1"/>
              </a:solidFill>
              <a:latin typeface="Calibri"/>
              <a:ea typeface="Calibri"/>
              <a:cs typeface="Calibri"/>
              <a:sym typeface="Calibri"/>
            </a:endParaRPr>
          </a:p>
        </p:txBody>
      </p:sp>
      <p:sp>
        <p:nvSpPr>
          <p:cNvPr id="302" name="Google Shape;302;p9"/>
          <p:cNvSpPr txBox="1"/>
          <p:nvPr/>
        </p:nvSpPr>
        <p:spPr>
          <a:xfrm>
            <a:off x="3410712" y="3602736"/>
            <a:ext cx="2322576"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Needs max_completion_tokens, not max_tokens, and reasoning_effort="low" so the reply is JSON, not an empty reasoning dump.</a:t>
            </a:r>
            <a:endParaRPr b="0" i="0" sz="950" u="none" cap="none" strike="noStrike">
              <a:solidFill>
                <a:schemeClr val="dk1"/>
              </a:solidFill>
              <a:latin typeface="Calibri"/>
              <a:ea typeface="Calibri"/>
              <a:cs typeface="Calibri"/>
              <a:sym typeface="Calibri"/>
            </a:endParaRPr>
          </a:p>
        </p:txBody>
      </p:sp>
      <p:sp>
        <p:nvSpPr>
          <p:cNvPr id="303" name="Google Shape;303;p9"/>
          <p:cNvSpPr/>
          <p:nvPr/>
        </p:nvSpPr>
        <p:spPr>
          <a:xfrm>
            <a:off x="6025896" y="3035808"/>
            <a:ext cx="2615184" cy="1298448"/>
          </a:xfrm>
          <a:prstGeom prst="roundRect">
            <a:avLst>
              <a:gd fmla="val 633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9"/>
          <p:cNvSpPr txBox="1"/>
          <p:nvPr/>
        </p:nvSpPr>
        <p:spPr>
          <a:xfrm>
            <a:off x="6172200" y="3136392"/>
            <a:ext cx="2322576"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00"/>
              <a:buFont typeface="Courier New"/>
              <a:buNone/>
            </a:pPr>
            <a:r>
              <a:rPr b="0" i="0" lang="en-US" sz="800" u="none" cap="none" strike="noStrike">
                <a:solidFill>
                  <a:srgbClr val="FBBF24"/>
                </a:solidFill>
                <a:latin typeface="Courier New"/>
                <a:ea typeface="Courier New"/>
                <a:cs typeface="Courier New"/>
                <a:sym typeface="Courier New"/>
              </a:rPr>
              <a:t>COST METER</a:t>
            </a:r>
            <a:endParaRPr b="0" i="0" sz="800" u="none" cap="none" strike="noStrike">
              <a:solidFill>
                <a:schemeClr val="dk1"/>
              </a:solidFill>
              <a:latin typeface="Calibri"/>
              <a:ea typeface="Calibri"/>
              <a:cs typeface="Calibri"/>
              <a:sym typeface="Calibri"/>
            </a:endParaRPr>
          </a:p>
        </p:txBody>
      </p:sp>
      <p:sp>
        <p:nvSpPr>
          <p:cNvPr id="305" name="Google Shape;305;p9"/>
          <p:cNvSpPr txBox="1"/>
          <p:nvPr/>
        </p:nvSpPr>
        <p:spPr>
          <a:xfrm>
            <a:off x="6172200" y="3328416"/>
            <a:ext cx="2322576"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ourier New"/>
              <a:buNone/>
            </a:pPr>
            <a:r>
              <a:rPr b="1" i="0" lang="en-US" sz="1100" u="none" cap="none" strike="noStrike">
                <a:solidFill>
                  <a:srgbClr val="FFFFFF"/>
                </a:solidFill>
                <a:latin typeface="Courier New"/>
                <a:ea typeface="Courier New"/>
                <a:cs typeface="Courier New"/>
                <a:sym typeface="Courier New"/>
              </a:rPr>
              <a:t>cost_report()</a:t>
            </a:r>
            <a:endParaRPr b="0" i="0" sz="1100" u="none" cap="none" strike="noStrike">
              <a:solidFill>
                <a:schemeClr val="dk1"/>
              </a:solidFill>
              <a:latin typeface="Calibri"/>
              <a:ea typeface="Calibri"/>
              <a:cs typeface="Calibri"/>
              <a:sym typeface="Calibri"/>
            </a:endParaRPr>
          </a:p>
        </p:txBody>
      </p:sp>
      <p:sp>
        <p:nvSpPr>
          <p:cNvPr id="306" name="Google Shape;306;p9"/>
          <p:cNvSpPr txBox="1"/>
          <p:nvPr/>
        </p:nvSpPr>
        <p:spPr>
          <a:xfrm>
            <a:off x="6172200" y="3602736"/>
            <a:ext cx="2322576"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Counts calls and tokens. usage is None is normal — OpenRouter may omit it. Not a bug.</a:t>
            </a:r>
            <a:endParaRPr b="0" i="0" sz="950" u="none" cap="none" strike="noStrike">
              <a:solidFill>
                <a:schemeClr val="dk1"/>
              </a:solidFill>
              <a:latin typeface="Calibri"/>
              <a:ea typeface="Calibri"/>
              <a:cs typeface="Calibri"/>
              <a:sym typeface="Calibri"/>
            </a:endParaRPr>
          </a:p>
        </p:txBody>
      </p:sp>
      <p:sp>
        <p:nvSpPr>
          <p:cNvPr id="307" name="Google Shape;307;p9"/>
          <p:cNvSpPr/>
          <p:nvPr/>
        </p:nvSpPr>
        <p:spPr>
          <a:xfrm>
            <a:off x="502920" y="4443984"/>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9"/>
          <p:cNvSpPr txBox="1"/>
          <p:nvPr/>
        </p:nvSpPr>
        <p:spPr>
          <a:xfrm>
            <a:off x="649224" y="4443984"/>
            <a:ext cx="7845552"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100"/>
              <a:buFont typeface="Calibri"/>
              <a:buNone/>
            </a:pPr>
            <a:r>
              <a:rPr b="0" i="1" lang="en-US" sz="1100" u="none" cap="none" strike="noStrike">
                <a:solidFill>
                  <a:srgbClr val="E9DFFF"/>
                </a:solidFill>
                <a:latin typeface="Calibri"/>
                <a:ea typeface="Calibri"/>
                <a:cs typeface="Calibri"/>
                <a:sym typeface="Calibri"/>
              </a:rPr>
              <a:t>TRACE is on: every call prints the model, the kwargs, a preview of the prompt and the raw reply. Silence (reply: 0 chars) is a model problem, not a key problem.</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313" name="Shape 313"/>
        <p:cNvGrpSpPr/>
        <p:nvPr/>
      </p:nvGrpSpPr>
      <p:grpSpPr>
        <a:xfrm>
          <a:off x="0" y="0"/>
          <a:ext cx="0" cy="0"/>
          <a:chOff x="0" y="0"/>
          <a:chExt cx="0" cy="0"/>
        </a:xfrm>
      </p:grpSpPr>
      <p:sp>
        <p:nvSpPr>
          <p:cNvPr id="314" name="Google Shape;314;p10"/>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§0.5 · BEGINNER MAP</a:t>
            </a:r>
            <a:endParaRPr b="0" i="0" sz="1050" u="none" cap="none" strike="noStrike">
              <a:solidFill>
                <a:schemeClr val="dk1"/>
              </a:solidFill>
              <a:latin typeface="Calibri"/>
              <a:ea typeface="Calibri"/>
              <a:cs typeface="Calibri"/>
              <a:sym typeface="Calibri"/>
            </a:endParaRPr>
          </a:p>
        </p:txBody>
      </p:sp>
      <p:sp>
        <p:nvSpPr>
          <p:cNvPr id="315" name="Google Shape;315;p10"/>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Six words we will keep using all afternoon</a:t>
            </a:r>
            <a:endParaRPr b="0" i="0" sz="2700" u="none" cap="none" strike="noStrike">
              <a:solidFill>
                <a:schemeClr val="dk1"/>
              </a:solidFill>
              <a:latin typeface="Calibri"/>
              <a:ea typeface="Calibri"/>
              <a:cs typeface="Calibri"/>
              <a:sym typeface="Calibri"/>
            </a:endParaRPr>
          </a:p>
        </p:txBody>
      </p:sp>
      <p:sp>
        <p:nvSpPr>
          <p:cNvPr id="316" name="Google Shape;316;p10">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317" name="Google Shape;317;p10"/>
          <p:cNvSpPr/>
          <p:nvPr/>
        </p:nvSpPr>
        <p:spPr>
          <a:xfrm>
            <a:off x="502920" y="1133856"/>
            <a:ext cx="2615184" cy="822960"/>
          </a:xfrm>
          <a:prstGeom prst="roundRect">
            <a:avLst>
              <a:gd fmla="val 10000"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0"/>
          <p:cNvSpPr/>
          <p:nvPr/>
        </p:nvSpPr>
        <p:spPr>
          <a:xfrm>
            <a:off x="649224" y="1271016"/>
            <a:ext cx="256032" cy="2560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0"/>
          <p:cNvSpPr txBox="1"/>
          <p:nvPr/>
        </p:nvSpPr>
        <p:spPr>
          <a:xfrm>
            <a:off x="649224" y="1271016"/>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1</a:t>
            </a:r>
            <a:endParaRPr b="0" i="0" sz="1000" u="none" cap="none" strike="noStrike">
              <a:solidFill>
                <a:schemeClr val="dk1"/>
              </a:solidFill>
              <a:latin typeface="Calibri"/>
              <a:ea typeface="Calibri"/>
              <a:cs typeface="Calibri"/>
              <a:sym typeface="Calibri"/>
            </a:endParaRPr>
          </a:p>
        </p:txBody>
      </p:sp>
      <p:sp>
        <p:nvSpPr>
          <p:cNvPr id="320" name="Google Shape;320;p10"/>
          <p:cNvSpPr txBox="1"/>
          <p:nvPr/>
        </p:nvSpPr>
        <p:spPr>
          <a:xfrm>
            <a:off x="996696" y="1252728"/>
            <a:ext cx="197510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LLM call</a:t>
            </a:r>
            <a:endParaRPr b="0" i="0" sz="1400" u="none" cap="none" strike="noStrike">
              <a:solidFill>
                <a:schemeClr val="dk1"/>
              </a:solidFill>
              <a:latin typeface="Calibri"/>
              <a:ea typeface="Calibri"/>
              <a:cs typeface="Calibri"/>
              <a:sym typeface="Calibri"/>
            </a:endParaRPr>
          </a:p>
        </p:txBody>
      </p:sp>
      <p:sp>
        <p:nvSpPr>
          <p:cNvPr id="321" name="Google Shape;321;p10"/>
          <p:cNvSpPr txBox="1"/>
          <p:nvPr/>
        </p:nvSpPr>
        <p:spPr>
          <a:xfrm>
            <a:off x="649224" y="1536192"/>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Text in, tokens out. The client is openai.OpenAI(base_url=OpenRouter); LLM_MODEL picks the brain.</a:t>
            </a:r>
            <a:endParaRPr b="0" i="0" sz="950" u="none" cap="none" strike="noStrike">
              <a:solidFill>
                <a:schemeClr val="dk1"/>
              </a:solidFill>
              <a:latin typeface="Calibri"/>
              <a:ea typeface="Calibri"/>
              <a:cs typeface="Calibri"/>
              <a:sym typeface="Calibri"/>
            </a:endParaRPr>
          </a:p>
        </p:txBody>
      </p:sp>
      <p:sp>
        <p:nvSpPr>
          <p:cNvPr id="322" name="Google Shape;322;p10"/>
          <p:cNvSpPr/>
          <p:nvPr/>
        </p:nvSpPr>
        <p:spPr>
          <a:xfrm>
            <a:off x="3264408" y="1133856"/>
            <a:ext cx="2615184" cy="822960"/>
          </a:xfrm>
          <a:prstGeom prst="roundRect">
            <a:avLst>
              <a:gd fmla="val 10000"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0"/>
          <p:cNvSpPr/>
          <p:nvPr/>
        </p:nvSpPr>
        <p:spPr>
          <a:xfrm>
            <a:off x="3410712" y="1271016"/>
            <a:ext cx="256032" cy="2560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0"/>
          <p:cNvSpPr txBox="1"/>
          <p:nvPr/>
        </p:nvSpPr>
        <p:spPr>
          <a:xfrm>
            <a:off x="3410712" y="1271016"/>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2</a:t>
            </a:r>
            <a:endParaRPr b="0" i="0" sz="1000" u="none" cap="none" strike="noStrike">
              <a:solidFill>
                <a:schemeClr val="dk1"/>
              </a:solidFill>
              <a:latin typeface="Calibri"/>
              <a:ea typeface="Calibri"/>
              <a:cs typeface="Calibri"/>
              <a:sym typeface="Calibri"/>
            </a:endParaRPr>
          </a:p>
        </p:txBody>
      </p:sp>
      <p:sp>
        <p:nvSpPr>
          <p:cNvPr id="325" name="Google Shape;325;p10"/>
          <p:cNvSpPr txBox="1"/>
          <p:nvPr/>
        </p:nvSpPr>
        <p:spPr>
          <a:xfrm>
            <a:off x="3758184" y="1252728"/>
            <a:ext cx="197510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Tokens</a:t>
            </a:r>
            <a:endParaRPr b="0" i="0" sz="1400" u="none" cap="none" strike="noStrike">
              <a:solidFill>
                <a:schemeClr val="dk1"/>
              </a:solidFill>
              <a:latin typeface="Calibri"/>
              <a:ea typeface="Calibri"/>
              <a:cs typeface="Calibri"/>
              <a:sym typeface="Calibri"/>
            </a:endParaRPr>
          </a:p>
        </p:txBody>
      </p:sp>
      <p:sp>
        <p:nvSpPr>
          <p:cNvPr id="326" name="Google Shape;326;p10"/>
          <p:cNvSpPr txBox="1"/>
          <p:nvPr/>
        </p:nvSpPr>
        <p:spPr>
          <a:xfrm>
            <a:off x="3410712" y="1536192"/>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Characters ≠ tokens. fulfill_order is 14 chars, 2–4 tokens. usage may be None.</a:t>
            </a:r>
            <a:endParaRPr b="0" i="0" sz="950" u="none" cap="none" strike="noStrike">
              <a:solidFill>
                <a:schemeClr val="dk1"/>
              </a:solidFill>
              <a:latin typeface="Calibri"/>
              <a:ea typeface="Calibri"/>
              <a:cs typeface="Calibri"/>
              <a:sym typeface="Calibri"/>
            </a:endParaRPr>
          </a:p>
        </p:txBody>
      </p:sp>
      <p:sp>
        <p:nvSpPr>
          <p:cNvPr id="327" name="Google Shape;327;p10"/>
          <p:cNvSpPr/>
          <p:nvPr/>
        </p:nvSpPr>
        <p:spPr>
          <a:xfrm>
            <a:off x="6025896" y="1133856"/>
            <a:ext cx="2615184" cy="822960"/>
          </a:xfrm>
          <a:prstGeom prst="roundRect">
            <a:avLst>
              <a:gd fmla="val 10000"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0"/>
          <p:cNvSpPr/>
          <p:nvPr/>
        </p:nvSpPr>
        <p:spPr>
          <a:xfrm>
            <a:off x="6172200" y="1271016"/>
            <a:ext cx="256032" cy="256032"/>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0"/>
          <p:cNvSpPr txBox="1"/>
          <p:nvPr/>
        </p:nvSpPr>
        <p:spPr>
          <a:xfrm>
            <a:off x="6172200" y="1271016"/>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3</a:t>
            </a:r>
            <a:endParaRPr b="0" i="0" sz="1000" u="none" cap="none" strike="noStrike">
              <a:solidFill>
                <a:schemeClr val="dk1"/>
              </a:solidFill>
              <a:latin typeface="Calibri"/>
              <a:ea typeface="Calibri"/>
              <a:cs typeface="Calibri"/>
              <a:sym typeface="Calibri"/>
            </a:endParaRPr>
          </a:p>
        </p:txBody>
      </p:sp>
      <p:sp>
        <p:nvSpPr>
          <p:cNvPr id="330" name="Google Shape;330;p10"/>
          <p:cNvSpPr txBox="1"/>
          <p:nvPr/>
        </p:nvSpPr>
        <p:spPr>
          <a:xfrm>
            <a:off x="6519672" y="1252728"/>
            <a:ext cx="197510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Tool</a:t>
            </a:r>
            <a:endParaRPr b="0" i="0" sz="1400" u="none" cap="none" strike="noStrike">
              <a:solidFill>
                <a:schemeClr val="dk1"/>
              </a:solidFill>
              <a:latin typeface="Calibri"/>
              <a:ea typeface="Calibri"/>
              <a:cs typeface="Calibri"/>
              <a:sym typeface="Calibri"/>
            </a:endParaRPr>
          </a:p>
        </p:txBody>
      </p:sp>
      <p:sp>
        <p:nvSpPr>
          <p:cNvPr id="331" name="Google Shape;331;p10"/>
          <p:cNvSpPr txBox="1"/>
          <p:nvPr/>
        </p:nvSpPr>
        <p:spPr>
          <a:xfrm>
            <a:off x="6172200" y="1536192"/>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A deterministic function the model did not write — radon, PyExamine, pytest. Tools measure.</a:t>
            </a:r>
            <a:endParaRPr b="0" i="0" sz="950" u="none" cap="none" strike="noStrike">
              <a:solidFill>
                <a:schemeClr val="dk1"/>
              </a:solidFill>
              <a:latin typeface="Calibri"/>
              <a:ea typeface="Calibri"/>
              <a:cs typeface="Calibri"/>
              <a:sym typeface="Calibri"/>
            </a:endParaRPr>
          </a:p>
        </p:txBody>
      </p:sp>
      <p:sp>
        <p:nvSpPr>
          <p:cNvPr id="332" name="Google Shape;332;p10"/>
          <p:cNvSpPr/>
          <p:nvPr/>
        </p:nvSpPr>
        <p:spPr>
          <a:xfrm>
            <a:off x="502920" y="2103120"/>
            <a:ext cx="2615184" cy="822960"/>
          </a:xfrm>
          <a:prstGeom prst="roundRect">
            <a:avLst>
              <a:gd fmla="val 10000"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0"/>
          <p:cNvSpPr/>
          <p:nvPr/>
        </p:nvSpPr>
        <p:spPr>
          <a:xfrm>
            <a:off x="649224" y="2240280"/>
            <a:ext cx="256032" cy="256032"/>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0"/>
          <p:cNvSpPr txBox="1"/>
          <p:nvPr/>
        </p:nvSpPr>
        <p:spPr>
          <a:xfrm>
            <a:off x="649224" y="2240280"/>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4</a:t>
            </a:r>
            <a:endParaRPr b="0" i="0" sz="1000" u="none" cap="none" strike="noStrike">
              <a:solidFill>
                <a:schemeClr val="dk1"/>
              </a:solidFill>
              <a:latin typeface="Calibri"/>
              <a:ea typeface="Calibri"/>
              <a:cs typeface="Calibri"/>
              <a:sym typeface="Calibri"/>
            </a:endParaRPr>
          </a:p>
        </p:txBody>
      </p:sp>
      <p:sp>
        <p:nvSpPr>
          <p:cNvPr id="335" name="Google Shape;335;p10"/>
          <p:cNvSpPr txBox="1"/>
          <p:nvPr/>
        </p:nvSpPr>
        <p:spPr>
          <a:xfrm>
            <a:off x="996696" y="2221992"/>
            <a:ext cx="197510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Agent</a:t>
            </a:r>
            <a:endParaRPr b="0" i="0" sz="1400" u="none" cap="none" strike="noStrike">
              <a:solidFill>
                <a:schemeClr val="dk1"/>
              </a:solidFill>
              <a:latin typeface="Calibri"/>
              <a:ea typeface="Calibri"/>
              <a:cs typeface="Calibri"/>
              <a:sym typeface="Calibri"/>
            </a:endParaRPr>
          </a:p>
        </p:txBody>
      </p:sp>
      <p:sp>
        <p:nvSpPr>
          <p:cNvPr id="336" name="Google Shape;336;p10"/>
          <p:cNvSpPr txBox="1"/>
          <p:nvPr/>
        </p:nvSpPr>
        <p:spPr>
          <a:xfrm>
            <a:off x="649224" y="2505456"/>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Four slots: role · brain · tools · contract. Not a framework.</a:t>
            </a:r>
            <a:endParaRPr b="0" i="0" sz="950" u="none" cap="none" strike="noStrike">
              <a:solidFill>
                <a:schemeClr val="dk1"/>
              </a:solidFill>
              <a:latin typeface="Calibri"/>
              <a:ea typeface="Calibri"/>
              <a:cs typeface="Calibri"/>
              <a:sym typeface="Calibri"/>
            </a:endParaRPr>
          </a:p>
        </p:txBody>
      </p:sp>
      <p:sp>
        <p:nvSpPr>
          <p:cNvPr id="337" name="Google Shape;337;p10"/>
          <p:cNvSpPr/>
          <p:nvPr/>
        </p:nvSpPr>
        <p:spPr>
          <a:xfrm>
            <a:off x="3264408" y="2103120"/>
            <a:ext cx="2615184" cy="822960"/>
          </a:xfrm>
          <a:prstGeom prst="roundRect">
            <a:avLst>
              <a:gd fmla="val 10000"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0"/>
          <p:cNvSpPr/>
          <p:nvPr/>
        </p:nvSpPr>
        <p:spPr>
          <a:xfrm>
            <a:off x="3410712" y="2240280"/>
            <a:ext cx="256032" cy="256032"/>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0"/>
          <p:cNvSpPr txBox="1"/>
          <p:nvPr/>
        </p:nvSpPr>
        <p:spPr>
          <a:xfrm>
            <a:off x="3410712" y="2240280"/>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5</a:t>
            </a:r>
            <a:endParaRPr b="0" i="0" sz="1000" u="none" cap="none" strike="noStrike">
              <a:solidFill>
                <a:schemeClr val="dk1"/>
              </a:solidFill>
              <a:latin typeface="Calibri"/>
              <a:ea typeface="Calibri"/>
              <a:cs typeface="Calibri"/>
              <a:sym typeface="Calibri"/>
            </a:endParaRPr>
          </a:p>
        </p:txBody>
      </p:sp>
      <p:sp>
        <p:nvSpPr>
          <p:cNvPr id="340" name="Google Shape;340;p10"/>
          <p:cNvSpPr txBox="1"/>
          <p:nvPr/>
        </p:nvSpPr>
        <p:spPr>
          <a:xfrm>
            <a:off x="3758184" y="2221992"/>
            <a:ext cx="197510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Gate</a:t>
            </a:r>
            <a:endParaRPr b="0" i="0" sz="1400" u="none" cap="none" strike="noStrike">
              <a:solidFill>
                <a:schemeClr val="dk1"/>
              </a:solidFill>
              <a:latin typeface="Calibri"/>
              <a:ea typeface="Calibri"/>
              <a:cs typeface="Calibri"/>
              <a:sym typeface="Calibri"/>
            </a:endParaRPr>
          </a:p>
        </p:txBody>
      </p:sp>
      <p:sp>
        <p:nvSpPr>
          <p:cNvPr id="341" name="Google Shape;341;p10"/>
          <p:cNvSpPr txBox="1"/>
          <p:nvPr/>
        </p:nvSpPr>
        <p:spPr>
          <a:xfrm>
            <a:off x="3410712" y="2505456"/>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A check with no LLM in it. If the gate fails, the patch did not happen.</a:t>
            </a:r>
            <a:endParaRPr b="0" i="0" sz="950" u="none" cap="none" strike="noStrike">
              <a:solidFill>
                <a:schemeClr val="dk1"/>
              </a:solidFill>
              <a:latin typeface="Calibri"/>
              <a:ea typeface="Calibri"/>
              <a:cs typeface="Calibri"/>
              <a:sym typeface="Calibri"/>
            </a:endParaRPr>
          </a:p>
        </p:txBody>
      </p:sp>
      <p:sp>
        <p:nvSpPr>
          <p:cNvPr id="342" name="Google Shape;342;p10"/>
          <p:cNvSpPr/>
          <p:nvPr/>
        </p:nvSpPr>
        <p:spPr>
          <a:xfrm>
            <a:off x="6025896" y="2103120"/>
            <a:ext cx="2615184" cy="822960"/>
          </a:xfrm>
          <a:prstGeom prst="roundRect">
            <a:avLst>
              <a:gd fmla="val 10000"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0"/>
          <p:cNvSpPr/>
          <p:nvPr/>
        </p:nvSpPr>
        <p:spPr>
          <a:xfrm>
            <a:off x="6172200" y="2240280"/>
            <a:ext cx="256032" cy="256032"/>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0"/>
          <p:cNvSpPr txBox="1"/>
          <p:nvPr/>
        </p:nvSpPr>
        <p:spPr>
          <a:xfrm>
            <a:off x="6172200" y="2240280"/>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6</a:t>
            </a:r>
            <a:endParaRPr b="0" i="0" sz="1000" u="none" cap="none" strike="noStrike">
              <a:solidFill>
                <a:schemeClr val="dk1"/>
              </a:solidFill>
              <a:latin typeface="Calibri"/>
              <a:ea typeface="Calibri"/>
              <a:cs typeface="Calibri"/>
              <a:sym typeface="Calibri"/>
            </a:endParaRPr>
          </a:p>
        </p:txBody>
      </p:sp>
      <p:sp>
        <p:nvSpPr>
          <p:cNvPr id="345" name="Google Shape;345;p10"/>
          <p:cNvSpPr txBox="1"/>
          <p:nvPr/>
        </p:nvSpPr>
        <p:spPr>
          <a:xfrm>
            <a:off x="6519672" y="2221992"/>
            <a:ext cx="197510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none" cap="none" strike="noStrike">
                <a:solidFill>
                  <a:srgbClr val="FFFFFF"/>
                </a:solidFill>
                <a:latin typeface="Cambria"/>
                <a:ea typeface="Cambria"/>
                <a:cs typeface="Cambria"/>
                <a:sym typeface="Cambria"/>
              </a:rPr>
              <a:t>Workflow</a:t>
            </a:r>
            <a:endParaRPr b="0" i="0" sz="1400" u="none" cap="none" strike="noStrike">
              <a:solidFill>
                <a:schemeClr val="dk1"/>
              </a:solidFill>
              <a:latin typeface="Calibri"/>
              <a:ea typeface="Calibri"/>
              <a:cs typeface="Calibri"/>
              <a:sym typeface="Calibri"/>
            </a:endParaRPr>
          </a:p>
        </p:txBody>
      </p:sp>
      <p:sp>
        <p:nvSpPr>
          <p:cNvPr id="346" name="Google Shape;346;p10"/>
          <p:cNvSpPr txBox="1"/>
          <p:nvPr/>
        </p:nvSpPr>
        <p:spPr>
          <a:xfrm>
            <a:off x="6172200" y="2505456"/>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Several agents sharing a blackboard. If it is not on the board, it did not happen.</a:t>
            </a:r>
            <a:endParaRPr b="0" i="0" sz="950" u="none" cap="none" strike="noStrike">
              <a:solidFill>
                <a:schemeClr val="dk1"/>
              </a:solidFill>
              <a:latin typeface="Calibri"/>
              <a:ea typeface="Calibri"/>
              <a:cs typeface="Calibri"/>
              <a:sym typeface="Calibri"/>
            </a:endParaRPr>
          </a:p>
        </p:txBody>
      </p:sp>
      <p:sp>
        <p:nvSpPr>
          <p:cNvPr id="347" name="Google Shape;347;p10"/>
          <p:cNvSpPr txBox="1"/>
          <p:nvPr/>
        </p:nvSpPr>
        <p:spPr>
          <a:xfrm>
            <a:off x="685800" y="3429000"/>
            <a:ext cx="7772400" cy="493776"/>
          </a:xfrm>
          <a:prstGeom prst="rect">
            <a:avLst/>
          </a:prstGeom>
          <a:noFill/>
          <a:ln>
            <a:noFill/>
          </a:ln>
        </p:spPr>
        <p:txBody>
          <a:bodyPr anchorCtr="0" anchor="ctr" bIns="0" lIns="0" spcFirstLastPara="1" rIns="0" wrap="square" tIns="0">
            <a:noAutofit/>
          </a:bodyPr>
          <a:lstStyle/>
          <a:p>
            <a:pPr indent="0" lvl="0" marL="0" marR="0" rtl="0" algn="l">
              <a:lnSpc>
                <a:spcPct val="130434"/>
              </a:lnSpc>
              <a:spcBef>
                <a:spcPts val="0"/>
              </a:spcBef>
              <a:spcAft>
                <a:spcPts val="0"/>
              </a:spcAft>
              <a:buClr>
                <a:srgbClr val="D8CDEE"/>
              </a:buClr>
              <a:buSzPts val="1150"/>
              <a:buFont typeface="Calibri"/>
              <a:buNone/>
            </a:pPr>
            <a:r>
              <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352" name="Shape 352"/>
        <p:cNvGrpSpPr/>
        <p:nvPr/>
      </p:nvGrpSpPr>
      <p:grpSpPr>
        <a:xfrm>
          <a:off x="0" y="0"/>
          <a:ext cx="0" cy="0"/>
          <a:chOff x="0" y="0"/>
          <a:chExt cx="0" cy="0"/>
        </a:xfrm>
      </p:grpSpPr>
      <p:sp>
        <p:nvSpPr>
          <p:cNvPr id="353" name="Google Shape;353;p11"/>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§0.8 · </a:t>
            </a:r>
            <a:r>
              <a:rPr lang="en-US" sz="1050">
                <a:solidFill>
                  <a:srgbClr val="A78BFA"/>
                </a:solidFill>
                <a:latin typeface="Courier New"/>
                <a:ea typeface="Courier New"/>
                <a:cs typeface="Courier New"/>
                <a:sym typeface="Courier New"/>
              </a:rPr>
              <a:t>The case</a:t>
            </a:r>
            <a:endParaRPr b="0" i="0" sz="1050" u="none" cap="none" strike="noStrike">
              <a:solidFill>
                <a:schemeClr val="dk1"/>
              </a:solidFill>
              <a:latin typeface="Calibri"/>
              <a:ea typeface="Calibri"/>
              <a:cs typeface="Calibri"/>
              <a:sym typeface="Calibri"/>
            </a:endParaRPr>
          </a:p>
        </p:txBody>
      </p:sp>
      <p:sp>
        <p:nvSpPr>
          <p:cNvPr id="354" name="Google Shape;354;p11"/>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PayFlow invoices + a churn trainer, written to disk</a:t>
            </a:r>
            <a:endParaRPr b="0" i="0" sz="2700" u="none" cap="none" strike="noStrike">
              <a:solidFill>
                <a:schemeClr val="dk1"/>
              </a:solidFill>
              <a:latin typeface="Calibri"/>
              <a:ea typeface="Calibri"/>
              <a:cs typeface="Calibri"/>
              <a:sym typeface="Calibri"/>
            </a:endParaRPr>
          </a:p>
        </p:txBody>
      </p:sp>
      <p:sp>
        <p:nvSpPr>
          <p:cNvPr id="355" name="Google Shape;355;p11">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356" name="Google Shape;356;p11"/>
          <p:cNvSpPr/>
          <p:nvPr/>
        </p:nvSpPr>
        <p:spPr>
          <a:xfrm>
            <a:off x="502920" y="1133856"/>
            <a:ext cx="8138160" cy="512064"/>
          </a:xfrm>
          <a:prstGeom prst="roundRect">
            <a:avLst>
              <a:gd fmla="val 16071"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1"/>
          <p:cNvSpPr/>
          <p:nvPr/>
        </p:nvSpPr>
        <p:spPr>
          <a:xfrm>
            <a:off x="502920" y="1773936"/>
            <a:ext cx="2615184" cy="2633472"/>
          </a:xfrm>
          <a:prstGeom prst="roundRect">
            <a:avLst>
              <a:gd fmla="val 3147"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1"/>
          <p:cNvSpPr txBox="1"/>
          <p:nvPr/>
        </p:nvSpPr>
        <p:spPr>
          <a:xfrm>
            <a:off x="640080" y="1883664"/>
            <a:ext cx="2340864"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950"/>
              <a:buFont typeface="Courier New"/>
              <a:buNone/>
            </a:pPr>
            <a:r>
              <a:rPr b="1" i="0" lang="en-US" sz="950" u="none" cap="none" strike="noStrike">
                <a:solidFill>
                  <a:srgbClr val="A78BFA"/>
                </a:solidFill>
                <a:latin typeface="Courier New"/>
                <a:ea typeface="Courier New"/>
                <a:cs typeface="Courier New"/>
                <a:sym typeface="Courier New"/>
              </a:rPr>
              <a:t>cases/payflow/checkout.py</a:t>
            </a:r>
            <a:endParaRPr b="0" i="0" sz="950" u="none" cap="none" strike="noStrike">
              <a:solidFill>
                <a:schemeClr val="dk1"/>
              </a:solidFill>
              <a:latin typeface="Calibri"/>
              <a:ea typeface="Calibri"/>
              <a:cs typeface="Calibri"/>
              <a:sym typeface="Calibri"/>
            </a:endParaRPr>
          </a:p>
        </p:txBody>
      </p:sp>
      <p:sp>
        <p:nvSpPr>
          <p:cNvPr id="359" name="Google Shape;359;p11"/>
          <p:cNvSpPr txBox="1"/>
          <p:nvPr/>
        </p:nvSpPr>
        <p:spPr>
          <a:xfrm>
            <a:off x="640080" y="2231136"/>
            <a:ext cx="234086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SaaS billing: validate → inventory → charge card → refund → email. One God-ish OrderFulfillmentService.</a:t>
            </a:r>
            <a:endParaRPr b="0" i="0" sz="1000" u="none" cap="none" strike="noStrike">
              <a:solidFill>
                <a:schemeClr val="dk1"/>
              </a:solidFill>
              <a:latin typeface="Calibri"/>
              <a:ea typeface="Calibri"/>
              <a:cs typeface="Calibri"/>
              <a:sym typeface="Calibri"/>
            </a:endParaRPr>
          </a:p>
        </p:txBody>
      </p:sp>
      <p:sp>
        <p:nvSpPr>
          <p:cNvPr id="360" name="Google Shape;360;p11"/>
          <p:cNvSpPr/>
          <p:nvPr/>
        </p:nvSpPr>
        <p:spPr>
          <a:xfrm>
            <a:off x="640080" y="2871216"/>
            <a:ext cx="2340864" cy="932688"/>
          </a:xfrm>
          <a:prstGeom prst="roundRect">
            <a:avLst>
              <a:gd fmla="val 6863"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1"/>
          <p:cNvSpPr txBox="1"/>
          <p:nvPr/>
        </p:nvSpPr>
        <p:spPr>
          <a:xfrm>
            <a:off x="768096" y="2971800"/>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class OrderFulfillmentService:</a:t>
            </a:r>
            <a:endParaRPr b="0" i="0" sz="600" u="none" cap="none" strike="noStrike">
              <a:solidFill>
                <a:schemeClr val="dk1"/>
              </a:solidFill>
              <a:latin typeface="Calibri"/>
              <a:ea typeface="Calibri"/>
              <a:cs typeface="Calibri"/>
              <a:sym typeface="Calibri"/>
            </a:endParaRPr>
          </a:p>
        </p:txBody>
      </p:sp>
      <p:sp>
        <p:nvSpPr>
          <p:cNvPr id="362" name="Google Shape;362;p11"/>
          <p:cNvSpPr txBox="1"/>
          <p:nvPr/>
        </p:nvSpPr>
        <p:spPr>
          <a:xfrm>
            <a:off x="768096" y="3104388"/>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def fulfill_order(self, invoice,</a:t>
            </a:r>
            <a:endParaRPr b="0" i="0" sz="600" u="none" cap="none" strike="noStrike">
              <a:solidFill>
                <a:schemeClr val="dk1"/>
              </a:solidFill>
              <a:latin typeface="Calibri"/>
              <a:ea typeface="Calibri"/>
              <a:cs typeface="Calibri"/>
              <a:sym typeface="Calibri"/>
            </a:endParaRPr>
          </a:p>
        </p:txBody>
      </p:sp>
      <p:sp>
        <p:nvSpPr>
          <p:cNvPr id="363" name="Google Shape;363;p11"/>
          <p:cNvSpPr txBox="1"/>
          <p:nvPr/>
        </p:nvSpPr>
        <p:spPr>
          <a:xfrm>
            <a:off x="768096" y="3236976"/>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card_ok, inventory_ok,</a:t>
            </a:r>
            <a:endParaRPr b="0" i="0" sz="600" u="none" cap="none" strike="noStrike">
              <a:solidFill>
                <a:schemeClr val="dk1"/>
              </a:solidFill>
              <a:latin typeface="Calibri"/>
              <a:ea typeface="Calibri"/>
              <a:cs typeface="Calibri"/>
              <a:sym typeface="Calibri"/>
            </a:endParaRPr>
          </a:p>
        </p:txBody>
      </p:sp>
      <p:sp>
        <p:nvSpPr>
          <p:cNvPr id="364" name="Google Shape;364;p11"/>
          <p:cNvSpPr txBox="1"/>
          <p:nvPr/>
        </p:nvSpPr>
        <p:spPr>
          <a:xfrm>
            <a:off x="768096" y="3369564"/>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region):</a:t>
            </a:r>
            <a:endParaRPr b="0" i="0" sz="600" u="none" cap="none" strike="noStrike">
              <a:solidFill>
                <a:schemeClr val="dk1"/>
              </a:solidFill>
              <a:latin typeface="Calibri"/>
              <a:ea typeface="Calibri"/>
              <a:cs typeface="Calibri"/>
              <a:sym typeface="Calibri"/>
            </a:endParaRPr>
          </a:p>
        </p:txBody>
      </p:sp>
      <p:sp>
        <p:nvSpPr>
          <p:cNvPr id="365" name="Google Shape;365;p11"/>
          <p:cNvSpPr txBox="1"/>
          <p:nvPr/>
        </p:nvSpPr>
        <p:spPr>
          <a:xfrm>
            <a:off x="768096" y="3502152"/>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if not invoice.invoice_id: ...</a:t>
            </a:r>
            <a:endParaRPr b="0" i="0" sz="600" u="none" cap="none" strike="noStrike">
              <a:solidFill>
                <a:schemeClr val="dk1"/>
              </a:solidFill>
              <a:latin typeface="Calibri"/>
              <a:ea typeface="Calibri"/>
              <a:cs typeface="Calibri"/>
              <a:sym typeface="Calibri"/>
            </a:endParaRPr>
          </a:p>
        </p:txBody>
      </p:sp>
      <p:sp>
        <p:nvSpPr>
          <p:cNvPr id="366" name="Google Shape;366;p11"/>
          <p:cNvSpPr txBox="1"/>
          <p:nvPr/>
        </p:nvSpPr>
        <p:spPr>
          <a:xfrm>
            <a:off x="768096" y="3634740"/>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if not self._email_ok(...): ...</a:t>
            </a:r>
            <a:endParaRPr b="0" i="0" sz="600" u="none" cap="none" strike="noStrike">
              <a:solidFill>
                <a:schemeClr val="dk1"/>
              </a:solidFill>
              <a:latin typeface="Calibri"/>
              <a:ea typeface="Calibri"/>
              <a:cs typeface="Calibri"/>
              <a:sym typeface="Calibri"/>
            </a:endParaRPr>
          </a:p>
        </p:txBody>
      </p:sp>
      <p:sp>
        <p:nvSpPr>
          <p:cNvPr id="367" name="Google Shape;367;p11"/>
          <p:cNvSpPr txBox="1"/>
          <p:nvPr/>
        </p:nvSpPr>
        <p:spPr>
          <a:xfrm>
            <a:off x="640080" y="3858768"/>
            <a:ext cx="2340864"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WHAT WE DO TO IT</a:t>
            </a:r>
            <a:endParaRPr b="0" i="0" sz="750" u="none" cap="none" strike="noStrike">
              <a:solidFill>
                <a:schemeClr val="dk1"/>
              </a:solidFill>
              <a:latin typeface="Calibri"/>
              <a:ea typeface="Calibri"/>
              <a:cs typeface="Calibri"/>
              <a:sym typeface="Calibri"/>
            </a:endParaRPr>
          </a:p>
        </p:txBody>
      </p:sp>
      <p:sp>
        <p:nvSpPr>
          <p:cNvPr id="368" name="Google Shape;368;p11"/>
          <p:cNvSpPr txBox="1"/>
          <p:nvPr/>
        </p:nvSpPr>
        <p:spPr>
          <a:xfrm>
            <a:off x="640080" y="4023360"/>
            <a:ext cx="2340864"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alibri"/>
              <a:buNone/>
            </a:pPr>
            <a:r>
              <a:rPr b="0" i="0" lang="en-US" sz="900" u="none" cap="none" strike="noStrike">
                <a:solidFill>
                  <a:srgbClr val="E9DFFF"/>
                </a:solidFill>
                <a:latin typeface="Calibri"/>
                <a:ea typeface="Calibri"/>
                <a:cs typeface="Calibri"/>
                <a:sym typeface="Calibri"/>
              </a:rPr>
              <a:t>PyExamine + radon + the refactor team</a:t>
            </a:r>
            <a:endParaRPr b="0" i="0" sz="900" u="none" cap="none" strike="noStrike">
              <a:solidFill>
                <a:schemeClr val="dk1"/>
              </a:solidFill>
              <a:latin typeface="Calibri"/>
              <a:ea typeface="Calibri"/>
              <a:cs typeface="Calibri"/>
              <a:sym typeface="Calibri"/>
            </a:endParaRPr>
          </a:p>
        </p:txBody>
      </p:sp>
      <p:sp>
        <p:nvSpPr>
          <p:cNvPr id="369" name="Google Shape;369;p11"/>
          <p:cNvSpPr/>
          <p:nvPr/>
        </p:nvSpPr>
        <p:spPr>
          <a:xfrm>
            <a:off x="3264408" y="1773936"/>
            <a:ext cx="2615184" cy="2633472"/>
          </a:xfrm>
          <a:prstGeom prst="roundRect">
            <a:avLst>
              <a:gd fmla="val 3147"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1"/>
          <p:cNvSpPr txBox="1"/>
          <p:nvPr/>
        </p:nvSpPr>
        <p:spPr>
          <a:xfrm>
            <a:off x="3401568" y="1883664"/>
            <a:ext cx="2340864"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950"/>
              <a:buFont typeface="Courier New"/>
              <a:buNone/>
            </a:pPr>
            <a:r>
              <a:rPr b="1" i="0" lang="en-US" sz="950" u="none" cap="none" strike="noStrike">
                <a:solidFill>
                  <a:srgbClr val="5EE9B5"/>
                </a:solidFill>
                <a:latin typeface="Courier New"/>
                <a:ea typeface="Courier New"/>
                <a:cs typeface="Courier New"/>
                <a:sym typeface="Courier New"/>
              </a:rPr>
              <a:t>cases/payflow/test_checkout.py</a:t>
            </a:r>
            <a:endParaRPr b="0" i="0" sz="950" u="none" cap="none" strike="noStrike">
              <a:solidFill>
                <a:schemeClr val="dk1"/>
              </a:solidFill>
              <a:latin typeface="Calibri"/>
              <a:ea typeface="Calibri"/>
              <a:cs typeface="Calibri"/>
              <a:sym typeface="Calibri"/>
            </a:endParaRPr>
          </a:p>
        </p:txBody>
      </p:sp>
      <p:sp>
        <p:nvSpPr>
          <p:cNvPr id="371" name="Google Shape;371;p11"/>
          <p:cNvSpPr txBox="1"/>
          <p:nvPr/>
        </p:nvSpPr>
        <p:spPr>
          <a:xfrm>
            <a:off x="3401568" y="2231136"/>
            <a:ext cx="234086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The public-API contract: Invoice, PaymentGateway, Mailer, fulfill_order, apply_refund.</a:t>
            </a:r>
            <a:endParaRPr b="0" i="0" sz="1000" u="none" cap="none" strike="noStrike">
              <a:solidFill>
                <a:schemeClr val="dk1"/>
              </a:solidFill>
              <a:latin typeface="Calibri"/>
              <a:ea typeface="Calibri"/>
              <a:cs typeface="Calibri"/>
              <a:sym typeface="Calibri"/>
            </a:endParaRPr>
          </a:p>
        </p:txBody>
      </p:sp>
      <p:sp>
        <p:nvSpPr>
          <p:cNvPr id="372" name="Google Shape;372;p11"/>
          <p:cNvSpPr/>
          <p:nvPr/>
        </p:nvSpPr>
        <p:spPr>
          <a:xfrm>
            <a:off x="3401568" y="2871216"/>
            <a:ext cx="2340864" cy="932688"/>
          </a:xfrm>
          <a:prstGeom prst="roundRect">
            <a:avLst>
              <a:gd fmla="val 6863"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1"/>
          <p:cNvSpPr txBox="1"/>
          <p:nvPr/>
        </p:nvSpPr>
        <p:spPr>
          <a:xfrm>
            <a:off x="3529584" y="2971800"/>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def test_apply_refund_</a:t>
            </a:r>
            <a:endParaRPr b="0" i="0" sz="600" u="none" cap="none" strike="noStrike">
              <a:solidFill>
                <a:schemeClr val="dk1"/>
              </a:solidFill>
              <a:latin typeface="Calibri"/>
              <a:ea typeface="Calibri"/>
              <a:cs typeface="Calibri"/>
              <a:sym typeface="Calibri"/>
            </a:endParaRPr>
          </a:p>
        </p:txBody>
      </p:sp>
      <p:sp>
        <p:nvSpPr>
          <p:cNvPr id="374" name="Google Shape;374;p11"/>
          <p:cNvSpPr txBox="1"/>
          <p:nvPr/>
        </p:nvSpPr>
        <p:spPr>
          <a:xfrm>
            <a:off x="3529584" y="3104388"/>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rejects_over_refund():</a:t>
            </a:r>
            <a:endParaRPr b="0" i="0" sz="600" u="none" cap="none" strike="noStrike">
              <a:solidFill>
                <a:schemeClr val="dk1"/>
              </a:solidFill>
              <a:latin typeface="Calibri"/>
              <a:ea typeface="Calibri"/>
              <a:cs typeface="Calibri"/>
              <a:sym typeface="Calibri"/>
            </a:endParaRPr>
          </a:p>
        </p:txBody>
      </p:sp>
      <p:sp>
        <p:nvSpPr>
          <p:cNvPr id="375" name="Google Shape;375;p11"/>
          <p:cNvSpPr txBox="1"/>
          <p:nvPr/>
        </p:nvSpPr>
        <p:spPr>
          <a:xfrm>
            <a:off x="3529584" y="3236976"/>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with pytest.raises(ValueError,</a:t>
            </a:r>
            <a:endParaRPr b="0" i="0" sz="600" u="none" cap="none" strike="noStrike">
              <a:solidFill>
                <a:schemeClr val="dk1"/>
              </a:solidFill>
              <a:latin typeface="Calibri"/>
              <a:ea typeface="Calibri"/>
              <a:cs typeface="Calibri"/>
              <a:sym typeface="Calibri"/>
            </a:endParaRPr>
          </a:p>
        </p:txBody>
      </p:sp>
      <p:sp>
        <p:nvSpPr>
          <p:cNvPr id="376" name="Google Shape;376;p11"/>
          <p:cNvSpPr txBox="1"/>
          <p:nvPr/>
        </p:nvSpPr>
        <p:spPr>
          <a:xfrm>
            <a:off x="3529584" y="3369564"/>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match="exceeds"):</a:t>
            </a:r>
            <a:endParaRPr b="0" i="0" sz="600" u="none" cap="none" strike="noStrike">
              <a:solidFill>
                <a:schemeClr val="dk1"/>
              </a:solidFill>
              <a:latin typeface="Calibri"/>
              <a:ea typeface="Calibri"/>
              <a:cs typeface="Calibri"/>
              <a:sym typeface="Calibri"/>
            </a:endParaRPr>
          </a:p>
        </p:txBody>
      </p:sp>
      <p:sp>
        <p:nvSpPr>
          <p:cNvPr id="377" name="Google Shape;377;p11"/>
          <p:cNvSpPr txBox="1"/>
          <p:nvPr/>
        </p:nvSpPr>
        <p:spPr>
          <a:xfrm>
            <a:off x="3529584" y="3502152"/>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    svc.apply_refund(inv, too_much)</a:t>
            </a:r>
            <a:endParaRPr b="0" i="0" sz="600" u="none" cap="none" strike="noStrike">
              <a:solidFill>
                <a:schemeClr val="dk1"/>
              </a:solidFill>
              <a:latin typeface="Calibri"/>
              <a:ea typeface="Calibri"/>
              <a:cs typeface="Calibri"/>
              <a:sym typeface="Calibri"/>
            </a:endParaRPr>
          </a:p>
        </p:txBody>
      </p:sp>
      <p:sp>
        <p:nvSpPr>
          <p:cNvPr id="378" name="Google Shape;378;p11"/>
          <p:cNvSpPr txBox="1"/>
          <p:nvPr/>
        </p:nvSpPr>
        <p:spPr>
          <a:xfrm>
            <a:off x="3401568" y="3858768"/>
            <a:ext cx="2340864"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WHAT WE DO TO IT</a:t>
            </a:r>
            <a:endParaRPr b="0" i="0" sz="750" u="none" cap="none" strike="noStrike">
              <a:solidFill>
                <a:schemeClr val="dk1"/>
              </a:solidFill>
              <a:latin typeface="Calibri"/>
              <a:ea typeface="Calibri"/>
              <a:cs typeface="Calibri"/>
              <a:sym typeface="Calibri"/>
            </a:endParaRPr>
          </a:p>
        </p:txBody>
      </p:sp>
      <p:sp>
        <p:nvSpPr>
          <p:cNvPr id="379" name="Google Shape;379;p11"/>
          <p:cNvSpPr txBox="1"/>
          <p:nvPr/>
        </p:nvSpPr>
        <p:spPr>
          <a:xfrm>
            <a:off x="3401568" y="4023360"/>
            <a:ext cx="2340864"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alibri"/>
              <a:buNone/>
            </a:pPr>
            <a:r>
              <a:rPr b="0" i="0" lang="en-US" sz="900" u="none" cap="none" strike="noStrike">
                <a:solidFill>
                  <a:srgbClr val="E9DFFF"/>
                </a:solidFill>
                <a:latin typeface="Calibri"/>
                <a:ea typeface="Calibri"/>
                <a:cs typeface="Calibri"/>
                <a:sym typeface="Calibri"/>
              </a:rPr>
              <a:t>Gate 2. The sabotage in §2.6 flips the refund cap.</a:t>
            </a:r>
            <a:endParaRPr b="0" i="0" sz="900" u="none" cap="none" strike="noStrike">
              <a:solidFill>
                <a:schemeClr val="dk1"/>
              </a:solidFill>
              <a:latin typeface="Calibri"/>
              <a:ea typeface="Calibri"/>
              <a:cs typeface="Calibri"/>
              <a:sym typeface="Calibri"/>
            </a:endParaRPr>
          </a:p>
        </p:txBody>
      </p:sp>
      <p:sp>
        <p:nvSpPr>
          <p:cNvPr id="380" name="Google Shape;380;p11"/>
          <p:cNvSpPr/>
          <p:nvPr/>
        </p:nvSpPr>
        <p:spPr>
          <a:xfrm>
            <a:off x="6025896" y="1773936"/>
            <a:ext cx="2615184" cy="2633472"/>
          </a:xfrm>
          <a:prstGeom prst="roundRect">
            <a:avLst>
              <a:gd fmla="val 3147"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1"/>
          <p:cNvSpPr txBox="1"/>
          <p:nvPr/>
        </p:nvSpPr>
        <p:spPr>
          <a:xfrm>
            <a:off x="6163056" y="1883664"/>
            <a:ext cx="2340864"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950"/>
              <a:buFont typeface="Courier New"/>
              <a:buNone/>
            </a:pPr>
            <a:r>
              <a:rPr b="1" i="0" lang="en-US" sz="950" u="none" cap="none" strike="noStrike">
                <a:solidFill>
                  <a:srgbClr val="FBBF24"/>
                </a:solidFill>
                <a:latin typeface="Courier New"/>
                <a:ea typeface="Courier New"/>
                <a:cs typeface="Courier New"/>
                <a:sym typeface="Courier New"/>
              </a:rPr>
              <a:t>cases/churn/train_churn.py</a:t>
            </a:r>
            <a:endParaRPr b="0" i="0" sz="950" u="none" cap="none" strike="noStrike">
              <a:solidFill>
                <a:schemeClr val="dk1"/>
              </a:solidFill>
              <a:latin typeface="Calibri"/>
              <a:ea typeface="Calibri"/>
              <a:cs typeface="Calibri"/>
              <a:sym typeface="Calibri"/>
            </a:endParaRPr>
          </a:p>
        </p:txBody>
      </p:sp>
      <p:sp>
        <p:nvSpPr>
          <p:cNvPr id="382" name="Google Shape;382;p11"/>
          <p:cNvSpPr txBox="1"/>
          <p:nvPr/>
        </p:nvSpPr>
        <p:spPr>
          <a:xfrm>
            <a:off x="6163056" y="2231136"/>
            <a:ext cx="234086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sklearn churn job: scaler fit before the split, no seed, train score reported as the metric.</a:t>
            </a:r>
            <a:endParaRPr b="0" i="0" sz="1000" u="none" cap="none" strike="noStrike">
              <a:solidFill>
                <a:schemeClr val="dk1"/>
              </a:solidFill>
              <a:latin typeface="Calibri"/>
              <a:ea typeface="Calibri"/>
              <a:cs typeface="Calibri"/>
              <a:sym typeface="Calibri"/>
            </a:endParaRPr>
          </a:p>
        </p:txBody>
      </p:sp>
      <p:sp>
        <p:nvSpPr>
          <p:cNvPr id="383" name="Google Shape;383;p11"/>
          <p:cNvSpPr/>
          <p:nvPr/>
        </p:nvSpPr>
        <p:spPr>
          <a:xfrm>
            <a:off x="6163056" y="2871216"/>
            <a:ext cx="2340864" cy="932688"/>
          </a:xfrm>
          <a:prstGeom prst="roundRect">
            <a:avLst>
              <a:gd fmla="val 6863"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1"/>
          <p:cNvSpPr txBox="1"/>
          <p:nvPr/>
        </p:nvSpPr>
        <p:spPr>
          <a:xfrm>
            <a:off x="6291072" y="2971800"/>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scaler = StandardScaler()</a:t>
            </a:r>
            <a:endParaRPr b="0" i="0" sz="600" u="none" cap="none" strike="noStrike">
              <a:solidFill>
                <a:schemeClr val="dk1"/>
              </a:solidFill>
              <a:latin typeface="Calibri"/>
              <a:ea typeface="Calibri"/>
              <a:cs typeface="Calibri"/>
              <a:sym typeface="Calibri"/>
            </a:endParaRPr>
          </a:p>
        </p:txBody>
      </p:sp>
      <p:sp>
        <p:nvSpPr>
          <p:cNvPr id="385" name="Google Shape;385;p11"/>
          <p:cNvSpPr txBox="1"/>
          <p:nvPr/>
        </p:nvSpPr>
        <p:spPr>
          <a:xfrm>
            <a:off x="6291072" y="3104388"/>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scaled = scaler.fit_transform(feats)</a:t>
            </a:r>
            <a:endParaRPr b="0" i="0" sz="600" u="none" cap="none" strike="noStrike">
              <a:solidFill>
                <a:schemeClr val="dk1"/>
              </a:solidFill>
              <a:latin typeface="Calibri"/>
              <a:ea typeface="Calibri"/>
              <a:cs typeface="Calibri"/>
              <a:sym typeface="Calibri"/>
            </a:endParaRPr>
          </a:p>
        </p:txBody>
      </p:sp>
      <p:sp>
        <p:nvSpPr>
          <p:cNvPr id="386" name="Google Shape;386;p11"/>
          <p:cNvSpPr txBox="1"/>
          <p:nvPr/>
        </p:nvSpPr>
        <p:spPr>
          <a:xfrm>
            <a:off x="6291072" y="3236976"/>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600"/>
              <a:buFont typeface="Courier New"/>
              <a:buNone/>
            </a:pPr>
            <a:r>
              <a:rPr b="0" i="0" lang="en-US" sz="600" u="none" cap="none" strike="noStrike">
                <a:solidFill>
                  <a:srgbClr val="FBBF24"/>
                </a:solidFill>
                <a:latin typeface="Courier New"/>
                <a:ea typeface="Courier New"/>
                <a:cs typeface="Courier New"/>
                <a:sym typeface="Courier New"/>
              </a:rPr>
              <a:t>                            # leak</a:t>
            </a:r>
            <a:endParaRPr b="0" i="0" sz="600" u="none" cap="none" strike="noStrike">
              <a:solidFill>
                <a:schemeClr val="dk1"/>
              </a:solidFill>
              <a:latin typeface="Calibri"/>
              <a:ea typeface="Calibri"/>
              <a:cs typeface="Calibri"/>
              <a:sym typeface="Calibri"/>
            </a:endParaRPr>
          </a:p>
        </p:txBody>
      </p:sp>
      <p:sp>
        <p:nvSpPr>
          <p:cNvPr id="387" name="Google Shape;387;p11"/>
          <p:cNvSpPr txBox="1"/>
          <p:nvPr/>
        </p:nvSpPr>
        <p:spPr>
          <a:xfrm>
            <a:off x="6291072" y="3369564"/>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600"/>
              <a:buFont typeface="Courier New"/>
              <a:buNone/>
            </a:pPr>
            <a:r>
              <a:rPr b="0" i="0" lang="en-US" sz="600" u="none" cap="none" strike="noStrike">
                <a:solidFill>
                  <a:srgbClr val="D8CDEE"/>
                </a:solidFill>
                <a:latin typeface="Courier New"/>
                <a:ea typeface="Courier New"/>
                <a:cs typeface="Courier New"/>
                <a:sym typeface="Courier New"/>
              </a:rPr>
              <a:t>train_test_split(scaled, labels,</a:t>
            </a:r>
            <a:endParaRPr b="0" i="0" sz="600" u="none" cap="none" strike="noStrike">
              <a:solidFill>
                <a:schemeClr val="dk1"/>
              </a:solidFill>
              <a:latin typeface="Calibri"/>
              <a:ea typeface="Calibri"/>
              <a:cs typeface="Calibri"/>
              <a:sym typeface="Calibri"/>
            </a:endParaRPr>
          </a:p>
        </p:txBody>
      </p:sp>
      <p:sp>
        <p:nvSpPr>
          <p:cNvPr id="388" name="Google Shape;388;p11"/>
          <p:cNvSpPr txBox="1"/>
          <p:nvPr/>
        </p:nvSpPr>
        <p:spPr>
          <a:xfrm>
            <a:off x="6291072" y="3502152"/>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600"/>
              <a:buFont typeface="Courier New"/>
              <a:buNone/>
            </a:pPr>
            <a:r>
              <a:rPr b="0" i="0" lang="en-US" sz="600" u="none" cap="none" strike="noStrike">
                <a:solidFill>
                  <a:srgbClr val="FBBF24"/>
                </a:solidFill>
                <a:latin typeface="Courier New"/>
                <a:ea typeface="Courier New"/>
                <a:cs typeface="Courier New"/>
                <a:sym typeface="Courier New"/>
              </a:rPr>
              <a:t>     test_size=0.25)    # no seed</a:t>
            </a:r>
            <a:endParaRPr b="0" i="0" sz="600" u="none" cap="none" strike="noStrike">
              <a:solidFill>
                <a:schemeClr val="dk1"/>
              </a:solidFill>
              <a:latin typeface="Calibri"/>
              <a:ea typeface="Calibri"/>
              <a:cs typeface="Calibri"/>
              <a:sym typeface="Calibri"/>
            </a:endParaRPr>
          </a:p>
        </p:txBody>
      </p:sp>
      <p:sp>
        <p:nvSpPr>
          <p:cNvPr id="389" name="Google Shape;389;p11"/>
          <p:cNvSpPr txBox="1"/>
          <p:nvPr/>
        </p:nvSpPr>
        <p:spPr>
          <a:xfrm>
            <a:off x="6291072" y="3634740"/>
            <a:ext cx="2084832"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600"/>
              <a:buFont typeface="Courier New"/>
              <a:buNone/>
            </a:pPr>
            <a:r>
              <a:rPr b="0" i="0" lang="en-US" sz="600" u="none" cap="none" strike="noStrike">
                <a:solidFill>
                  <a:srgbClr val="FBBF24"/>
                </a:solidFill>
                <a:latin typeface="Courier New"/>
                <a:ea typeface="Courier New"/>
                <a:cs typeface="Courier New"/>
                <a:sym typeface="Courier New"/>
              </a:rPr>
              <a:t>model.score(x_tr, y_tr) # wrong split</a:t>
            </a:r>
            <a:endParaRPr b="0" i="0" sz="600" u="none" cap="none" strike="noStrike">
              <a:solidFill>
                <a:schemeClr val="dk1"/>
              </a:solidFill>
              <a:latin typeface="Calibri"/>
              <a:ea typeface="Calibri"/>
              <a:cs typeface="Calibri"/>
              <a:sym typeface="Calibri"/>
            </a:endParaRPr>
          </a:p>
        </p:txBody>
      </p:sp>
      <p:sp>
        <p:nvSpPr>
          <p:cNvPr id="390" name="Google Shape;390;p11"/>
          <p:cNvSpPr txBox="1"/>
          <p:nvPr/>
        </p:nvSpPr>
        <p:spPr>
          <a:xfrm>
            <a:off x="6163056" y="3858768"/>
            <a:ext cx="2340864"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WHAT WE DO TO IT</a:t>
            </a:r>
            <a:endParaRPr b="0" i="0" sz="750" u="none" cap="none" strike="noStrike">
              <a:solidFill>
                <a:schemeClr val="dk1"/>
              </a:solidFill>
              <a:latin typeface="Calibri"/>
              <a:ea typeface="Calibri"/>
              <a:cs typeface="Calibri"/>
              <a:sym typeface="Calibri"/>
            </a:endParaRPr>
          </a:p>
        </p:txBody>
      </p:sp>
      <p:sp>
        <p:nvSpPr>
          <p:cNvPr id="391" name="Google Shape;391;p11"/>
          <p:cNvSpPr txBox="1"/>
          <p:nvPr/>
        </p:nvSpPr>
        <p:spPr>
          <a:xfrm>
            <a:off x="6163056" y="4023360"/>
            <a:ext cx="2340864"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alibri"/>
              <a:buNone/>
            </a:pPr>
            <a:r>
              <a:rPr b="0" i="0" lang="en-US" sz="900" u="none" cap="none" strike="noStrike">
                <a:solidFill>
                  <a:srgbClr val="E9DFFF"/>
                </a:solidFill>
                <a:latin typeface="Calibri"/>
                <a:ea typeface="Calibri"/>
                <a:cs typeface="Calibri"/>
                <a:sym typeface="Calibri"/>
              </a:rPr>
              <a:t>MLScent</a:t>
            </a:r>
            <a:endParaRPr b="0" i="0" sz="900" u="none" cap="none" strike="noStrike">
              <a:solidFill>
                <a:schemeClr val="dk1"/>
              </a:solidFill>
              <a:latin typeface="Calibri"/>
              <a:ea typeface="Calibri"/>
              <a:cs typeface="Calibri"/>
              <a:sym typeface="Calibri"/>
            </a:endParaRPr>
          </a:p>
        </p:txBody>
      </p:sp>
      <p:sp>
        <p:nvSpPr>
          <p:cNvPr id="392" name="Google Shape;392;p11"/>
          <p:cNvSpPr/>
          <p:nvPr/>
        </p:nvSpPr>
        <p:spPr>
          <a:xfrm>
            <a:off x="502920" y="4480560"/>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397" name="Shape 397"/>
        <p:cNvGrpSpPr/>
        <p:nvPr/>
      </p:nvGrpSpPr>
      <p:grpSpPr>
        <a:xfrm>
          <a:off x="0" y="0"/>
          <a:ext cx="0" cy="0"/>
          <a:chOff x="0" y="0"/>
          <a:chExt cx="0" cy="0"/>
        </a:xfrm>
      </p:grpSpPr>
      <p:sp>
        <p:nvSpPr>
          <p:cNvPr id="398" name="Google Shape;398;p12"/>
          <p:cNvSpPr/>
          <p:nvPr/>
        </p:nvSpPr>
        <p:spPr>
          <a:xfrm>
            <a:off x="502920" y="502920"/>
            <a:ext cx="8138160" cy="4114800"/>
          </a:xfrm>
          <a:prstGeom prst="roundRect">
            <a:avLst>
              <a:gd fmla="val 3111" name="adj"/>
            </a:avLst>
          </a:prstGeom>
          <a:solidFill>
            <a:srgbClr val="34234F"/>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2"/>
          <p:cNvSpPr/>
          <p:nvPr/>
        </p:nvSpPr>
        <p:spPr>
          <a:xfrm>
            <a:off x="960120" y="960120"/>
            <a:ext cx="713232" cy="7132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2"/>
          <p:cNvSpPr txBox="1"/>
          <p:nvPr/>
        </p:nvSpPr>
        <p:spPr>
          <a:xfrm>
            <a:off x="960120" y="960120"/>
            <a:ext cx="713232"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2600"/>
              <a:buFont typeface="Courier New"/>
              <a:buNone/>
            </a:pPr>
            <a:r>
              <a:rPr b="1" i="0" lang="en-US" sz="2600" u="none" cap="none" strike="noStrike">
                <a:solidFill>
                  <a:srgbClr val="2A1B3D"/>
                </a:solidFill>
                <a:latin typeface="Courier New"/>
                <a:ea typeface="Courier New"/>
                <a:cs typeface="Courier New"/>
                <a:sym typeface="Courier New"/>
              </a:rPr>
              <a:t>1</a:t>
            </a:r>
            <a:endParaRPr b="0" i="0" sz="2600" u="none" cap="none" strike="noStrike">
              <a:solidFill>
                <a:schemeClr val="dk1"/>
              </a:solidFill>
              <a:latin typeface="Calibri"/>
              <a:ea typeface="Calibri"/>
              <a:cs typeface="Calibri"/>
              <a:sym typeface="Calibri"/>
            </a:endParaRPr>
          </a:p>
        </p:txBody>
      </p:sp>
      <p:sp>
        <p:nvSpPr>
          <p:cNvPr id="401" name="Google Shape;401;p12"/>
          <p:cNvSpPr txBox="1"/>
          <p:nvPr/>
        </p:nvSpPr>
        <p:spPr>
          <a:xfrm>
            <a:off x="1874520" y="987552"/>
            <a:ext cx="5120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100"/>
              <a:buFont typeface="Courier New"/>
              <a:buNone/>
            </a:pPr>
            <a:r>
              <a:rPr b="0" i="0" lang="en-US" sz="1100" u="none" cap="none" strike="noStrike">
                <a:solidFill>
                  <a:srgbClr val="A78BFA"/>
                </a:solidFill>
                <a:latin typeface="Courier New"/>
                <a:ea typeface="Courier New"/>
                <a:cs typeface="Courier New"/>
                <a:sym typeface="Courier New"/>
              </a:rPr>
              <a:t>HANDS-ON · DETECTORS DO NOT READ, THEY PARSE</a:t>
            </a:r>
            <a:endParaRPr b="0" i="0" sz="1100" u="none" cap="none" strike="noStrike">
              <a:solidFill>
                <a:schemeClr val="dk1"/>
              </a:solidFill>
              <a:latin typeface="Calibri"/>
              <a:ea typeface="Calibri"/>
              <a:cs typeface="Calibri"/>
              <a:sym typeface="Calibri"/>
            </a:endParaRPr>
          </a:p>
        </p:txBody>
      </p:sp>
      <p:sp>
        <p:nvSpPr>
          <p:cNvPr id="402" name="Google Shape;402;p12"/>
          <p:cNvSpPr txBox="1"/>
          <p:nvPr/>
        </p:nvSpPr>
        <p:spPr>
          <a:xfrm>
            <a:off x="1874520" y="1261872"/>
            <a:ext cx="6035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Parse, then measure</a:t>
            </a:r>
            <a:endParaRPr b="0" i="0" sz="3200" u="none" cap="none" strike="noStrike">
              <a:solidFill>
                <a:schemeClr val="dk1"/>
              </a:solidFill>
              <a:latin typeface="Calibri"/>
              <a:ea typeface="Calibri"/>
              <a:cs typeface="Calibri"/>
              <a:sym typeface="Calibri"/>
            </a:endParaRPr>
          </a:p>
        </p:txBody>
      </p:sp>
      <p:sp>
        <p:nvSpPr>
          <p:cNvPr id="403" name="Google Shape;403;p12"/>
          <p:cNvSpPr txBox="1"/>
          <p:nvPr/>
        </p:nvSpPr>
        <p:spPr>
          <a:xfrm>
            <a:off x="1892808" y="1810512"/>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404" name="Google Shape;404;p12"/>
          <p:cNvSpPr txBox="1"/>
          <p:nvPr/>
        </p:nvSpPr>
        <p:spPr>
          <a:xfrm>
            <a:off x="2130552" y="1810512"/>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§1.1  Source is a string; a parser makes it a tree. Smells are queries on that tree.</a:t>
            </a:r>
            <a:endParaRPr b="0" i="0" sz="1100" u="none" cap="none" strike="noStrike">
              <a:solidFill>
                <a:schemeClr val="dk1"/>
              </a:solidFill>
              <a:latin typeface="Calibri"/>
              <a:ea typeface="Calibri"/>
              <a:cs typeface="Calibri"/>
              <a:sym typeface="Calibri"/>
            </a:endParaRPr>
          </a:p>
        </p:txBody>
      </p:sp>
      <p:sp>
        <p:nvSpPr>
          <p:cNvPr id="405" name="Google Shape;405;p12"/>
          <p:cNvSpPr txBox="1"/>
          <p:nvPr/>
        </p:nvSpPr>
        <p:spPr>
          <a:xfrm>
            <a:off x="1892808" y="2194560"/>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406" name="Google Shape;406;p12"/>
          <p:cNvSpPr txBox="1"/>
          <p:nvPr/>
        </p:nvSpPr>
        <p:spPr>
          <a:xfrm>
            <a:off x="2130552" y="2194560"/>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§1.2  CPython ast / astroid vs tree-sitter — why our detectors chose astroid.</a:t>
            </a:r>
            <a:endParaRPr b="0" i="0" sz="1100" u="none" cap="none" strike="noStrike">
              <a:solidFill>
                <a:schemeClr val="dk1"/>
              </a:solidFill>
              <a:latin typeface="Calibri"/>
              <a:ea typeface="Calibri"/>
              <a:cs typeface="Calibri"/>
              <a:sym typeface="Calibri"/>
            </a:endParaRPr>
          </a:p>
        </p:txBody>
      </p:sp>
      <p:sp>
        <p:nvSpPr>
          <p:cNvPr id="407" name="Google Shape;407;p12"/>
          <p:cNvSpPr txBox="1"/>
          <p:nvPr/>
        </p:nvSpPr>
        <p:spPr>
          <a:xfrm>
            <a:off x="1892808" y="2578608"/>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408" name="Google Shape;408;p12"/>
          <p:cNvSpPr txBox="1"/>
          <p:nvPr/>
        </p:nvSpPr>
        <p:spPr>
          <a:xfrm>
            <a:off x="2130552" y="2578608"/>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§1.3  PyExamine: code · structural · architectural smells over a directory.</a:t>
            </a:r>
            <a:endParaRPr b="0" i="0" sz="1100" u="none" cap="none" strike="noStrike">
              <a:solidFill>
                <a:schemeClr val="dk1"/>
              </a:solidFill>
              <a:latin typeface="Calibri"/>
              <a:ea typeface="Calibri"/>
              <a:cs typeface="Calibri"/>
              <a:sym typeface="Calibri"/>
            </a:endParaRPr>
          </a:p>
        </p:txBody>
      </p:sp>
      <p:sp>
        <p:nvSpPr>
          <p:cNvPr id="409" name="Google Shape;409;p12"/>
          <p:cNvSpPr txBox="1"/>
          <p:nvPr/>
        </p:nvSpPr>
        <p:spPr>
          <a:xfrm>
            <a:off x="1892808" y="2962656"/>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410" name="Google Shape;410;p12"/>
          <p:cNvSpPr txBox="1"/>
          <p:nvPr/>
        </p:nvSpPr>
        <p:spPr>
          <a:xfrm>
            <a:off x="2130552" y="2962656"/>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§1.4  MLScent: ~76 ML anti-pattern detectors — no torch or sklearn needed.</a:t>
            </a:r>
            <a:endParaRPr b="0" i="0" sz="1100" u="none" cap="none" strike="noStrike">
              <a:solidFill>
                <a:schemeClr val="dk1"/>
              </a:solidFill>
              <a:latin typeface="Calibri"/>
              <a:ea typeface="Calibri"/>
              <a:cs typeface="Calibri"/>
              <a:sym typeface="Calibri"/>
            </a:endParaRPr>
          </a:p>
        </p:txBody>
      </p:sp>
      <p:sp>
        <p:nvSpPr>
          <p:cNvPr id="411" name="Google Shape;411;p12"/>
          <p:cNvSpPr txBox="1"/>
          <p:nvPr/>
        </p:nvSpPr>
        <p:spPr>
          <a:xfrm>
            <a:off x="1892808" y="3346704"/>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412" name="Google Shape;412;p12"/>
          <p:cNvSpPr txBox="1"/>
          <p:nvPr/>
        </p:nvSpPr>
        <p:spPr>
          <a:xfrm>
            <a:off x="2130552" y="3346704"/>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§1.7  Model vs radon on the same file — the reason we never gate on the LLM.</a:t>
            </a:r>
            <a:endParaRPr b="0" i="0" sz="1100" u="none" cap="none" strike="noStrike">
              <a:solidFill>
                <a:schemeClr val="dk1"/>
              </a:solidFill>
              <a:latin typeface="Calibri"/>
              <a:ea typeface="Calibri"/>
              <a:cs typeface="Calibri"/>
              <a:sym typeface="Calibri"/>
            </a:endParaRPr>
          </a:p>
        </p:txBody>
      </p:sp>
      <p:sp>
        <p:nvSpPr>
          <p:cNvPr id="413" name="Google Shape;413;p12"/>
          <p:cNvSpPr txBox="1"/>
          <p:nvPr/>
        </p:nvSpPr>
        <p:spPr>
          <a:xfrm>
            <a:off x="1892808" y="3730752"/>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414" name="Google Shape;414;p12"/>
          <p:cNvSpPr txBox="1"/>
          <p:nvPr/>
        </p:nvSpPr>
        <p:spPr>
          <a:xfrm>
            <a:off x="2130552" y="3730752"/>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§1.9  The Agent class: role · brain · tools · contract — tools run FIRST.</a:t>
            </a:r>
            <a:endParaRPr b="0" i="0" sz="1100" u="none" cap="none" strike="noStrike">
              <a:solidFill>
                <a:schemeClr val="dk1"/>
              </a:solidFill>
              <a:latin typeface="Calibri"/>
              <a:ea typeface="Calibri"/>
              <a:cs typeface="Calibri"/>
              <a:sym typeface="Calibri"/>
            </a:endParaRPr>
          </a:p>
        </p:txBody>
      </p:sp>
      <p:sp>
        <p:nvSpPr>
          <p:cNvPr id="415" name="Google Shape;415;p12"/>
          <p:cNvSpPr/>
          <p:nvPr/>
        </p:nvSpPr>
        <p:spPr>
          <a:xfrm>
            <a:off x="1874520" y="4187952"/>
            <a:ext cx="16002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2"/>
          <p:cNvSpPr txBox="1"/>
          <p:nvPr/>
        </p:nvSpPr>
        <p:spPr>
          <a:xfrm>
            <a:off x="1874520" y="4187952"/>
            <a:ext cx="16002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0:25 – 1:10</a:t>
            </a:r>
            <a:endParaRPr b="0" i="0" sz="950" u="none" cap="none" strike="noStrike">
              <a:solidFill>
                <a:schemeClr val="dk1"/>
              </a:solidFill>
              <a:latin typeface="Calibri"/>
              <a:ea typeface="Calibri"/>
              <a:cs typeface="Calibri"/>
              <a:sym typeface="Calibri"/>
            </a:endParaRPr>
          </a:p>
        </p:txBody>
      </p:sp>
      <p:sp>
        <p:nvSpPr>
          <p:cNvPr id="417" name="Google Shape;417;p12"/>
          <p:cNvSpPr/>
          <p:nvPr/>
        </p:nvSpPr>
        <p:spPr>
          <a:xfrm>
            <a:off x="3593592" y="4187952"/>
            <a:ext cx="22860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2"/>
          <p:cNvSpPr txBox="1"/>
          <p:nvPr/>
        </p:nvSpPr>
        <p:spPr>
          <a:xfrm>
            <a:off x="3593592" y="4187952"/>
            <a:ext cx="2286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950"/>
              <a:buFont typeface="Courier New"/>
              <a:buNone/>
            </a:pPr>
            <a:r>
              <a:rPr b="0" i="0" lang="en-US" sz="950" u="none" cap="none" strike="noStrike">
                <a:solidFill>
                  <a:srgbClr val="5EE9B5"/>
                </a:solidFill>
                <a:latin typeface="Courier New"/>
                <a:ea typeface="Courier New"/>
                <a:cs typeface="Courier New"/>
                <a:sym typeface="Courier New"/>
              </a:rPr>
              <a:t>NOTEBOOK · PART 1</a:t>
            </a:r>
            <a:endParaRPr b="0" i="0" sz="950" u="none" cap="none" strike="noStrike">
              <a:solidFill>
                <a:schemeClr val="dk1"/>
              </a:solidFill>
              <a:latin typeface="Calibri"/>
              <a:ea typeface="Calibri"/>
              <a:cs typeface="Calibri"/>
              <a:sym typeface="Calibri"/>
            </a:endParaRPr>
          </a:p>
        </p:txBody>
      </p:sp>
      <p:sp>
        <p:nvSpPr>
          <p:cNvPr id="419" name="Google Shape;419;p12">
            <a:hlinkClick action="ppaction://hlinksldjump" r:id="rId3"/>
          </p:cNvPr>
          <p:cNvSpPr txBox="1"/>
          <p:nvPr/>
        </p:nvSpPr>
        <p:spPr>
          <a:xfrm>
            <a:off x="7406640" y="4206240"/>
            <a:ext cx="96012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424" name="Shape 424"/>
        <p:cNvGrpSpPr/>
        <p:nvPr/>
      </p:nvGrpSpPr>
      <p:grpSpPr>
        <a:xfrm>
          <a:off x="0" y="0"/>
          <a:ext cx="0" cy="0"/>
          <a:chOff x="0" y="0"/>
          <a:chExt cx="0" cy="0"/>
        </a:xfrm>
      </p:grpSpPr>
      <p:sp>
        <p:nvSpPr>
          <p:cNvPr id="425" name="Google Shape;425;p13"/>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§1.1 · WHY PARSERS EXIST</a:t>
            </a:r>
            <a:endParaRPr b="0" i="0" sz="1050" u="none" cap="none" strike="noStrike">
              <a:solidFill>
                <a:schemeClr val="dk1"/>
              </a:solidFill>
              <a:latin typeface="Calibri"/>
              <a:ea typeface="Calibri"/>
              <a:cs typeface="Calibri"/>
              <a:sym typeface="Calibri"/>
            </a:endParaRPr>
          </a:p>
        </p:txBody>
      </p:sp>
      <p:sp>
        <p:nvSpPr>
          <p:cNvPr id="426" name="Google Shape;426;p13"/>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Smells are queries on a tree — grepping lies</a:t>
            </a:r>
            <a:endParaRPr b="0" i="0" sz="2700" u="none" cap="none" strike="noStrike">
              <a:solidFill>
                <a:schemeClr val="dk1"/>
              </a:solidFill>
              <a:latin typeface="Calibri"/>
              <a:ea typeface="Calibri"/>
              <a:cs typeface="Calibri"/>
              <a:sym typeface="Calibri"/>
            </a:endParaRPr>
          </a:p>
        </p:txBody>
      </p:sp>
      <p:sp>
        <p:nvSpPr>
          <p:cNvPr id="427" name="Google Shape;427;p13">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428" name="Google Shape;428;p13"/>
          <p:cNvSpPr/>
          <p:nvPr/>
        </p:nvSpPr>
        <p:spPr>
          <a:xfrm>
            <a:off x="502920" y="1133856"/>
            <a:ext cx="3520440" cy="3127248"/>
          </a:xfrm>
          <a:prstGeom prst="roundRect">
            <a:avLst>
              <a:gd fmla="val 263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3"/>
          <p:cNvSpPr txBox="1"/>
          <p:nvPr/>
        </p:nvSpPr>
        <p:spPr>
          <a:xfrm>
            <a:off x="685800" y="1261872"/>
            <a:ext cx="3182112" cy="1810512"/>
          </a:xfrm>
          <a:prstGeom prst="rect">
            <a:avLst/>
          </a:prstGeom>
          <a:noFill/>
          <a:ln>
            <a:noFill/>
          </a:ln>
        </p:spPr>
        <p:txBody>
          <a:bodyPr anchorCtr="0" anchor="ctr" bIns="0" lIns="0" spcFirstLastPara="1" rIns="0" wrap="square" tIns="0">
            <a:noAutofit/>
          </a:bodyPr>
          <a:lstStyle/>
          <a:p>
            <a:pPr indent="0" lvl="0" marL="0" marR="0" rtl="0" algn="l">
              <a:lnSpc>
                <a:spcPct val="133333"/>
              </a:lnSpc>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Source is a string.</a:t>
            </a:r>
            <a:r>
              <a:rPr b="0" i="0" lang="en-US" sz="1050" u="none" cap="none" strike="noStrike">
                <a:solidFill>
                  <a:srgbClr val="D8CDEE"/>
                </a:solidFill>
                <a:latin typeface="Calibri"/>
                <a:ea typeface="Calibri"/>
                <a:cs typeface="Calibri"/>
                <a:sym typeface="Calibri"/>
              </a:rPr>
              <a:t> A parser turns it into a tree of nodes — FunctionDef, If, Call.</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A smell detector is then a </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rgbClr val="E9DFFF"/>
              </a:buClr>
              <a:buSzPts val="1050"/>
              <a:buFont typeface="Calibri"/>
              <a:buNone/>
            </a:pPr>
            <a:r>
              <a:rPr b="1" i="0" lang="en-US" sz="1050" u="none" cap="none" strike="noStrike">
                <a:solidFill>
                  <a:srgbClr val="E9DFFF"/>
                </a:solidFill>
                <a:latin typeface="Calibri"/>
                <a:ea typeface="Calibri"/>
                <a:cs typeface="Calibri"/>
                <a:sym typeface="Calibri"/>
              </a:rPr>
              <a:t>query on that tree</a:t>
            </a:r>
            <a:r>
              <a:rPr b="0" i="0" lang="en-US" sz="1050" u="none" cap="none" strike="noStrike">
                <a:solidFill>
                  <a:srgbClr val="D8CDEE"/>
                </a:solidFill>
                <a:latin typeface="Calibri"/>
                <a:ea typeface="Calibri"/>
                <a:cs typeface="Calibri"/>
                <a:sym typeface="Calibri"/>
              </a:rPr>
              <a:t>: “any function with more than N If nodes”, “any StandardScaler.fit before train_test_split”.</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rgbClr val="D8CDEE"/>
              </a:buClr>
              <a:buSzPts val="1050"/>
              <a:buFont typeface="Calibri"/>
              <a:buNone/>
            </a:pPr>
            <a:r>
              <a:rPr b="0" i="0" lang="en-US" sz="1050" u="none" cap="none" strike="noStrike">
                <a:solidFill>
                  <a:srgbClr val="D8CDEE"/>
                </a:solidFill>
                <a:latin typeface="Calibri"/>
                <a:ea typeface="Calibri"/>
                <a:cs typeface="Calibri"/>
                <a:sym typeface="Calibri"/>
              </a:rPr>
              <a:t>Without a tree you are grepping — and grepping lies. A comment that </a:t>
            </a:r>
            <a:endParaRPr b="0" i="0" sz="105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rgbClr val="D8CDEE"/>
              </a:buClr>
              <a:buSzPts val="1050"/>
              <a:buFont typeface="Calibri"/>
              <a:buNone/>
            </a:pPr>
            <a:r>
              <a:rPr b="0" i="1" lang="en-US" sz="1050" u="none" cap="none" strike="noStrike">
                <a:solidFill>
                  <a:srgbClr val="D8CDEE"/>
                </a:solidFill>
                <a:latin typeface="Calibri"/>
                <a:ea typeface="Calibri"/>
                <a:cs typeface="Calibri"/>
                <a:sym typeface="Calibri"/>
              </a:rPr>
              <a:t>says</a:t>
            </a:r>
            <a:r>
              <a:rPr b="0" i="0" lang="en-US" sz="1050" u="none" cap="none" strike="noStrike">
                <a:solidFill>
                  <a:srgbClr val="D8CDEE"/>
                </a:solidFill>
                <a:latin typeface="Calibri"/>
                <a:ea typeface="Calibri"/>
                <a:cs typeface="Calibri"/>
                <a:sym typeface="Calibri"/>
              </a:rPr>
              <a:t> fit_transform is not a leak.</a:t>
            </a:r>
            <a:endParaRPr b="0" i="0" sz="1050" u="none" cap="none" strike="noStrike">
              <a:solidFill>
                <a:schemeClr val="dk1"/>
              </a:solidFill>
              <a:latin typeface="Calibri"/>
              <a:ea typeface="Calibri"/>
              <a:cs typeface="Calibri"/>
              <a:sym typeface="Calibri"/>
            </a:endParaRPr>
          </a:p>
        </p:txBody>
      </p:sp>
      <p:sp>
        <p:nvSpPr>
          <p:cNvPr id="430" name="Google Shape;430;p13"/>
          <p:cNvSpPr/>
          <p:nvPr/>
        </p:nvSpPr>
        <p:spPr>
          <a:xfrm>
            <a:off x="502925" y="3219891"/>
            <a:ext cx="3182100" cy="987600"/>
          </a:xfrm>
          <a:prstGeom prst="roundRect">
            <a:avLst>
              <a:gd fmla="val 6481"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3"/>
          <p:cNvSpPr txBox="1"/>
          <p:nvPr/>
        </p:nvSpPr>
        <p:spPr>
          <a:xfrm>
            <a:off x="813816" y="3209544"/>
            <a:ext cx="2926080"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50"/>
              <a:buFont typeface="Courier New"/>
              <a:buNone/>
            </a:pPr>
            <a:r>
              <a:rPr b="0" i="0" lang="en-US" sz="850" u="none" cap="none" strike="noStrike">
                <a:solidFill>
                  <a:srgbClr val="5EE9B5"/>
                </a:solidFill>
                <a:latin typeface="Courier New"/>
                <a:ea typeface="Courier New"/>
                <a:cs typeface="Courier New"/>
                <a:sym typeface="Courier New"/>
              </a:rPr>
              <a:t>tree = ast.parse(src)</a:t>
            </a:r>
            <a:endParaRPr b="0" i="0" sz="850" u="none" cap="none" strike="noStrike">
              <a:solidFill>
                <a:schemeClr val="dk1"/>
              </a:solidFill>
              <a:latin typeface="Calibri"/>
              <a:ea typeface="Calibri"/>
              <a:cs typeface="Calibri"/>
              <a:sym typeface="Calibri"/>
            </a:endParaRPr>
          </a:p>
        </p:txBody>
      </p:sp>
      <p:sp>
        <p:nvSpPr>
          <p:cNvPr id="432" name="Google Shape;432;p13"/>
          <p:cNvSpPr txBox="1"/>
          <p:nvPr/>
        </p:nvSpPr>
        <p:spPr>
          <a:xfrm>
            <a:off x="813816" y="3387852"/>
            <a:ext cx="2926080"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sum(isinstance(n, ast.If)</a:t>
            </a:r>
            <a:endParaRPr b="0" i="0" sz="850" u="none" cap="none" strike="noStrike">
              <a:solidFill>
                <a:schemeClr val="dk1"/>
              </a:solidFill>
              <a:latin typeface="Calibri"/>
              <a:ea typeface="Calibri"/>
              <a:cs typeface="Calibri"/>
              <a:sym typeface="Calibri"/>
            </a:endParaRPr>
          </a:p>
        </p:txBody>
      </p:sp>
      <p:sp>
        <p:nvSpPr>
          <p:cNvPr id="433" name="Google Shape;433;p13"/>
          <p:cNvSpPr txBox="1"/>
          <p:nvPr/>
        </p:nvSpPr>
        <p:spPr>
          <a:xfrm>
            <a:off x="813816" y="3566160"/>
            <a:ext cx="2926080"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    for n in ast.walk(tree))</a:t>
            </a:r>
            <a:endParaRPr b="0" i="0" sz="850" u="none" cap="none" strike="noStrike">
              <a:solidFill>
                <a:schemeClr val="dk1"/>
              </a:solidFill>
              <a:latin typeface="Calibri"/>
              <a:ea typeface="Calibri"/>
              <a:cs typeface="Calibri"/>
              <a:sym typeface="Calibri"/>
            </a:endParaRPr>
          </a:p>
        </p:txBody>
      </p:sp>
      <p:sp>
        <p:nvSpPr>
          <p:cNvPr id="434" name="Google Shape;434;p13"/>
          <p:cNvSpPr txBox="1"/>
          <p:nvPr/>
        </p:nvSpPr>
        <p:spPr>
          <a:xfrm>
            <a:off x="813816" y="3744468"/>
            <a:ext cx="2926080"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50"/>
              <a:buFont typeface="Courier New"/>
              <a:buNone/>
            </a:pPr>
            <a:r>
              <a:rPr b="0" i="0" lang="en-US" sz="850" u="none" cap="none" strike="noStrike">
                <a:solidFill>
                  <a:srgbClr val="FBBF24"/>
                </a:solidFill>
                <a:latin typeface="Courier New"/>
                <a:ea typeface="Courier New"/>
                <a:cs typeface="Courier New"/>
                <a:sym typeface="Courier New"/>
              </a:rPr>
              <a:t>→ 4      # four extra paths</a:t>
            </a:r>
            <a:endParaRPr b="0" i="0" sz="850" u="none" cap="none" strike="noStrike">
              <a:solidFill>
                <a:schemeClr val="dk1"/>
              </a:solidFill>
              <a:latin typeface="Calibri"/>
              <a:ea typeface="Calibri"/>
              <a:cs typeface="Calibri"/>
              <a:sym typeface="Calibri"/>
            </a:endParaRPr>
          </a:p>
        </p:txBody>
      </p:sp>
      <p:sp>
        <p:nvSpPr>
          <p:cNvPr id="435" name="Google Shape;435;p13"/>
          <p:cNvSpPr txBox="1"/>
          <p:nvPr/>
        </p:nvSpPr>
        <p:spPr>
          <a:xfrm>
            <a:off x="813816" y="3922776"/>
            <a:ext cx="2926080" cy="1783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 gate 1 later is this same call</a:t>
            </a:r>
            <a:endParaRPr b="0" i="0" sz="850" u="none" cap="none" strike="noStrike">
              <a:solidFill>
                <a:schemeClr val="dk1"/>
              </a:solidFill>
              <a:latin typeface="Calibri"/>
              <a:ea typeface="Calibri"/>
              <a:cs typeface="Calibri"/>
              <a:sym typeface="Calibri"/>
            </a:endParaRPr>
          </a:p>
        </p:txBody>
      </p:sp>
      <p:sp>
        <p:nvSpPr>
          <p:cNvPr id="436" name="Google Shape;436;p13"/>
          <p:cNvSpPr/>
          <p:nvPr/>
        </p:nvSpPr>
        <p:spPr>
          <a:xfrm>
            <a:off x="4206240" y="1133856"/>
            <a:ext cx="4434840" cy="3127248"/>
          </a:xfrm>
          <a:prstGeom prst="roundRect">
            <a:avLst>
              <a:gd fmla="val 2632"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3"/>
          <p:cNvSpPr txBox="1"/>
          <p:nvPr/>
        </p:nvSpPr>
        <p:spPr>
          <a:xfrm>
            <a:off x="4370832" y="1243584"/>
            <a:ext cx="41148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50"/>
              <a:buFont typeface="Courier New"/>
              <a:buNone/>
            </a:pPr>
            <a:r>
              <a:rPr b="0" i="0" lang="en-US" sz="850" u="none" cap="none" strike="noStrike">
                <a:solidFill>
                  <a:srgbClr val="A78BFA"/>
                </a:solidFill>
                <a:latin typeface="Courier New"/>
                <a:ea typeface="Courier New"/>
                <a:cs typeface="Courier New"/>
                <a:sym typeface="Courier New"/>
              </a:rPr>
              <a:t>ast.parse("def fulfill_order(...)")</a:t>
            </a:r>
            <a:endParaRPr b="0" i="0" sz="850" u="none" cap="none" strike="noStrike">
              <a:solidFill>
                <a:schemeClr val="dk1"/>
              </a:solidFill>
              <a:latin typeface="Calibri"/>
              <a:ea typeface="Calibri"/>
              <a:cs typeface="Calibri"/>
              <a:sym typeface="Calibri"/>
            </a:endParaRPr>
          </a:p>
        </p:txBody>
      </p:sp>
      <p:cxnSp>
        <p:nvCxnSpPr>
          <p:cNvPr id="438" name="Google Shape;438;p13"/>
          <p:cNvCxnSpPr/>
          <p:nvPr/>
        </p:nvCxnSpPr>
        <p:spPr>
          <a:xfrm>
            <a:off x="6419088" y="1792224"/>
            <a:ext cx="5486" cy="256032"/>
          </a:xfrm>
          <a:prstGeom prst="straightConnector1">
            <a:avLst/>
          </a:prstGeom>
          <a:noFill/>
          <a:ln cap="flat" cmpd="sng" w="12700">
            <a:solidFill>
              <a:srgbClr val="5B4386"/>
            </a:solidFill>
            <a:prstDash val="solid"/>
            <a:round/>
            <a:headEnd len="sm" w="sm" type="none"/>
            <a:tailEnd len="sm" w="sm" type="none"/>
          </a:ln>
        </p:spPr>
      </p:cxnSp>
      <p:cxnSp>
        <p:nvCxnSpPr>
          <p:cNvPr id="439" name="Google Shape;439;p13"/>
          <p:cNvCxnSpPr/>
          <p:nvPr/>
        </p:nvCxnSpPr>
        <p:spPr>
          <a:xfrm flipH="1">
            <a:off x="4983480" y="2304288"/>
            <a:ext cx="1435608" cy="292608"/>
          </a:xfrm>
          <a:prstGeom prst="straightConnector1">
            <a:avLst/>
          </a:prstGeom>
          <a:noFill/>
          <a:ln cap="flat" cmpd="sng" w="12700">
            <a:solidFill>
              <a:srgbClr val="5B4386"/>
            </a:solidFill>
            <a:prstDash val="solid"/>
            <a:round/>
            <a:headEnd len="sm" w="sm" type="none"/>
            <a:tailEnd len="sm" w="sm" type="none"/>
          </a:ln>
        </p:spPr>
      </p:cxnSp>
      <p:cxnSp>
        <p:nvCxnSpPr>
          <p:cNvPr id="440" name="Google Shape;440;p13"/>
          <p:cNvCxnSpPr/>
          <p:nvPr/>
        </p:nvCxnSpPr>
        <p:spPr>
          <a:xfrm>
            <a:off x="6419088" y="2304288"/>
            <a:ext cx="5486" cy="292608"/>
          </a:xfrm>
          <a:prstGeom prst="straightConnector1">
            <a:avLst/>
          </a:prstGeom>
          <a:noFill/>
          <a:ln cap="flat" cmpd="sng" w="12700">
            <a:solidFill>
              <a:srgbClr val="5B4386"/>
            </a:solidFill>
            <a:prstDash val="solid"/>
            <a:round/>
            <a:headEnd len="sm" w="sm" type="none"/>
            <a:tailEnd len="sm" w="sm" type="none"/>
          </a:ln>
        </p:spPr>
      </p:cxnSp>
      <p:cxnSp>
        <p:nvCxnSpPr>
          <p:cNvPr id="441" name="Google Shape;441;p13"/>
          <p:cNvCxnSpPr/>
          <p:nvPr/>
        </p:nvCxnSpPr>
        <p:spPr>
          <a:xfrm>
            <a:off x="6419088" y="2304288"/>
            <a:ext cx="1444752" cy="292608"/>
          </a:xfrm>
          <a:prstGeom prst="straightConnector1">
            <a:avLst/>
          </a:prstGeom>
          <a:noFill/>
          <a:ln cap="flat" cmpd="sng" w="12700">
            <a:solidFill>
              <a:srgbClr val="5B4386"/>
            </a:solidFill>
            <a:prstDash val="solid"/>
            <a:round/>
            <a:headEnd len="sm" w="sm" type="none"/>
            <a:tailEnd len="sm" w="sm" type="none"/>
          </a:ln>
        </p:spPr>
      </p:cxnSp>
      <p:cxnSp>
        <p:nvCxnSpPr>
          <p:cNvPr id="442" name="Google Shape;442;p13"/>
          <p:cNvCxnSpPr/>
          <p:nvPr/>
        </p:nvCxnSpPr>
        <p:spPr>
          <a:xfrm flipH="1">
            <a:off x="5806440" y="2852928"/>
            <a:ext cx="612648" cy="292608"/>
          </a:xfrm>
          <a:prstGeom prst="straightConnector1">
            <a:avLst/>
          </a:prstGeom>
          <a:noFill/>
          <a:ln cap="flat" cmpd="sng" w="12700">
            <a:solidFill>
              <a:srgbClr val="5B4386"/>
            </a:solidFill>
            <a:prstDash val="solid"/>
            <a:round/>
            <a:headEnd len="sm" w="sm" type="none"/>
            <a:tailEnd len="sm" w="sm" type="none"/>
          </a:ln>
        </p:spPr>
      </p:cxnSp>
      <p:cxnSp>
        <p:nvCxnSpPr>
          <p:cNvPr id="443" name="Google Shape;443;p13"/>
          <p:cNvCxnSpPr/>
          <p:nvPr/>
        </p:nvCxnSpPr>
        <p:spPr>
          <a:xfrm>
            <a:off x="6419088" y="2852928"/>
            <a:ext cx="667512" cy="292608"/>
          </a:xfrm>
          <a:prstGeom prst="straightConnector1">
            <a:avLst/>
          </a:prstGeom>
          <a:noFill/>
          <a:ln cap="flat" cmpd="sng" w="12700">
            <a:solidFill>
              <a:srgbClr val="5B4386"/>
            </a:solidFill>
            <a:prstDash val="solid"/>
            <a:round/>
            <a:headEnd len="sm" w="sm" type="none"/>
            <a:tailEnd len="sm" w="sm" type="none"/>
          </a:ln>
        </p:spPr>
      </p:cxnSp>
      <p:cxnSp>
        <p:nvCxnSpPr>
          <p:cNvPr id="444" name="Google Shape;444;p13"/>
          <p:cNvCxnSpPr/>
          <p:nvPr/>
        </p:nvCxnSpPr>
        <p:spPr>
          <a:xfrm>
            <a:off x="5806440" y="3401568"/>
            <a:ext cx="5486" cy="292608"/>
          </a:xfrm>
          <a:prstGeom prst="straightConnector1">
            <a:avLst/>
          </a:prstGeom>
          <a:noFill/>
          <a:ln cap="flat" cmpd="sng" w="12700">
            <a:solidFill>
              <a:srgbClr val="5B4386"/>
            </a:solidFill>
            <a:prstDash val="solid"/>
            <a:round/>
            <a:headEnd len="sm" w="sm" type="none"/>
            <a:tailEnd len="sm" w="sm" type="none"/>
          </a:ln>
        </p:spPr>
      </p:cxnSp>
      <p:sp>
        <p:nvSpPr>
          <p:cNvPr id="445" name="Google Shape;445;p13"/>
          <p:cNvSpPr/>
          <p:nvPr/>
        </p:nvSpPr>
        <p:spPr>
          <a:xfrm>
            <a:off x="5961888" y="1536192"/>
            <a:ext cx="914400" cy="256032"/>
          </a:xfrm>
          <a:prstGeom prst="roundRect">
            <a:avLst>
              <a:gd fmla="val 17857" name="adj"/>
            </a:avLst>
          </a:prstGeom>
          <a:solidFill>
            <a:srgbClr val="3D2A5C"/>
          </a:solidFill>
          <a:ln cap="flat" cmpd="sng" w="12700">
            <a:solidFill>
              <a:srgbClr val="BBA9D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3"/>
          <p:cNvSpPr txBox="1"/>
          <p:nvPr/>
        </p:nvSpPr>
        <p:spPr>
          <a:xfrm>
            <a:off x="5961888" y="1536192"/>
            <a:ext cx="9144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Module</a:t>
            </a:r>
            <a:endParaRPr b="0" i="0" sz="750" u="none" cap="none" strike="noStrike">
              <a:solidFill>
                <a:schemeClr val="dk1"/>
              </a:solidFill>
              <a:latin typeface="Calibri"/>
              <a:ea typeface="Calibri"/>
              <a:cs typeface="Calibri"/>
              <a:sym typeface="Calibri"/>
            </a:endParaRPr>
          </a:p>
        </p:txBody>
      </p:sp>
      <p:sp>
        <p:nvSpPr>
          <p:cNvPr id="447" name="Google Shape;447;p13"/>
          <p:cNvSpPr/>
          <p:nvPr/>
        </p:nvSpPr>
        <p:spPr>
          <a:xfrm>
            <a:off x="5481828" y="2048256"/>
            <a:ext cx="1874520" cy="256032"/>
          </a:xfrm>
          <a:prstGeom prst="roundRect">
            <a:avLst>
              <a:gd fmla="val 17857" name="adj"/>
            </a:avLst>
          </a:prstGeom>
          <a:solidFill>
            <a:srgbClr val="3D2A5C"/>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3"/>
          <p:cNvSpPr txBox="1"/>
          <p:nvPr/>
        </p:nvSpPr>
        <p:spPr>
          <a:xfrm>
            <a:off x="5481828" y="2048256"/>
            <a:ext cx="18745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FunctionDef  ·  fulfill_order</a:t>
            </a:r>
            <a:endParaRPr b="0" i="0" sz="750" u="none" cap="none" strike="noStrike">
              <a:solidFill>
                <a:schemeClr val="dk1"/>
              </a:solidFill>
              <a:latin typeface="Calibri"/>
              <a:ea typeface="Calibri"/>
              <a:cs typeface="Calibri"/>
              <a:sym typeface="Calibri"/>
            </a:endParaRPr>
          </a:p>
        </p:txBody>
      </p:sp>
      <p:sp>
        <p:nvSpPr>
          <p:cNvPr id="449" name="Google Shape;449;p13"/>
          <p:cNvSpPr/>
          <p:nvPr/>
        </p:nvSpPr>
        <p:spPr>
          <a:xfrm>
            <a:off x="4366260" y="2596896"/>
            <a:ext cx="1234440" cy="256032"/>
          </a:xfrm>
          <a:prstGeom prst="roundRect">
            <a:avLst>
              <a:gd fmla="val 17857" name="adj"/>
            </a:avLst>
          </a:prstGeom>
          <a:solidFill>
            <a:srgbClr val="3D2A5C"/>
          </a:solidFill>
          <a:ln cap="flat" cmpd="sng" w="12700">
            <a:solidFill>
              <a:srgbClr val="BBA9D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3"/>
          <p:cNvSpPr txBox="1"/>
          <p:nvPr/>
        </p:nvSpPr>
        <p:spPr>
          <a:xfrm>
            <a:off x="4366260" y="2596896"/>
            <a:ext cx="123444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arguments (4)</a:t>
            </a:r>
            <a:endParaRPr b="0" i="0" sz="750" u="none" cap="none" strike="noStrike">
              <a:solidFill>
                <a:schemeClr val="dk1"/>
              </a:solidFill>
              <a:latin typeface="Calibri"/>
              <a:ea typeface="Calibri"/>
              <a:cs typeface="Calibri"/>
              <a:sym typeface="Calibri"/>
            </a:endParaRPr>
          </a:p>
        </p:txBody>
      </p:sp>
      <p:sp>
        <p:nvSpPr>
          <p:cNvPr id="451" name="Google Shape;451;p13"/>
          <p:cNvSpPr/>
          <p:nvPr/>
        </p:nvSpPr>
        <p:spPr>
          <a:xfrm>
            <a:off x="6053328" y="2596896"/>
            <a:ext cx="731520" cy="256032"/>
          </a:xfrm>
          <a:prstGeom prst="roundRect">
            <a:avLst>
              <a:gd fmla="val 17857" name="adj"/>
            </a:avLst>
          </a:prstGeom>
          <a:solidFill>
            <a:srgbClr val="3D2A5C"/>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3"/>
          <p:cNvSpPr txBox="1"/>
          <p:nvPr/>
        </p:nvSpPr>
        <p:spPr>
          <a:xfrm>
            <a:off x="6053328" y="2596896"/>
            <a:ext cx="7315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If  ×4</a:t>
            </a:r>
            <a:endParaRPr b="0" i="0" sz="750" u="none" cap="none" strike="noStrike">
              <a:solidFill>
                <a:schemeClr val="dk1"/>
              </a:solidFill>
              <a:latin typeface="Calibri"/>
              <a:ea typeface="Calibri"/>
              <a:cs typeface="Calibri"/>
              <a:sym typeface="Calibri"/>
            </a:endParaRPr>
          </a:p>
        </p:txBody>
      </p:sp>
      <p:sp>
        <p:nvSpPr>
          <p:cNvPr id="453" name="Google Shape;453;p13"/>
          <p:cNvSpPr/>
          <p:nvPr/>
        </p:nvSpPr>
        <p:spPr>
          <a:xfrm>
            <a:off x="7269480" y="2596896"/>
            <a:ext cx="1188720" cy="256032"/>
          </a:xfrm>
          <a:prstGeom prst="roundRect">
            <a:avLst>
              <a:gd fmla="val 17857" name="adj"/>
            </a:avLst>
          </a:prstGeom>
          <a:solidFill>
            <a:srgbClr val="3D2A5C"/>
          </a:solidFill>
          <a:ln cap="flat" cmpd="sng" w="12700">
            <a:solidFill>
              <a:srgbClr val="BBA9D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3"/>
          <p:cNvSpPr txBox="1"/>
          <p:nvPr/>
        </p:nvSpPr>
        <p:spPr>
          <a:xfrm>
            <a:off x="7269480" y="2596896"/>
            <a:ext cx="11887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Return "paid"</a:t>
            </a:r>
            <a:endParaRPr b="0" i="0" sz="750" u="none" cap="none" strike="noStrike">
              <a:solidFill>
                <a:schemeClr val="dk1"/>
              </a:solidFill>
              <a:latin typeface="Calibri"/>
              <a:ea typeface="Calibri"/>
              <a:cs typeface="Calibri"/>
              <a:sym typeface="Calibri"/>
            </a:endParaRPr>
          </a:p>
        </p:txBody>
      </p:sp>
      <p:sp>
        <p:nvSpPr>
          <p:cNvPr id="455" name="Google Shape;455;p13"/>
          <p:cNvSpPr/>
          <p:nvPr/>
        </p:nvSpPr>
        <p:spPr>
          <a:xfrm>
            <a:off x="5143500" y="3145536"/>
            <a:ext cx="1325880" cy="256032"/>
          </a:xfrm>
          <a:prstGeom prst="roundRect">
            <a:avLst>
              <a:gd fmla="val 17857" name="adj"/>
            </a:avLst>
          </a:prstGeom>
          <a:solidFill>
            <a:srgbClr val="3D2A5C"/>
          </a:solidFill>
          <a:ln cap="flat" cmpd="sng" w="12700">
            <a:solidFill>
              <a:srgbClr val="D8CD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3"/>
          <p:cNvSpPr txBox="1"/>
          <p:nvPr/>
        </p:nvSpPr>
        <p:spPr>
          <a:xfrm>
            <a:off x="5143500" y="3145536"/>
            <a:ext cx="132588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Compare  not …</a:t>
            </a:r>
            <a:endParaRPr b="0" i="0" sz="750" u="none" cap="none" strike="noStrike">
              <a:solidFill>
                <a:schemeClr val="dk1"/>
              </a:solidFill>
              <a:latin typeface="Calibri"/>
              <a:ea typeface="Calibri"/>
              <a:cs typeface="Calibri"/>
              <a:sym typeface="Calibri"/>
            </a:endParaRPr>
          </a:p>
        </p:txBody>
      </p:sp>
      <p:sp>
        <p:nvSpPr>
          <p:cNvPr id="457" name="Google Shape;457;p13"/>
          <p:cNvSpPr/>
          <p:nvPr/>
        </p:nvSpPr>
        <p:spPr>
          <a:xfrm>
            <a:off x="6377940" y="3145536"/>
            <a:ext cx="1417320" cy="256032"/>
          </a:xfrm>
          <a:prstGeom prst="roundRect">
            <a:avLst>
              <a:gd fmla="val 17857" name="adj"/>
            </a:avLst>
          </a:prstGeom>
          <a:solidFill>
            <a:srgbClr val="3D2A5C"/>
          </a:solidFill>
          <a:ln cap="flat" cmpd="sng" w="12700">
            <a:solidFill>
              <a:srgbClr val="D8CD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3"/>
          <p:cNvSpPr txBox="1"/>
          <p:nvPr/>
        </p:nvSpPr>
        <p:spPr>
          <a:xfrm>
            <a:off x="6377940" y="3145536"/>
            <a:ext cx="1417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Return "failed"</a:t>
            </a:r>
            <a:endParaRPr b="0" i="0" sz="750" u="none" cap="none" strike="noStrike">
              <a:solidFill>
                <a:schemeClr val="dk1"/>
              </a:solidFill>
              <a:latin typeface="Calibri"/>
              <a:ea typeface="Calibri"/>
              <a:cs typeface="Calibri"/>
              <a:sym typeface="Calibri"/>
            </a:endParaRPr>
          </a:p>
        </p:txBody>
      </p:sp>
      <p:sp>
        <p:nvSpPr>
          <p:cNvPr id="459" name="Google Shape;459;p13"/>
          <p:cNvSpPr/>
          <p:nvPr/>
        </p:nvSpPr>
        <p:spPr>
          <a:xfrm>
            <a:off x="5006340" y="3694176"/>
            <a:ext cx="1600200" cy="256032"/>
          </a:xfrm>
          <a:prstGeom prst="roundRect">
            <a:avLst>
              <a:gd fmla="val 17857" name="adj"/>
            </a:avLst>
          </a:prstGeom>
          <a:solidFill>
            <a:srgbClr val="3D2A5C"/>
          </a:solidFill>
          <a:ln cap="flat" cmpd="sng" w="12700">
            <a:solidFill>
              <a:srgbClr val="BBA9D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3"/>
          <p:cNvSpPr txBox="1"/>
          <p:nvPr/>
        </p:nvSpPr>
        <p:spPr>
          <a:xfrm>
            <a:off x="5006340" y="3694176"/>
            <a:ext cx="16002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Attribute  invoice_id</a:t>
            </a:r>
            <a:endParaRPr b="0" i="0" sz="750" u="none" cap="none" strike="noStrike">
              <a:solidFill>
                <a:schemeClr val="dk1"/>
              </a:solidFill>
              <a:latin typeface="Calibri"/>
              <a:ea typeface="Calibri"/>
              <a:cs typeface="Calibri"/>
              <a:sym typeface="Calibri"/>
            </a:endParaRPr>
          </a:p>
        </p:txBody>
      </p:sp>
      <p:sp>
        <p:nvSpPr>
          <p:cNvPr id="461" name="Google Shape;461;p13"/>
          <p:cNvSpPr txBox="1"/>
          <p:nvPr/>
        </p:nvSpPr>
        <p:spPr>
          <a:xfrm>
            <a:off x="4370832" y="3968496"/>
            <a:ext cx="41148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50"/>
              <a:buFont typeface="Calibri"/>
              <a:buNone/>
            </a:pPr>
            <a:r>
              <a:rPr b="0" i="1" lang="en-US" sz="850" u="none" cap="none" strike="noStrike">
                <a:solidFill>
                  <a:srgbClr val="E9DFFF"/>
                </a:solidFill>
                <a:latin typeface="Calibri"/>
                <a:ea typeface="Calibri"/>
                <a:cs typeface="Calibri"/>
                <a:sym typeface="Calibri"/>
              </a:rPr>
              <a:t>Each If is one more path a test should cover — radon counts exactly these.</a:t>
            </a:r>
            <a:endParaRPr b="0" i="0" sz="850" u="none" cap="none" strike="noStrike">
              <a:solidFill>
                <a:schemeClr val="dk1"/>
              </a:solidFill>
              <a:latin typeface="Calibri"/>
              <a:ea typeface="Calibri"/>
              <a:cs typeface="Calibri"/>
              <a:sym typeface="Calibri"/>
            </a:endParaRPr>
          </a:p>
        </p:txBody>
      </p:sp>
      <p:sp>
        <p:nvSpPr>
          <p:cNvPr id="462" name="Google Shape;462;p13"/>
          <p:cNvSpPr/>
          <p:nvPr/>
        </p:nvSpPr>
        <p:spPr>
          <a:xfrm>
            <a:off x="502920" y="4443984"/>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467" name="Shape 467"/>
        <p:cNvGrpSpPr/>
        <p:nvPr/>
      </p:nvGrpSpPr>
      <p:grpSpPr>
        <a:xfrm>
          <a:off x="0" y="0"/>
          <a:ext cx="0" cy="0"/>
          <a:chOff x="0" y="0"/>
          <a:chExt cx="0" cy="0"/>
        </a:xfrm>
      </p:grpSpPr>
      <p:sp>
        <p:nvSpPr>
          <p:cNvPr id="468" name="Google Shape;468;p14"/>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§1.2 · PREREQUISITE KNOWLEDGE, NOT A DEPENDENCY</a:t>
            </a:r>
            <a:endParaRPr b="0" i="0" sz="1050" u="none" cap="none" strike="noStrike">
              <a:solidFill>
                <a:schemeClr val="dk1"/>
              </a:solidFill>
              <a:latin typeface="Calibri"/>
              <a:ea typeface="Calibri"/>
              <a:cs typeface="Calibri"/>
              <a:sym typeface="Calibri"/>
            </a:endParaRPr>
          </a:p>
        </p:txBody>
      </p:sp>
      <p:sp>
        <p:nvSpPr>
          <p:cNvPr id="469" name="Google Shape;469;p14"/>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CPython ast / astroid vs tree-sitter</a:t>
            </a:r>
            <a:endParaRPr b="0" i="0" sz="2700" u="none" cap="none" strike="noStrike">
              <a:solidFill>
                <a:schemeClr val="dk1"/>
              </a:solidFill>
              <a:latin typeface="Calibri"/>
              <a:ea typeface="Calibri"/>
              <a:cs typeface="Calibri"/>
              <a:sym typeface="Calibri"/>
            </a:endParaRPr>
          </a:p>
        </p:txBody>
      </p:sp>
      <p:sp>
        <p:nvSpPr>
          <p:cNvPr id="470" name="Google Shape;470;p14">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471" name="Google Shape;471;p14"/>
          <p:cNvSpPr/>
          <p:nvPr/>
        </p:nvSpPr>
        <p:spPr>
          <a:xfrm>
            <a:off x="2468880" y="1133856"/>
            <a:ext cx="3017520" cy="2615184"/>
          </a:xfrm>
          <a:prstGeom prst="roundRect">
            <a:avLst>
              <a:gd fmla="val 3147"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4"/>
          <p:cNvSpPr/>
          <p:nvPr/>
        </p:nvSpPr>
        <p:spPr>
          <a:xfrm>
            <a:off x="5577840" y="1133856"/>
            <a:ext cx="3017520" cy="2615184"/>
          </a:xfrm>
          <a:prstGeom prst="roundRect">
            <a:avLst>
              <a:gd fmla="val 3147"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4"/>
          <p:cNvSpPr/>
          <p:nvPr/>
        </p:nvSpPr>
        <p:spPr>
          <a:xfrm>
            <a:off x="2633472" y="1261872"/>
            <a:ext cx="1417320" cy="237744"/>
          </a:xfrm>
          <a:prstGeom prst="roundRect">
            <a:avLst>
              <a:gd fmla="val 23077" name="adj"/>
            </a:avLst>
          </a:prstGeom>
          <a:solidFill>
            <a:srgbClr val="1E1230"/>
          </a:solidFill>
          <a:ln cap="flat" cmpd="sng" w="9525">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4"/>
          <p:cNvSpPr txBox="1"/>
          <p:nvPr/>
        </p:nvSpPr>
        <p:spPr>
          <a:xfrm>
            <a:off x="2633472" y="1261872"/>
            <a:ext cx="141732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WE RUN THIS</a:t>
            </a:r>
            <a:endParaRPr b="0" i="0" sz="800" u="none" cap="none" strike="noStrike">
              <a:solidFill>
                <a:schemeClr val="dk1"/>
              </a:solidFill>
              <a:latin typeface="Calibri"/>
              <a:ea typeface="Calibri"/>
              <a:cs typeface="Calibri"/>
              <a:sym typeface="Calibri"/>
            </a:endParaRPr>
          </a:p>
        </p:txBody>
      </p:sp>
      <p:sp>
        <p:nvSpPr>
          <p:cNvPr id="475" name="Google Shape;475;p14"/>
          <p:cNvSpPr/>
          <p:nvPr/>
        </p:nvSpPr>
        <p:spPr>
          <a:xfrm>
            <a:off x="5742432" y="1261872"/>
            <a:ext cx="1600200"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4"/>
          <p:cNvSpPr txBox="1"/>
          <p:nvPr/>
        </p:nvSpPr>
        <p:spPr>
          <a:xfrm>
            <a:off x="5742432" y="1261872"/>
            <a:ext cx="160020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GOOD TO KNOW</a:t>
            </a:r>
            <a:endParaRPr b="0" i="0" sz="800" u="none" cap="none" strike="noStrike">
              <a:solidFill>
                <a:schemeClr val="dk1"/>
              </a:solidFill>
              <a:latin typeface="Calibri"/>
              <a:ea typeface="Calibri"/>
              <a:cs typeface="Calibri"/>
              <a:sym typeface="Calibri"/>
            </a:endParaRPr>
          </a:p>
        </p:txBody>
      </p:sp>
      <p:sp>
        <p:nvSpPr>
          <p:cNvPr id="477" name="Google Shape;477;p14"/>
          <p:cNvSpPr txBox="1"/>
          <p:nvPr/>
        </p:nvSpPr>
        <p:spPr>
          <a:xfrm>
            <a:off x="2633472" y="1554480"/>
            <a:ext cx="2697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CPython ast / astroid</a:t>
            </a:r>
            <a:endParaRPr b="0" i="0" sz="1500" u="none" cap="none" strike="noStrike">
              <a:solidFill>
                <a:schemeClr val="dk1"/>
              </a:solidFill>
              <a:latin typeface="Calibri"/>
              <a:ea typeface="Calibri"/>
              <a:cs typeface="Calibri"/>
              <a:sym typeface="Calibri"/>
            </a:endParaRPr>
          </a:p>
        </p:txBody>
      </p:sp>
      <p:sp>
        <p:nvSpPr>
          <p:cNvPr id="478" name="Google Shape;478;p14"/>
          <p:cNvSpPr txBox="1"/>
          <p:nvPr/>
        </p:nvSpPr>
        <p:spPr>
          <a:xfrm>
            <a:off x="5742432" y="1554480"/>
            <a:ext cx="2697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tree-sitter</a:t>
            </a:r>
            <a:endParaRPr b="0" i="0" sz="1500" u="none" cap="none" strike="noStrike">
              <a:solidFill>
                <a:schemeClr val="dk1"/>
              </a:solidFill>
              <a:latin typeface="Calibri"/>
              <a:ea typeface="Calibri"/>
              <a:cs typeface="Calibri"/>
              <a:sym typeface="Calibri"/>
            </a:endParaRPr>
          </a:p>
        </p:txBody>
      </p:sp>
      <p:sp>
        <p:nvSpPr>
          <p:cNvPr id="479" name="Google Shape;479;p14"/>
          <p:cNvSpPr txBox="1"/>
          <p:nvPr/>
        </p:nvSpPr>
        <p:spPr>
          <a:xfrm>
            <a:off x="502920" y="1920240"/>
            <a:ext cx="187452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JOB</a:t>
            </a:r>
            <a:endParaRPr b="0" i="0" sz="800" u="none" cap="none" strike="noStrike">
              <a:solidFill>
                <a:schemeClr val="dk1"/>
              </a:solidFill>
              <a:latin typeface="Calibri"/>
              <a:ea typeface="Calibri"/>
              <a:cs typeface="Calibri"/>
              <a:sym typeface="Calibri"/>
            </a:endParaRPr>
          </a:p>
        </p:txBody>
      </p:sp>
      <p:sp>
        <p:nvSpPr>
          <p:cNvPr id="480" name="Google Shape;480;p14"/>
          <p:cNvSpPr txBox="1"/>
          <p:nvPr/>
        </p:nvSpPr>
        <p:spPr>
          <a:xfrm>
            <a:off x="2633472" y="19202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Exact Python semantics — scopes, what a name actually refers to</a:t>
            </a:r>
            <a:endParaRPr b="0" i="0" sz="950" u="none" cap="none" strike="noStrike">
              <a:solidFill>
                <a:schemeClr val="dk1"/>
              </a:solidFill>
              <a:latin typeface="Calibri"/>
              <a:ea typeface="Calibri"/>
              <a:cs typeface="Calibri"/>
              <a:sym typeface="Calibri"/>
            </a:endParaRPr>
          </a:p>
        </p:txBody>
      </p:sp>
      <p:sp>
        <p:nvSpPr>
          <p:cNvPr id="481" name="Google Shape;481;p14"/>
          <p:cNvSpPr txBox="1"/>
          <p:nvPr/>
        </p:nvSpPr>
        <p:spPr>
          <a:xfrm>
            <a:off x="5742432" y="19202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Incremental, error-tolerant, many languages</a:t>
            </a:r>
            <a:endParaRPr b="0" i="0" sz="950" u="none" cap="none" strike="noStrike">
              <a:solidFill>
                <a:schemeClr val="dk1"/>
              </a:solidFill>
              <a:latin typeface="Calibri"/>
              <a:ea typeface="Calibri"/>
              <a:cs typeface="Calibri"/>
              <a:sym typeface="Calibri"/>
            </a:endParaRPr>
          </a:p>
        </p:txBody>
      </p:sp>
      <p:cxnSp>
        <p:nvCxnSpPr>
          <p:cNvPr id="482" name="Google Shape;482;p14"/>
          <p:cNvCxnSpPr/>
          <p:nvPr/>
        </p:nvCxnSpPr>
        <p:spPr>
          <a:xfrm>
            <a:off x="2468880" y="2350008"/>
            <a:ext cx="6126480" cy="914"/>
          </a:xfrm>
          <a:prstGeom prst="straightConnector1">
            <a:avLst/>
          </a:prstGeom>
          <a:noFill/>
          <a:ln cap="flat" cmpd="sng" w="9525">
            <a:solidFill>
              <a:srgbClr val="5B4386"/>
            </a:solidFill>
            <a:prstDash val="solid"/>
            <a:round/>
            <a:headEnd len="sm" w="sm" type="none"/>
            <a:tailEnd len="sm" w="sm" type="none"/>
          </a:ln>
        </p:spPr>
      </p:cxnSp>
      <p:sp>
        <p:nvSpPr>
          <p:cNvPr id="483" name="Google Shape;483;p14"/>
          <p:cNvSpPr txBox="1"/>
          <p:nvPr/>
        </p:nvSpPr>
        <p:spPr>
          <a:xfrm>
            <a:off x="502920" y="2377440"/>
            <a:ext cx="187452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WHO USES IT HERE</a:t>
            </a:r>
            <a:endParaRPr b="0" i="0" sz="800" u="none" cap="none" strike="noStrike">
              <a:solidFill>
                <a:schemeClr val="dk1"/>
              </a:solidFill>
              <a:latin typeface="Calibri"/>
              <a:ea typeface="Calibri"/>
              <a:cs typeface="Calibri"/>
              <a:sym typeface="Calibri"/>
            </a:endParaRPr>
          </a:p>
        </p:txBody>
      </p:sp>
      <p:sp>
        <p:nvSpPr>
          <p:cNvPr id="484" name="Google Shape;484;p14"/>
          <p:cNvSpPr txBox="1"/>
          <p:nvPr/>
        </p:nvSpPr>
        <p:spPr>
          <a:xfrm>
            <a:off x="2633472" y="23774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PyExamine + MLScent</a:t>
            </a:r>
            <a:endParaRPr b="0" i="0" sz="950" u="none" cap="none" strike="noStrike">
              <a:solidFill>
                <a:schemeClr val="dk1"/>
              </a:solidFill>
              <a:latin typeface="Calibri"/>
              <a:ea typeface="Calibri"/>
              <a:cs typeface="Calibri"/>
              <a:sym typeface="Calibri"/>
            </a:endParaRPr>
          </a:p>
        </p:txBody>
      </p:sp>
      <p:sp>
        <p:nvSpPr>
          <p:cNvPr id="485" name="Google Shape;485;p14"/>
          <p:cNvSpPr txBox="1"/>
          <p:nvPr/>
        </p:nvSpPr>
        <p:spPr>
          <a:xfrm>
            <a:off x="5742432" y="23774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Editors, GitHub, Semgrep, other linters</a:t>
            </a:r>
            <a:endParaRPr b="0" i="0" sz="950" u="none" cap="none" strike="noStrike">
              <a:solidFill>
                <a:schemeClr val="dk1"/>
              </a:solidFill>
              <a:latin typeface="Calibri"/>
              <a:ea typeface="Calibri"/>
              <a:cs typeface="Calibri"/>
              <a:sym typeface="Calibri"/>
            </a:endParaRPr>
          </a:p>
        </p:txBody>
      </p:sp>
      <p:cxnSp>
        <p:nvCxnSpPr>
          <p:cNvPr id="486" name="Google Shape;486;p14"/>
          <p:cNvCxnSpPr/>
          <p:nvPr/>
        </p:nvCxnSpPr>
        <p:spPr>
          <a:xfrm>
            <a:off x="2468880" y="2807208"/>
            <a:ext cx="6126480" cy="914"/>
          </a:xfrm>
          <a:prstGeom prst="straightConnector1">
            <a:avLst/>
          </a:prstGeom>
          <a:noFill/>
          <a:ln cap="flat" cmpd="sng" w="9525">
            <a:solidFill>
              <a:srgbClr val="5B4386"/>
            </a:solidFill>
            <a:prstDash val="solid"/>
            <a:round/>
            <a:headEnd len="sm" w="sm" type="none"/>
            <a:tailEnd len="sm" w="sm" type="none"/>
          </a:ln>
        </p:spPr>
      </p:cxnSp>
      <p:sp>
        <p:nvSpPr>
          <p:cNvPr id="487" name="Google Shape;487;p14"/>
          <p:cNvSpPr txBox="1"/>
          <p:nvPr/>
        </p:nvSpPr>
        <p:spPr>
          <a:xfrm>
            <a:off x="502920" y="2834640"/>
            <a:ext cx="187452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BROKEN FILE</a:t>
            </a:r>
            <a:endParaRPr b="0" i="0" sz="800" u="none" cap="none" strike="noStrike">
              <a:solidFill>
                <a:schemeClr val="dk1"/>
              </a:solidFill>
              <a:latin typeface="Calibri"/>
              <a:ea typeface="Calibri"/>
              <a:cs typeface="Calibri"/>
              <a:sym typeface="Calibri"/>
            </a:endParaRPr>
          </a:p>
        </p:txBody>
      </p:sp>
      <p:sp>
        <p:nvSpPr>
          <p:cNvPr id="488" name="Google Shape;488;p14"/>
          <p:cNvSpPr txBox="1"/>
          <p:nvPr/>
        </p:nvSpPr>
        <p:spPr>
          <a:xfrm>
            <a:off x="2633472" y="28346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SyntaxError — skip it or fail</a:t>
            </a:r>
            <a:endParaRPr b="0" i="0" sz="950" u="none" cap="none" strike="noStrike">
              <a:solidFill>
                <a:schemeClr val="dk1"/>
              </a:solidFill>
              <a:latin typeface="Calibri"/>
              <a:ea typeface="Calibri"/>
              <a:cs typeface="Calibri"/>
              <a:sym typeface="Calibri"/>
            </a:endParaRPr>
          </a:p>
        </p:txBody>
      </p:sp>
      <p:sp>
        <p:nvSpPr>
          <p:cNvPr id="489" name="Google Shape;489;p14"/>
          <p:cNvSpPr txBox="1"/>
          <p:nvPr/>
        </p:nvSpPr>
        <p:spPr>
          <a:xfrm>
            <a:off x="5742432" y="28346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Still builds a partial tree</a:t>
            </a:r>
            <a:endParaRPr b="0" i="0" sz="950" u="none" cap="none" strike="noStrike">
              <a:solidFill>
                <a:schemeClr val="dk1"/>
              </a:solidFill>
              <a:latin typeface="Calibri"/>
              <a:ea typeface="Calibri"/>
              <a:cs typeface="Calibri"/>
              <a:sym typeface="Calibri"/>
            </a:endParaRPr>
          </a:p>
        </p:txBody>
      </p:sp>
      <p:cxnSp>
        <p:nvCxnSpPr>
          <p:cNvPr id="490" name="Google Shape;490;p14"/>
          <p:cNvCxnSpPr/>
          <p:nvPr/>
        </p:nvCxnSpPr>
        <p:spPr>
          <a:xfrm>
            <a:off x="2468880" y="3264408"/>
            <a:ext cx="6126480" cy="914"/>
          </a:xfrm>
          <a:prstGeom prst="straightConnector1">
            <a:avLst/>
          </a:prstGeom>
          <a:noFill/>
          <a:ln cap="flat" cmpd="sng" w="9525">
            <a:solidFill>
              <a:srgbClr val="5B4386"/>
            </a:solidFill>
            <a:prstDash val="solid"/>
            <a:round/>
            <a:headEnd len="sm" w="sm" type="none"/>
            <a:tailEnd len="sm" w="sm" type="none"/>
          </a:ln>
        </p:spPr>
      </p:cxnSp>
      <p:sp>
        <p:nvSpPr>
          <p:cNvPr id="491" name="Google Shape;491;p14"/>
          <p:cNvSpPr txBox="1"/>
          <p:nvPr/>
        </p:nvSpPr>
        <p:spPr>
          <a:xfrm>
            <a:off x="502920" y="3291840"/>
            <a:ext cx="187452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IN THIS WORKSHOP</a:t>
            </a:r>
            <a:endParaRPr b="0" i="0" sz="800" u="none" cap="none" strike="noStrike">
              <a:solidFill>
                <a:schemeClr val="dk1"/>
              </a:solidFill>
              <a:latin typeface="Calibri"/>
              <a:ea typeface="Calibri"/>
              <a:cs typeface="Calibri"/>
              <a:sym typeface="Calibri"/>
            </a:endParaRPr>
          </a:p>
        </p:txBody>
      </p:sp>
      <p:sp>
        <p:nvSpPr>
          <p:cNvPr id="492" name="Google Shape;492;p14"/>
          <p:cNvSpPr txBox="1"/>
          <p:nvPr/>
        </p:nvSpPr>
        <p:spPr>
          <a:xfrm>
            <a:off x="2633472" y="32918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We run it in every detector cell</a:t>
            </a:r>
            <a:endParaRPr b="0" i="0" sz="950" u="none" cap="none" strike="noStrike">
              <a:solidFill>
                <a:schemeClr val="dk1"/>
              </a:solidFill>
              <a:latin typeface="Calibri"/>
              <a:ea typeface="Calibri"/>
              <a:cs typeface="Calibri"/>
              <a:sym typeface="Calibri"/>
            </a:endParaRPr>
          </a:p>
        </p:txBody>
      </p:sp>
      <p:sp>
        <p:nvSpPr>
          <p:cNvPr id="493" name="Google Shape;493;p14"/>
          <p:cNvSpPr txBox="1"/>
          <p:nvPr/>
        </p:nvSpPr>
        <p:spPr>
          <a:xfrm>
            <a:off x="5742432" y="3291840"/>
            <a:ext cx="269748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Optional import; the cell survives without it</a:t>
            </a:r>
            <a:endParaRPr b="0" i="0" sz="950" u="none" cap="none" strike="noStrike">
              <a:solidFill>
                <a:schemeClr val="dk1"/>
              </a:solidFill>
              <a:latin typeface="Calibri"/>
              <a:ea typeface="Calibri"/>
              <a:cs typeface="Calibri"/>
              <a:sym typeface="Calibri"/>
            </a:endParaRPr>
          </a:p>
        </p:txBody>
      </p:sp>
      <p:sp>
        <p:nvSpPr>
          <p:cNvPr id="494" name="Google Shape;494;p14"/>
          <p:cNvSpPr/>
          <p:nvPr/>
        </p:nvSpPr>
        <p:spPr>
          <a:xfrm>
            <a:off x="502920" y="3877056"/>
            <a:ext cx="8138160" cy="621792"/>
          </a:xfrm>
          <a:prstGeom prst="roundRect">
            <a:avLst>
              <a:gd fmla="val 13235" name="adj"/>
            </a:avLst>
          </a:prstGeom>
          <a:solidFill>
            <a:srgbClr val="1E1230"/>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14"/>
          <p:cNvSpPr txBox="1"/>
          <p:nvPr/>
        </p:nvSpPr>
        <p:spPr>
          <a:xfrm>
            <a:off x="685800" y="3877056"/>
            <a:ext cx="777240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50"/>
              <a:buFont typeface="Courier New"/>
              <a:buNone/>
            </a:pPr>
            <a:r>
              <a:rPr b="0" i="0" lang="en-US" sz="850" u="none" cap="none" strike="noStrike">
                <a:solidFill>
                  <a:srgbClr val="A78BFA"/>
                </a:solidFill>
                <a:latin typeface="Courier New"/>
                <a:ea typeface="Courier New"/>
                <a:cs typeface="Courier New"/>
                <a:sym typeface="Courier New"/>
              </a:rPr>
              <a:t>INSTRUCTOR ONE-LINER   </a:t>
            </a:r>
            <a:r>
              <a:rPr b="0" i="1" lang="en-US" sz="1150" u="none" cap="none" strike="noStrike">
                <a:solidFill>
                  <a:srgbClr val="E9DFFF"/>
                </a:solidFill>
                <a:latin typeface="Calibri"/>
                <a:ea typeface="Calibri"/>
                <a:cs typeface="Calibri"/>
                <a:sym typeface="Calibri"/>
              </a:rPr>
              <a:t>Tree-sitter is why VS Code still highlights a file you have not finished typing. Our detectors chose astroid because they need Python-aware scopes, not a generic CST.</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500" name="Shape 500"/>
        <p:cNvGrpSpPr/>
        <p:nvPr/>
      </p:nvGrpSpPr>
      <p:grpSpPr>
        <a:xfrm>
          <a:off x="0" y="0"/>
          <a:ext cx="0" cy="0"/>
          <a:chOff x="0" y="0"/>
          <a:chExt cx="0" cy="0"/>
        </a:xfrm>
      </p:grpSpPr>
      <p:sp>
        <p:nvSpPr>
          <p:cNvPr id="501" name="Google Shape;501;p15"/>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§1.3 · MULTI-LEVEL SMELL DETECTION · MSR 2025</a:t>
            </a:r>
            <a:endParaRPr b="0" i="0" sz="1050" u="none" cap="none" strike="noStrike">
              <a:solidFill>
                <a:schemeClr val="dk1"/>
              </a:solidFill>
              <a:latin typeface="Calibri"/>
              <a:ea typeface="Calibri"/>
              <a:cs typeface="Calibri"/>
              <a:sym typeface="Calibri"/>
            </a:endParaRPr>
          </a:p>
        </p:txBody>
      </p:sp>
      <p:sp>
        <p:nvSpPr>
          <p:cNvPr id="502" name="Google Shape;502;p15"/>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PyExamine — what it is, and what it is not</a:t>
            </a:r>
            <a:endParaRPr b="0" i="0" sz="2700" u="none" cap="none" strike="noStrike">
              <a:solidFill>
                <a:schemeClr val="dk1"/>
              </a:solidFill>
              <a:latin typeface="Calibri"/>
              <a:ea typeface="Calibri"/>
              <a:cs typeface="Calibri"/>
              <a:sym typeface="Calibri"/>
            </a:endParaRPr>
          </a:p>
        </p:txBody>
      </p:sp>
      <p:sp>
        <p:nvSpPr>
          <p:cNvPr id="503" name="Google Shape;503;p15">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504" name="Google Shape;504;p15"/>
          <p:cNvSpPr/>
          <p:nvPr/>
        </p:nvSpPr>
        <p:spPr>
          <a:xfrm>
            <a:off x="502920" y="1133856"/>
            <a:ext cx="8138160" cy="475488"/>
          </a:xfrm>
          <a:prstGeom prst="roundRect">
            <a:avLst>
              <a:gd fmla="val 1730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5"/>
          <p:cNvSpPr txBox="1"/>
          <p:nvPr/>
        </p:nvSpPr>
        <p:spPr>
          <a:xfrm>
            <a:off x="667512" y="1133856"/>
            <a:ext cx="7808976"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050"/>
              <a:buFont typeface="Courier New"/>
              <a:buNone/>
            </a:pPr>
            <a:r>
              <a:rPr b="1" i="0" lang="en-US" sz="1050" u="sng" cap="none" strike="noStrike">
                <a:solidFill>
                  <a:schemeClr val="hlink"/>
                </a:solidFill>
                <a:latin typeface="Courier New"/>
                <a:ea typeface="Courier New"/>
                <a:cs typeface="Courier New"/>
                <a:sym typeface="Courier New"/>
                <a:hlinkClick r:id="rId5"/>
              </a:rPr>
              <a:t>pip install code-quality-analyzer</a:t>
            </a:r>
            <a:r>
              <a:rPr b="0" i="0" lang="en-US" sz="1050" u="none" cap="none" strike="noStrike">
                <a:solidFill>
                  <a:srgbClr val="BBA9DE"/>
                </a:solidFill>
                <a:latin typeface="Calibri"/>
                <a:ea typeface="Calibri"/>
                <a:cs typeface="Calibri"/>
                <a:sym typeface="Calibri"/>
              </a:rPr>
              <a:t>     CLI: </a:t>
            </a:r>
            <a:r>
              <a:rPr b="0" i="0" lang="en-US" sz="1050" u="none" cap="none" strike="noStrike">
                <a:solidFill>
                  <a:srgbClr val="E9DFFF"/>
                </a:solidFill>
                <a:latin typeface="Courier New"/>
                <a:ea typeface="Courier New"/>
                <a:cs typeface="Courier New"/>
                <a:sym typeface="Courier New"/>
              </a:rPr>
              <a:t>analyze_code_quality &lt;dir&gt; --type code --output pyx</a:t>
            </a:r>
            <a:r>
              <a:rPr b="0" i="0" lang="en-US" sz="1050" u="none" cap="none" strike="noStrike">
                <a:solidFill>
                  <a:srgbClr val="BBA9DE"/>
                </a:solidFill>
                <a:latin typeface="Calibri"/>
                <a:ea typeface="Calibri"/>
                <a:cs typeface="Calibri"/>
                <a:sym typeface="Calibri"/>
              </a:rPr>
              <a:t>     writes pyx.txt + pyx.csv (one row per smell)</a:t>
            </a:r>
            <a:endParaRPr b="0" i="0" sz="1050" u="none" cap="none" strike="noStrike">
              <a:solidFill>
                <a:schemeClr val="dk1"/>
              </a:solidFill>
              <a:latin typeface="Calibri"/>
              <a:ea typeface="Calibri"/>
              <a:cs typeface="Calibri"/>
              <a:sym typeface="Calibri"/>
            </a:endParaRPr>
          </a:p>
        </p:txBody>
      </p:sp>
      <p:sp>
        <p:nvSpPr>
          <p:cNvPr id="506" name="Google Shape;506;p15"/>
          <p:cNvSpPr/>
          <p:nvPr/>
        </p:nvSpPr>
        <p:spPr>
          <a:xfrm>
            <a:off x="502920" y="1737360"/>
            <a:ext cx="2615184" cy="1700784"/>
          </a:xfrm>
          <a:prstGeom prst="roundRect">
            <a:avLst>
              <a:gd fmla="val 4839"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15"/>
          <p:cNvSpPr txBox="1"/>
          <p:nvPr/>
        </p:nvSpPr>
        <p:spPr>
          <a:xfrm>
            <a:off x="649224" y="1856232"/>
            <a:ext cx="23225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500"/>
              <a:buFont typeface="Cambria"/>
              <a:buNone/>
            </a:pPr>
            <a:r>
              <a:rPr b="1" i="0" lang="en-US" sz="1500" u="none" cap="none" strike="noStrike">
                <a:solidFill>
                  <a:srgbClr val="A78BFA"/>
                </a:solidFill>
                <a:latin typeface="Cambria"/>
                <a:ea typeface="Cambria"/>
                <a:cs typeface="Cambria"/>
                <a:sym typeface="Cambria"/>
              </a:rPr>
              <a:t>Code</a:t>
            </a:r>
            <a:endParaRPr b="0" i="0" sz="1500" u="none" cap="none" strike="noStrike">
              <a:solidFill>
                <a:schemeClr val="dk1"/>
              </a:solidFill>
              <a:latin typeface="Calibri"/>
              <a:ea typeface="Calibri"/>
              <a:cs typeface="Calibri"/>
              <a:sym typeface="Calibri"/>
            </a:endParaRPr>
          </a:p>
        </p:txBody>
      </p:sp>
      <p:sp>
        <p:nvSpPr>
          <p:cNvPr id="508" name="Google Shape;508;p15"/>
          <p:cNvSpPr/>
          <p:nvPr/>
        </p:nvSpPr>
        <p:spPr>
          <a:xfrm>
            <a:off x="649224" y="2139696"/>
            <a:ext cx="141732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5"/>
          <p:cNvSpPr txBox="1"/>
          <p:nvPr/>
        </p:nvSpPr>
        <p:spPr>
          <a:xfrm>
            <a:off x="649224" y="2139696"/>
            <a:ext cx="141732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18 + 5 cross-file</a:t>
            </a:r>
            <a:endParaRPr b="0" i="0" sz="750" u="none" cap="none" strike="noStrike">
              <a:solidFill>
                <a:schemeClr val="dk1"/>
              </a:solidFill>
              <a:latin typeface="Calibri"/>
              <a:ea typeface="Calibri"/>
              <a:cs typeface="Calibri"/>
              <a:sym typeface="Calibri"/>
            </a:endParaRPr>
          </a:p>
        </p:txBody>
      </p:sp>
      <p:sp>
        <p:nvSpPr>
          <p:cNvPr id="510" name="Google Shape;510;p15"/>
          <p:cNvSpPr txBox="1"/>
          <p:nvPr/>
        </p:nvSpPr>
        <p:spPr>
          <a:xfrm>
            <a:off x="649224" y="2432304"/>
            <a:ext cx="2322576"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Long Method? Feature Envy? Dead code? Duplicated blocks?</a:t>
            </a:r>
            <a:endParaRPr b="0" i="0" sz="1000" u="none" cap="none" strike="noStrike">
              <a:solidFill>
                <a:schemeClr val="dk1"/>
              </a:solidFill>
              <a:latin typeface="Calibri"/>
              <a:ea typeface="Calibri"/>
              <a:cs typeface="Calibri"/>
              <a:sym typeface="Calibri"/>
            </a:endParaRPr>
          </a:p>
        </p:txBody>
      </p:sp>
      <p:sp>
        <p:nvSpPr>
          <p:cNvPr id="511" name="Google Shape;511;p15"/>
          <p:cNvSpPr txBox="1"/>
          <p:nvPr/>
        </p:nvSpPr>
        <p:spPr>
          <a:xfrm>
            <a:off x="649224" y="2907792"/>
            <a:ext cx="2322576"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ON PAYFLOW</a:t>
            </a:r>
            <a:endParaRPr b="0" i="0" sz="750" u="none" cap="none" strike="noStrike">
              <a:solidFill>
                <a:schemeClr val="dk1"/>
              </a:solidFill>
              <a:latin typeface="Calibri"/>
              <a:ea typeface="Calibri"/>
              <a:cs typeface="Calibri"/>
              <a:sym typeface="Calibri"/>
            </a:endParaRPr>
          </a:p>
        </p:txBody>
      </p:sp>
      <p:sp>
        <p:nvSpPr>
          <p:cNvPr id="512" name="Google Shape;512;p15"/>
          <p:cNvSpPr txBox="1"/>
          <p:nvPr/>
        </p:nvSpPr>
        <p:spPr>
          <a:xfrm>
            <a:off x="649224" y="3072384"/>
            <a:ext cx="2322576"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1" lang="en-US" sz="900" u="none" cap="none" strike="noStrike">
                <a:solidFill>
                  <a:srgbClr val="BBA9DE"/>
                </a:solidFill>
                <a:latin typeface="Calibri"/>
                <a:ea typeface="Calibri"/>
                <a:cs typeface="Calibri"/>
                <a:sym typeface="Calibri"/>
              </a:rPr>
              <a:t>fulfill_order does validation + inventory + charge + mail</a:t>
            </a:r>
            <a:endParaRPr b="0" i="0" sz="900" u="none" cap="none" strike="noStrike">
              <a:solidFill>
                <a:schemeClr val="dk1"/>
              </a:solidFill>
              <a:latin typeface="Calibri"/>
              <a:ea typeface="Calibri"/>
              <a:cs typeface="Calibri"/>
              <a:sym typeface="Calibri"/>
            </a:endParaRPr>
          </a:p>
        </p:txBody>
      </p:sp>
      <p:sp>
        <p:nvSpPr>
          <p:cNvPr id="513" name="Google Shape;513;p15"/>
          <p:cNvSpPr/>
          <p:nvPr/>
        </p:nvSpPr>
        <p:spPr>
          <a:xfrm>
            <a:off x="3264408" y="1737360"/>
            <a:ext cx="2615184" cy="1700784"/>
          </a:xfrm>
          <a:prstGeom prst="roundRect">
            <a:avLst>
              <a:gd fmla="val 4839"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5"/>
          <p:cNvSpPr txBox="1"/>
          <p:nvPr/>
        </p:nvSpPr>
        <p:spPr>
          <a:xfrm>
            <a:off x="3410712" y="1856232"/>
            <a:ext cx="23225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500"/>
              <a:buFont typeface="Cambria"/>
              <a:buNone/>
            </a:pPr>
            <a:r>
              <a:rPr b="1" i="0" lang="en-US" sz="1500" u="none" cap="none" strike="noStrike">
                <a:solidFill>
                  <a:srgbClr val="5EE9B5"/>
                </a:solidFill>
                <a:latin typeface="Cambria"/>
                <a:ea typeface="Cambria"/>
                <a:cs typeface="Cambria"/>
                <a:sym typeface="Cambria"/>
              </a:rPr>
              <a:t>Structural</a:t>
            </a:r>
            <a:endParaRPr b="0" i="0" sz="1500" u="none" cap="none" strike="noStrike">
              <a:solidFill>
                <a:schemeClr val="dk1"/>
              </a:solidFill>
              <a:latin typeface="Calibri"/>
              <a:ea typeface="Calibri"/>
              <a:cs typeface="Calibri"/>
              <a:sym typeface="Calibri"/>
            </a:endParaRPr>
          </a:p>
        </p:txBody>
      </p:sp>
      <p:sp>
        <p:nvSpPr>
          <p:cNvPr id="515" name="Google Shape;515;p15"/>
          <p:cNvSpPr/>
          <p:nvPr/>
        </p:nvSpPr>
        <p:spPr>
          <a:xfrm>
            <a:off x="3410712" y="2139696"/>
            <a:ext cx="141732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5"/>
          <p:cNvSpPr txBox="1"/>
          <p:nvPr/>
        </p:nvSpPr>
        <p:spPr>
          <a:xfrm>
            <a:off x="3410712" y="2139696"/>
            <a:ext cx="141732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OO metrics</a:t>
            </a:r>
            <a:endParaRPr b="0" i="0" sz="750" u="none" cap="none" strike="noStrike">
              <a:solidFill>
                <a:schemeClr val="dk1"/>
              </a:solidFill>
              <a:latin typeface="Calibri"/>
              <a:ea typeface="Calibri"/>
              <a:cs typeface="Calibri"/>
              <a:sym typeface="Calibri"/>
            </a:endParaRPr>
          </a:p>
        </p:txBody>
      </p:sp>
      <p:sp>
        <p:nvSpPr>
          <p:cNvPr id="517" name="Google Shape;517;p15"/>
          <p:cNvSpPr txBox="1"/>
          <p:nvPr/>
        </p:nvSpPr>
        <p:spPr>
          <a:xfrm>
            <a:off x="3410712" y="2432304"/>
            <a:ext cx="2322576"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High cyclomatic complexity? Too many methods? Low cohesion?</a:t>
            </a:r>
            <a:endParaRPr b="0" i="0" sz="1000" u="none" cap="none" strike="noStrike">
              <a:solidFill>
                <a:schemeClr val="dk1"/>
              </a:solidFill>
              <a:latin typeface="Calibri"/>
              <a:ea typeface="Calibri"/>
              <a:cs typeface="Calibri"/>
              <a:sym typeface="Calibri"/>
            </a:endParaRPr>
          </a:p>
        </p:txBody>
      </p:sp>
      <p:sp>
        <p:nvSpPr>
          <p:cNvPr id="518" name="Google Shape;518;p15"/>
          <p:cNvSpPr txBox="1"/>
          <p:nvPr/>
        </p:nvSpPr>
        <p:spPr>
          <a:xfrm>
            <a:off x="3410712" y="2907792"/>
            <a:ext cx="2322576"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ON PAYFLOW</a:t>
            </a:r>
            <a:endParaRPr b="0" i="0" sz="750" u="none" cap="none" strike="noStrike">
              <a:solidFill>
                <a:schemeClr val="dk1"/>
              </a:solidFill>
              <a:latin typeface="Calibri"/>
              <a:ea typeface="Calibri"/>
              <a:cs typeface="Calibri"/>
              <a:sym typeface="Calibri"/>
            </a:endParaRPr>
          </a:p>
        </p:txBody>
      </p:sp>
      <p:sp>
        <p:nvSpPr>
          <p:cNvPr id="519" name="Google Shape;519;p15"/>
          <p:cNvSpPr txBox="1"/>
          <p:nvPr/>
        </p:nvSpPr>
        <p:spPr>
          <a:xfrm>
            <a:off x="3410712" y="3072384"/>
            <a:ext cx="2322576"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1" lang="en-US" sz="900" u="none" cap="none" strike="noStrike">
                <a:solidFill>
                  <a:srgbClr val="BBA9DE"/>
                </a:solidFill>
                <a:latin typeface="Calibri"/>
                <a:ea typeface="Calibri"/>
                <a:cs typeface="Calibri"/>
                <a:sym typeface="Calibri"/>
              </a:rPr>
              <a:t>many if branches stacked in one method</a:t>
            </a:r>
            <a:endParaRPr b="0" i="0" sz="900" u="none" cap="none" strike="noStrike">
              <a:solidFill>
                <a:schemeClr val="dk1"/>
              </a:solidFill>
              <a:latin typeface="Calibri"/>
              <a:ea typeface="Calibri"/>
              <a:cs typeface="Calibri"/>
              <a:sym typeface="Calibri"/>
            </a:endParaRPr>
          </a:p>
        </p:txBody>
      </p:sp>
      <p:sp>
        <p:nvSpPr>
          <p:cNvPr id="520" name="Google Shape;520;p15"/>
          <p:cNvSpPr/>
          <p:nvPr/>
        </p:nvSpPr>
        <p:spPr>
          <a:xfrm>
            <a:off x="6025896" y="1737360"/>
            <a:ext cx="2615184" cy="1700784"/>
          </a:xfrm>
          <a:prstGeom prst="roundRect">
            <a:avLst>
              <a:gd fmla="val 4839"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5"/>
          <p:cNvSpPr txBox="1"/>
          <p:nvPr/>
        </p:nvSpPr>
        <p:spPr>
          <a:xfrm>
            <a:off x="6172200" y="1856232"/>
            <a:ext cx="23225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500"/>
              <a:buFont typeface="Cambria"/>
              <a:buNone/>
            </a:pPr>
            <a:r>
              <a:rPr b="1" i="0" lang="en-US" sz="1500" u="none" cap="none" strike="noStrike">
                <a:solidFill>
                  <a:srgbClr val="FBBF24"/>
                </a:solidFill>
                <a:latin typeface="Cambria"/>
                <a:ea typeface="Cambria"/>
                <a:cs typeface="Cambria"/>
                <a:sym typeface="Cambria"/>
              </a:rPr>
              <a:t>Architectural</a:t>
            </a:r>
            <a:endParaRPr b="0" i="0" sz="1500" u="none" cap="none" strike="noStrike">
              <a:solidFill>
                <a:schemeClr val="dk1"/>
              </a:solidFill>
              <a:latin typeface="Calibri"/>
              <a:ea typeface="Calibri"/>
              <a:cs typeface="Calibri"/>
              <a:sym typeface="Calibri"/>
            </a:endParaRPr>
          </a:p>
        </p:txBody>
      </p:sp>
      <p:sp>
        <p:nvSpPr>
          <p:cNvPr id="522" name="Google Shape;522;p15"/>
          <p:cNvSpPr/>
          <p:nvPr/>
        </p:nvSpPr>
        <p:spPr>
          <a:xfrm>
            <a:off x="6172200" y="2139696"/>
            <a:ext cx="141732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15"/>
          <p:cNvSpPr txBox="1"/>
          <p:nvPr/>
        </p:nvSpPr>
        <p:spPr>
          <a:xfrm>
            <a:off x="6172200" y="2139696"/>
            <a:ext cx="141732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whole package</a:t>
            </a:r>
            <a:endParaRPr b="0" i="0" sz="750" u="none" cap="none" strike="noStrike">
              <a:solidFill>
                <a:schemeClr val="dk1"/>
              </a:solidFill>
              <a:latin typeface="Calibri"/>
              <a:ea typeface="Calibri"/>
              <a:cs typeface="Calibri"/>
              <a:sym typeface="Calibri"/>
            </a:endParaRPr>
          </a:p>
        </p:txBody>
      </p:sp>
      <p:sp>
        <p:nvSpPr>
          <p:cNvPr id="524" name="Google Shape;524;p15"/>
          <p:cNvSpPr txBox="1"/>
          <p:nvPr/>
        </p:nvSpPr>
        <p:spPr>
          <a:xfrm>
            <a:off x="6172200" y="2432304"/>
            <a:ext cx="2322576"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God object? Cyclic imports? Hub modules?</a:t>
            </a:r>
            <a:endParaRPr b="0" i="0" sz="1000" u="none" cap="none" strike="noStrike">
              <a:solidFill>
                <a:schemeClr val="dk1"/>
              </a:solidFill>
              <a:latin typeface="Calibri"/>
              <a:ea typeface="Calibri"/>
              <a:cs typeface="Calibri"/>
              <a:sym typeface="Calibri"/>
            </a:endParaRPr>
          </a:p>
        </p:txBody>
      </p:sp>
      <p:sp>
        <p:nvSpPr>
          <p:cNvPr id="525" name="Google Shape;525;p15"/>
          <p:cNvSpPr txBox="1"/>
          <p:nvPr/>
        </p:nvSpPr>
        <p:spPr>
          <a:xfrm>
            <a:off x="6172200" y="2907792"/>
            <a:ext cx="2322576"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ON PAYFLOW</a:t>
            </a:r>
            <a:endParaRPr b="0" i="0" sz="750" u="none" cap="none" strike="noStrike">
              <a:solidFill>
                <a:schemeClr val="dk1"/>
              </a:solidFill>
              <a:latin typeface="Calibri"/>
              <a:ea typeface="Calibri"/>
              <a:cs typeface="Calibri"/>
              <a:sym typeface="Calibri"/>
            </a:endParaRPr>
          </a:p>
        </p:txBody>
      </p:sp>
      <p:sp>
        <p:nvSpPr>
          <p:cNvPr id="526" name="Google Shape;526;p15"/>
          <p:cNvSpPr txBox="1"/>
          <p:nvPr/>
        </p:nvSpPr>
        <p:spPr>
          <a:xfrm>
            <a:off x="6172200" y="3072384"/>
            <a:ext cx="2322576"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1" lang="en-US" sz="900" u="none" cap="none" strike="noStrike">
                <a:solidFill>
                  <a:srgbClr val="BBA9DE"/>
                </a:solidFill>
                <a:latin typeface="Calibri"/>
                <a:ea typeface="Calibri"/>
                <a:cs typeface="Calibri"/>
                <a:sym typeface="Calibri"/>
              </a:rPr>
              <a:t>one service owns the entire billing story</a:t>
            </a:r>
            <a:endParaRPr b="0" i="0" sz="900" u="none" cap="none" strike="noStrike">
              <a:solidFill>
                <a:schemeClr val="dk1"/>
              </a:solidFill>
              <a:latin typeface="Calibri"/>
              <a:ea typeface="Calibri"/>
              <a:cs typeface="Calibri"/>
              <a:sym typeface="Calibri"/>
            </a:endParaRPr>
          </a:p>
        </p:txBody>
      </p:sp>
      <p:sp>
        <p:nvSpPr>
          <p:cNvPr id="527" name="Google Shape;527;p15"/>
          <p:cNvSpPr/>
          <p:nvPr/>
        </p:nvSpPr>
        <p:spPr>
          <a:xfrm>
            <a:off x="502920" y="3566160"/>
            <a:ext cx="8138160" cy="694944"/>
          </a:xfrm>
          <a:prstGeom prst="roundRect">
            <a:avLst>
              <a:gd fmla="val 11842" name="adj"/>
            </a:avLst>
          </a:prstGeom>
          <a:solidFill>
            <a:srgbClr val="1E1230"/>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15"/>
          <p:cNvSpPr txBox="1"/>
          <p:nvPr/>
        </p:nvSpPr>
        <p:spPr>
          <a:xfrm>
            <a:off x="685800" y="3639312"/>
            <a:ext cx="27432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50"/>
              <a:buFont typeface="Courier New"/>
              <a:buNone/>
            </a:pPr>
            <a:r>
              <a:rPr b="0" i="0" lang="en-US" sz="850" u="none" cap="none" strike="noStrike">
                <a:solidFill>
                  <a:srgbClr val="FB7185"/>
                </a:solidFill>
                <a:latin typeface="Courier New"/>
                <a:ea typeface="Courier New"/>
                <a:cs typeface="Courier New"/>
                <a:sym typeface="Courier New"/>
              </a:rPr>
              <a:t>WHAT PYEXAMINE CANNOT DO</a:t>
            </a:r>
            <a:endParaRPr b="0" i="0" sz="850" u="none" cap="none" strike="noStrike">
              <a:solidFill>
                <a:schemeClr val="dk1"/>
              </a:solidFill>
              <a:latin typeface="Calibri"/>
              <a:ea typeface="Calibri"/>
              <a:cs typeface="Calibri"/>
              <a:sym typeface="Calibri"/>
            </a:endParaRPr>
          </a:p>
        </p:txBody>
      </p:sp>
      <p:sp>
        <p:nvSpPr>
          <p:cNvPr id="529" name="Google Shape;529;p15"/>
          <p:cNvSpPr/>
          <p:nvPr/>
        </p:nvSpPr>
        <p:spPr>
          <a:xfrm>
            <a:off x="685800" y="3858768"/>
            <a:ext cx="2523744" cy="274320"/>
          </a:xfrm>
          <a:prstGeom prst="roundRect">
            <a:avLst>
              <a:gd fmla="val 20000" name="adj"/>
            </a:avLst>
          </a:prstGeom>
          <a:solidFill>
            <a:srgbClr val="3D2A5C"/>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5"/>
          <p:cNvSpPr txBox="1"/>
          <p:nvPr/>
        </p:nvSpPr>
        <p:spPr>
          <a:xfrm>
            <a:off x="685800" y="3858768"/>
            <a:ext cx="2523744"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  run test_checkout.py</a:t>
            </a:r>
            <a:endParaRPr b="0" i="0" sz="850" u="none" cap="none" strike="noStrike">
              <a:solidFill>
                <a:schemeClr val="dk1"/>
              </a:solidFill>
              <a:latin typeface="Calibri"/>
              <a:ea typeface="Calibri"/>
              <a:cs typeface="Calibri"/>
              <a:sym typeface="Calibri"/>
            </a:endParaRPr>
          </a:p>
        </p:txBody>
      </p:sp>
      <p:sp>
        <p:nvSpPr>
          <p:cNvPr id="531" name="Google Shape;531;p15"/>
          <p:cNvSpPr/>
          <p:nvPr/>
        </p:nvSpPr>
        <p:spPr>
          <a:xfrm>
            <a:off x="3355848" y="3858768"/>
            <a:ext cx="2523744" cy="274320"/>
          </a:xfrm>
          <a:prstGeom prst="roundRect">
            <a:avLst>
              <a:gd fmla="val 20000" name="adj"/>
            </a:avLst>
          </a:prstGeom>
          <a:solidFill>
            <a:srgbClr val="3D2A5C"/>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15"/>
          <p:cNvSpPr txBox="1"/>
          <p:nvPr/>
        </p:nvSpPr>
        <p:spPr>
          <a:xfrm>
            <a:off x="3355848" y="3858768"/>
            <a:ext cx="2523744"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  decide a merge</a:t>
            </a:r>
            <a:endParaRPr b="0" i="0" sz="850" u="none" cap="none" strike="noStrike">
              <a:solidFill>
                <a:schemeClr val="dk1"/>
              </a:solidFill>
              <a:latin typeface="Calibri"/>
              <a:ea typeface="Calibri"/>
              <a:cs typeface="Calibri"/>
              <a:sym typeface="Calibri"/>
            </a:endParaRPr>
          </a:p>
        </p:txBody>
      </p:sp>
      <p:sp>
        <p:nvSpPr>
          <p:cNvPr id="533" name="Google Shape;533;p15"/>
          <p:cNvSpPr/>
          <p:nvPr/>
        </p:nvSpPr>
        <p:spPr>
          <a:xfrm>
            <a:off x="6025896" y="3858768"/>
            <a:ext cx="2523744" cy="274320"/>
          </a:xfrm>
          <a:prstGeom prst="roundRect">
            <a:avLst>
              <a:gd fmla="val 20000" name="adj"/>
            </a:avLst>
          </a:prstGeom>
          <a:solidFill>
            <a:srgbClr val="3D2A5C"/>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5"/>
          <p:cNvSpPr txBox="1"/>
          <p:nvPr/>
        </p:nvSpPr>
        <p:spPr>
          <a:xfrm>
            <a:off x="6025896" y="3858768"/>
            <a:ext cx="2523744"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  invent a smell not in the AST</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539" name="Shape 539"/>
        <p:cNvGrpSpPr/>
        <p:nvPr/>
      </p:nvGrpSpPr>
      <p:grpSpPr>
        <a:xfrm>
          <a:off x="0" y="0"/>
          <a:ext cx="0" cy="0"/>
          <a:chOff x="0" y="0"/>
          <a:chExt cx="0" cy="0"/>
        </a:xfrm>
      </p:grpSpPr>
      <p:sp>
        <p:nvSpPr>
          <p:cNvPr id="540" name="Google Shape;540;p16"/>
          <p:cNvSpPr txBox="1"/>
          <p:nvPr/>
        </p:nvSpPr>
        <p:spPr>
          <a:xfrm>
            <a:off x="502920" y="176433"/>
            <a:ext cx="81381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§1.4 · ML ANTI-PATTERNS · CAIN 2025</a:t>
            </a:r>
            <a:endParaRPr b="0" i="0" sz="1050" u="none" cap="none" strike="noStrike">
              <a:solidFill>
                <a:schemeClr val="dk1"/>
              </a:solidFill>
              <a:latin typeface="Calibri"/>
              <a:ea typeface="Calibri"/>
              <a:cs typeface="Calibri"/>
              <a:sym typeface="Calibri"/>
            </a:endParaRPr>
          </a:p>
        </p:txBody>
      </p:sp>
      <p:sp>
        <p:nvSpPr>
          <p:cNvPr id="541" name="Google Shape;541;p16"/>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MLScent — ~76 detectors, and it never imports torch</a:t>
            </a:r>
            <a:endParaRPr b="0" i="0" sz="2700" u="none" cap="none" strike="noStrike">
              <a:solidFill>
                <a:schemeClr val="dk1"/>
              </a:solidFill>
              <a:latin typeface="Calibri"/>
              <a:ea typeface="Calibri"/>
              <a:cs typeface="Calibri"/>
              <a:sym typeface="Calibri"/>
            </a:endParaRPr>
          </a:p>
        </p:txBody>
      </p:sp>
      <p:sp>
        <p:nvSpPr>
          <p:cNvPr id="542" name="Google Shape;542;p16">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543" name="Google Shape;543;p16"/>
          <p:cNvSpPr/>
          <p:nvPr/>
        </p:nvSpPr>
        <p:spPr>
          <a:xfrm>
            <a:off x="502920" y="1133856"/>
            <a:ext cx="8138160" cy="475488"/>
          </a:xfrm>
          <a:prstGeom prst="roundRect">
            <a:avLst>
              <a:gd fmla="val 1730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16"/>
          <p:cNvSpPr txBox="1"/>
          <p:nvPr/>
        </p:nvSpPr>
        <p:spPr>
          <a:xfrm>
            <a:off x="667512" y="1133856"/>
            <a:ext cx="7808976"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050"/>
              <a:buFont typeface="Courier New"/>
              <a:buNone/>
            </a:pPr>
            <a:r>
              <a:rPr b="1" i="0" lang="en-US" sz="1050" u="sng" cap="none" strike="noStrike">
                <a:solidFill>
                  <a:schemeClr val="hlink"/>
                </a:solidFill>
                <a:latin typeface="Courier New"/>
                <a:ea typeface="Courier New"/>
                <a:cs typeface="Courier New"/>
                <a:sym typeface="Courier New"/>
                <a:hlinkClick r:id="rId5"/>
              </a:rPr>
              <a:t>pip install ml-code-smell-detector</a:t>
            </a:r>
            <a:r>
              <a:rPr b="0" i="0" lang="en-US" sz="1050" u="none" cap="none" strike="noStrike">
                <a:solidFill>
                  <a:srgbClr val="BBA9DE"/>
                </a:solidFill>
                <a:latin typeface="Calibri"/>
                <a:ea typeface="Calibri"/>
                <a:cs typeface="Calibri"/>
                <a:sym typeface="Calibri"/>
              </a:rPr>
              <a:t>     CLI: </a:t>
            </a:r>
            <a:r>
              <a:rPr b="0" i="0" lang="en-US" sz="1050" u="none" cap="none" strike="noStrike">
                <a:solidFill>
                  <a:srgbClr val="E9DFFF"/>
                </a:solidFill>
                <a:latin typeface="Courier New"/>
                <a:ea typeface="Courier New"/>
                <a:cs typeface="Courier New"/>
                <a:sym typeface="Courier New"/>
              </a:rPr>
              <a:t>ml_smell_detector analyze &lt;file-or-dir&gt; --output-dir &lt;folder&gt;</a:t>
            </a:r>
            <a:r>
              <a:rPr b="0" i="0" lang="en-US" sz="1050" u="none" cap="none" strike="noStrike">
                <a:solidFill>
                  <a:srgbClr val="BBA9DE"/>
                </a:solidFill>
                <a:latin typeface="Calibri"/>
                <a:ea typeface="Calibri"/>
                <a:cs typeface="Calibri"/>
                <a:sym typeface="Calibri"/>
              </a:rPr>
              <a:t>     → analysis_report.txt + .csv</a:t>
            </a:r>
            <a:endParaRPr b="0" i="0" sz="1050" u="none" cap="none" strike="noStrike">
              <a:solidFill>
                <a:schemeClr val="dk1"/>
              </a:solidFill>
              <a:latin typeface="Calibri"/>
              <a:ea typeface="Calibri"/>
              <a:cs typeface="Calibri"/>
              <a:sym typeface="Calibri"/>
            </a:endParaRPr>
          </a:p>
        </p:txBody>
      </p:sp>
      <p:sp>
        <p:nvSpPr>
          <p:cNvPr id="545" name="Google Shape;545;p16"/>
          <p:cNvSpPr/>
          <p:nvPr/>
        </p:nvSpPr>
        <p:spPr>
          <a:xfrm>
            <a:off x="502920" y="1737360"/>
            <a:ext cx="5074920" cy="493776"/>
          </a:xfrm>
          <a:prstGeom prst="roundRect">
            <a:avLst>
              <a:gd fmla="val 16667"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6"/>
          <p:cNvSpPr/>
          <p:nvPr/>
        </p:nvSpPr>
        <p:spPr>
          <a:xfrm>
            <a:off x="649224" y="1865376"/>
            <a:ext cx="237744" cy="237744"/>
          </a:xfrm>
          <a:prstGeom prst="ellipse">
            <a:avLst/>
          </a:prstGeom>
          <a:solidFill>
            <a:srgbClr val="FB7185"/>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16"/>
          <p:cNvSpPr txBox="1"/>
          <p:nvPr/>
        </p:nvSpPr>
        <p:spPr>
          <a:xfrm>
            <a:off x="649224" y="1865376"/>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1</a:t>
            </a:r>
            <a:endParaRPr b="0" i="0" sz="900" u="none" cap="none" strike="noStrike">
              <a:solidFill>
                <a:schemeClr val="dk1"/>
              </a:solidFill>
              <a:latin typeface="Calibri"/>
              <a:ea typeface="Calibri"/>
              <a:cs typeface="Calibri"/>
              <a:sym typeface="Calibri"/>
            </a:endParaRPr>
          </a:p>
        </p:txBody>
      </p:sp>
      <p:sp>
        <p:nvSpPr>
          <p:cNvPr id="548" name="Google Shape;548;p16"/>
          <p:cNvSpPr txBox="1"/>
          <p:nvPr/>
        </p:nvSpPr>
        <p:spPr>
          <a:xfrm>
            <a:off x="978408" y="1783080"/>
            <a:ext cx="21488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Missing random seed</a:t>
            </a:r>
            <a:endParaRPr b="0" i="0" sz="1050" u="none" cap="none" strike="noStrike">
              <a:solidFill>
                <a:schemeClr val="dk1"/>
              </a:solidFill>
              <a:latin typeface="Calibri"/>
              <a:ea typeface="Calibri"/>
              <a:cs typeface="Calibri"/>
              <a:sym typeface="Calibri"/>
            </a:endParaRPr>
          </a:p>
        </p:txBody>
      </p:sp>
      <p:sp>
        <p:nvSpPr>
          <p:cNvPr id="549" name="Google Shape;549;p16"/>
          <p:cNvSpPr txBox="1"/>
          <p:nvPr/>
        </p:nvSpPr>
        <p:spPr>
          <a:xfrm>
            <a:off x="978408" y="1993392"/>
            <a:ext cx="44348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Two reruns, two splits, two models. Nobody can reproduce the paper.</a:t>
            </a:r>
            <a:endParaRPr b="0" i="0" sz="900" u="none" cap="none" strike="noStrike">
              <a:solidFill>
                <a:schemeClr val="dk1"/>
              </a:solidFill>
              <a:latin typeface="Calibri"/>
              <a:ea typeface="Calibri"/>
              <a:cs typeface="Calibri"/>
              <a:sym typeface="Calibri"/>
            </a:endParaRPr>
          </a:p>
        </p:txBody>
      </p:sp>
      <p:sp>
        <p:nvSpPr>
          <p:cNvPr id="550" name="Google Shape;550;p16"/>
          <p:cNvSpPr/>
          <p:nvPr/>
        </p:nvSpPr>
        <p:spPr>
          <a:xfrm>
            <a:off x="5715000" y="1737360"/>
            <a:ext cx="2926080" cy="493776"/>
          </a:xfrm>
          <a:prstGeom prst="roundRect">
            <a:avLst>
              <a:gd fmla="val 11111"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6"/>
          <p:cNvSpPr txBox="1"/>
          <p:nvPr/>
        </p:nvSpPr>
        <p:spPr>
          <a:xfrm>
            <a:off x="5824728" y="1737360"/>
            <a:ext cx="2706624"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00"/>
              <a:buFont typeface="Courier New"/>
              <a:buNone/>
            </a:pPr>
            <a:r>
              <a:rPr b="0" i="0" lang="en-US" sz="700" u="none" cap="none" strike="noStrike">
                <a:solidFill>
                  <a:srgbClr val="FB7185"/>
                </a:solidFill>
                <a:latin typeface="Courier New"/>
                <a:ea typeface="Courier New"/>
                <a:cs typeface="Courier New"/>
                <a:sym typeface="Courier New"/>
              </a:rPr>
              <a:t>train_test_split(scaled, labels, test_size=0.25)</a:t>
            </a:r>
            <a:endParaRPr b="0" i="0" sz="700" u="none" cap="none" strike="noStrike">
              <a:solidFill>
                <a:schemeClr val="dk1"/>
              </a:solidFill>
              <a:latin typeface="Calibri"/>
              <a:ea typeface="Calibri"/>
              <a:cs typeface="Calibri"/>
              <a:sym typeface="Calibri"/>
            </a:endParaRPr>
          </a:p>
        </p:txBody>
      </p:sp>
      <p:sp>
        <p:nvSpPr>
          <p:cNvPr id="552" name="Google Shape;552;p16"/>
          <p:cNvSpPr/>
          <p:nvPr/>
        </p:nvSpPr>
        <p:spPr>
          <a:xfrm>
            <a:off x="502920" y="2304288"/>
            <a:ext cx="5074920" cy="493776"/>
          </a:xfrm>
          <a:prstGeom prst="roundRect">
            <a:avLst>
              <a:gd fmla="val 16667"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16"/>
          <p:cNvSpPr/>
          <p:nvPr/>
        </p:nvSpPr>
        <p:spPr>
          <a:xfrm>
            <a:off x="649224" y="2432304"/>
            <a:ext cx="237744" cy="237744"/>
          </a:xfrm>
          <a:prstGeom prst="ellipse">
            <a:avLst/>
          </a:prstGeom>
          <a:solidFill>
            <a:srgbClr val="FB7185"/>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16"/>
          <p:cNvSpPr txBox="1"/>
          <p:nvPr/>
        </p:nvSpPr>
        <p:spPr>
          <a:xfrm>
            <a:off x="649224" y="2432304"/>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2</a:t>
            </a:r>
            <a:endParaRPr b="0" i="0" sz="900" u="none" cap="none" strike="noStrike">
              <a:solidFill>
                <a:schemeClr val="dk1"/>
              </a:solidFill>
              <a:latin typeface="Calibri"/>
              <a:ea typeface="Calibri"/>
              <a:cs typeface="Calibri"/>
              <a:sym typeface="Calibri"/>
            </a:endParaRPr>
          </a:p>
        </p:txBody>
      </p:sp>
      <p:sp>
        <p:nvSpPr>
          <p:cNvPr id="555" name="Google Shape;555;p16"/>
          <p:cNvSpPr txBox="1"/>
          <p:nvPr/>
        </p:nvSpPr>
        <p:spPr>
          <a:xfrm>
            <a:off x="978408" y="2350008"/>
            <a:ext cx="21488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Fit / transform before the split</a:t>
            </a:r>
            <a:endParaRPr b="0" i="0" sz="1050" u="none" cap="none" strike="noStrike">
              <a:solidFill>
                <a:schemeClr val="dk1"/>
              </a:solidFill>
              <a:latin typeface="Calibri"/>
              <a:ea typeface="Calibri"/>
              <a:cs typeface="Calibri"/>
              <a:sym typeface="Calibri"/>
            </a:endParaRPr>
          </a:p>
        </p:txBody>
      </p:sp>
      <p:sp>
        <p:nvSpPr>
          <p:cNvPr id="556" name="Google Shape;556;p16"/>
          <p:cNvSpPr txBox="1"/>
          <p:nvPr/>
        </p:nvSpPr>
        <p:spPr>
          <a:xfrm>
            <a:off x="978408" y="2560320"/>
            <a:ext cx="44348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Test rows leak into the scaler's mean and variance → optimistic scores.</a:t>
            </a:r>
            <a:endParaRPr b="0" i="0" sz="900" u="none" cap="none" strike="noStrike">
              <a:solidFill>
                <a:schemeClr val="dk1"/>
              </a:solidFill>
              <a:latin typeface="Calibri"/>
              <a:ea typeface="Calibri"/>
              <a:cs typeface="Calibri"/>
              <a:sym typeface="Calibri"/>
            </a:endParaRPr>
          </a:p>
        </p:txBody>
      </p:sp>
      <p:sp>
        <p:nvSpPr>
          <p:cNvPr id="557" name="Google Shape;557;p16"/>
          <p:cNvSpPr/>
          <p:nvPr/>
        </p:nvSpPr>
        <p:spPr>
          <a:xfrm>
            <a:off x="5715000" y="2304288"/>
            <a:ext cx="2926080" cy="493776"/>
          </a:xfrm>
          <a:prstGeom prst="roundRect">
            <a:avLst>
              <a:gd fmla="val 11111"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6"/>
          <p:cNvSpPr txBox="1"/>
          <p:nvPr/>
        </p:nvSpPr>
        <p:spPr>
          <a:xfrm>
            <a:off x="5824728" y="2304288"/>
            <a:ext cx="2706624"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00"/>
              <a:buFont typeface="Courier New"/>
              <a:buNone/>
            </a:pPr>
            <a:r>
              <a:rPr b="0" i="0" lang="en-US" sz="700" u="none" cap="none" strike="noStrike">
                <a:solidFill>
                  <a:srgbClr val="FB7185"/>
                </a:solidFill>
                <a:latin typeface="Courier New"/>
                <a:ea typeface="Courier New"/>
                <a:cs typeface="Courier New"/>
                <a:sym typeface="Courier New"/>
              </a:rPr>
              <a:t>scaler.fit_transform(features)  # whole frame</a:t>
            </a:r>
            <a:endParaRPr b="0" i="0" sz="700" u="none" cap="none" strike="noStrike">
              <a:solidFill>
                <a:schemeClr val="dk1"/>
              </a:solidFill>
              <a:latin typeface="Calibri"/>
              <a:ea typeface="Calibri"/>
              <a:cs typeface="Calibri"/>
              <a:sym typeface="Calibri"/>
            </a:endParaRPr>
          </a:p>
        </p:txBody>
      </p:sp>
      <p:sp>
        <p:nvSpPr>
          <p:cNvPr id="559" name="Google Shape;559;p16"/>
          <p:cNvSpPr/>
          <p:nvPr/>
        </p:nvSpPr>
        <p:spPr>
          <a:xfrm>
            <a:off x="502920" y="2871216"/>
            <a:ext cx="5074920" cy="493776"/>
          </a:xfrm>
          <a:prstGeom prst="roundRect">
            <a:avLst>
              <a:gd fmla="val 16667"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16"/>
          <p:cNvSpPr/>
          <p:nvPr/>
        </p:nvSpPr>
        <p:spPr>
          <a:xfrm>
            <a:off x="649224" y="2999232"/>
            <a:ext cx="237744" cy="237744"/>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16"/>
          <p:cNvSpPr txBox="1"/>
          <p:nvPr/>
        </p:nvSpPr>
        <p:spPr>
          <a:xfrm>
            <a:off x="649224" y="2999232"/>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3</a:t>
            </a:r>
            <a:endParaRPr b="0" i="0" sz="900" u="none" cap="none" strike="noStrike">
              <a:solidFill>
                <a:schemeClr val="dk1"/>
              </a:solidFill>
              <a:latin typeface="Calibri"/>
              <a:ea typeface="Calibri"/>
              <a:cs typeface="Calibri"/>
              <a:sym typeface="Calibri"/>
            </a:endParaRPr>
          </a:p>
        </p:txBody>
      </p:sp>
      <p:sp>
        <p:nvSpPr>
          <p:cNvPr id="562" name="Google Shape;562;p16"/>
          <p:cNvSpPr txBox="1"/>
          <p:nvPr/>
        </p:nvSpPr>
        <p:spPr>
          <a:xfrm>
            <a:off x="978408" y="2916936"/>
            <a:ext cx="21488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Train score reported as the metric</a:t>
            </a:r>
            <a:endParaRPr b="0" i="0" sz="1050" u="none" cap="none" strike="noStrike">
              <a:solidFill>
                <a:schemeClr val="dk1"/>
              </a:solidFill>
              <a:latin typeface="Calibri"/>
              <a:ea typeface="Calibri"/>
              <a:cs typeface="Calibri"/>
              <a:sym typeface="Calibri"/>
            </a:endParaRPr>
          </a:p>
        </p:txBody>
      </p:sp>
      <p:sp>
        <p:nvSpPr>
          <p:cNvPr id="563" name="Google Shape;563;p16"/>
          <p:cNvSpPr txBox="1"/>
          <p:nvPr/>
        </p:nvSpPr>
        <p:spPr>
          <a:xfrm>
            <a:off x="978408" y="3127248"/>
            <a:ext cx="44348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You shipped a model that memorised the training customers.</a:t>
            </a:r>
            <a:endParaRPr b="0" i="0" sz="900" u="none" cap="none" strike="noStrike">
              <a:solidFill>
                <a:schemeClr val="dk1"/>
              </a:solidFill>
              <a:latin typeface="Calibri"/>
              <a:ea typeface="Calibri"/>
              <a:cs typeface="Calibri"/>
              <a:sym typeface="Calibri"/>
            </a:endParaRPr>
          </a:p>
        </p:txBody>
      </p:sp>
      <p:sp>
        <p:nvSpPr>
          <p:cNvPr id="564" name="Google Shape;564;p16"/>
          <p:cNvSpPr/>
          <p:nvPr/>
        </p:nvSpPr>
        <p:spPr>
          <a:xfrm>
            <a:off x="5715000" y="2871216"/>
            <a:ext cx="2926080" cy="493776"/>
          </a:xfrm>
          <a:prstGeom prst="roundRect">
            <a:avLst>
              <a:gd fmla="val 11111"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6"/>
          <p:cNvSpPr txBox="1"/>
          <p:nvPr/>
        </p:nvSpPr>
        <p:spPr>
          <a:xfrm>
            <a:off x="5824728" y="2871216"/>
            <a:ext cx="2706624"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00"/>
              <a:buFont typeface="Courier New"/>
              <a:buNone/>
            </a:pPr>
            <a:r>
              <a:rPr b="0" i="0" lang="en-US" sz="700" u="none" cap="none" strike="noStrike">
                <a:solidFill>
                  <a:srgbClr val="FBBF24"/>
                </a:solidFill>
                <a:latin typeface="Courier New"/>
                <a:ea typeface="Courier New"/>
                <a:cs typeface="Courier New"/>
                <a:sym typeface="Courier New"/>
              </a:rPr>
              <a:t>model.score(x_train, y_train)</a:t>
            </a:r>
            <a:endParaRPr b="0" i="0" sz="700" u="none" cap="none" strike="noStrike">
              <a:solidFill>
                <a:schemeClr val="dk1"/>
              </a:solidFill>
              <a:latin typeface="Calibri"/>
              <a:ea typeface="Calibri"/>
              <a:cs typeface="Calibri"/>
              <a:sym typeface="Calibri"/>
            </a:endParaRPr>
          </a:p>
        </p:txBody>
      </p:sp>
      <p:sp>
        <p:nvSpPr>
          <p:cNvPr id="566" name="Google Shape;566;p16"/>
          <p:cNvSpPr/>
          <p:nvPr/>
        </p:nvSpPr>
        <p:spPr>
          <a:xfrm>
            <a:off x="502920" y="3438144"/>
            <a:ext cx="5074920" cy="493776"/>
          </a:xfrm>
          <a:prstGeom prst="roundRect">
            <a:avLst>
              <a:gd fmla="val 16667"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6"/>
          <p:cNvSpPr/>
          <p:nvPr/>
        </p:nvSpPr>
        <p:spPr>
          <a:xfrm>
            <a:off x="649224" y="3566160"/>
            <a:ext cx="237744" cy="237744"/>
          </a:xfrm>
          <a:prstGeom prst="ellipse">
            <a:avLst/>
          </a:prstGeom>
          <a:solidFill>
            <a:srgbClr val="BBA9DE"/>
          </a:solidFill>
          <a:ln cap="flat" cmpd="sng" w="12700">
            <a:solidFill>
              <a:srgbClr val="BBA9D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6"/>
          <p:cNvSpPr txBox="1"/>
          <p:nvPr/>
        </p:nvSpPr>
        <p:spPr>
          <a:xfrm>
            <a:off x="649224" y="3566160"/>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4</a:t>
            </a:r>
            <a:endParaRPr b="0" i="0" sz="900" u="none" cap="none" strike="noStrike">
              <a:solidFill>
                <a:schemeClr val="dk1"/>
              </a:solidFill>
              <a:latin typeface="Calibri"/>
              <a:ea typeface="Calibri"/>
              <a:cs typeface="Calibri"/>
              <a:sym typeface="Calibri"/>
            </a:endParaRPr>
          </a:p>
        </p:txBody>
      </p:sp>
      <p:sp>
        <p:nvSpPr>
          <p:cNvPr id="569" name="Google Shape;569;p16"/>
          <p:cNvSpPr txBox="1"/>
          <p:nvPr/>
        </p:nvSpPr>
        <p:spPr>
          <a:xfrm>
            <a:off x="978408" y="3483864"/>
            <a:ext cx="21488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Missing model.eval()</a:t>
            </a:r>
            <a:endParaRPr b="0" i="0" sz="1050" u="none" cap="none" strike="noStrike">
              <a:solidFill>
                <a:schemeClr val="dk1"/>
              </a:solidFill>
              <a:latin typeface="Calibri"/>
              <a:ea typeface="Calibri"/>
              <a:cs typeface="Calibri"/>
              <a:sym typeface="Calibri"/>
            </a:endParaRPr>
          </a:p>
        </p:txBody>
      </p:sp>
      <p:sp>
        <p:nvSpPr>
          <p:cNvPr id="570" name="Google Shape;570;p16"/>
          <p:cNvSpPr txBox="1"/>
          <p:nvPr/>
        </p:nvSpPr>
        <p:spPr>
          <a:xfrm>
            <a:off x="978408" y="3694176"/>
            <a:ext cx="44348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Dropout stays on at test time (PyTorch). Silent, plausible, wrong.</a:t>
            </a:r>
            <a:endParaRPr b="0" i="0" sz="900" u="none" cap="none" strike="noStrike">
              <a:solidFill>
                <a:schemeClr val="dk1"/>
              </a:solidFill>
              <a:latin typeface="Calibri"/>
              <a:ea typeface="Calibri"/>
              <a:cs typeface="Calibri"/>
              <a:sym typeface="Calibri"/>
            </a:endParaRPr>
          </a:p>
        </p:txBody>
      </p:sp>
      <p:sp>
        <p:nvSpPr>
          <p:cNvPr id="571" name="Google Shape;571;p16"/>
          <p:cNvSpPr/>
          <p:nvPr/>
        </p:nvSpPr>
        <p:spPr>
          <a:xfrm>
            <a:off x="5715000" y="3438144"/>
            <a:ext cx="2926080" cy="493776"/>
          </a:xfrm>
          <a:prstGeom prst="roundRect">
            <a:avLst>
              <a:gd fmla="val 11111" name="adj"/>
            </a:avLst>
          </a:prstGeom>
          <a:solidFill>
            <a:srgbClr val="1E1230"/>
          </a:solidFill>
          <a:ln cap="flat" cmpd="sng" w="12700">
            <a:solidFill>
              <a:srgbClr val="1E12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16"/>
          <p:cNvSpPr txBox="1"/>
          <p:nvPr/>
        </p:nvSpPr>
        <p:spPr>
          <a:xfrm>
            <a:off x="5824728" y="3438144"/>
            <a:ext cx="2706624"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00"/>
              <a:buFont typeface="Courier New"/>
              <a:buNone/>
            </a:pPr>
            <a:r>
              <a:rPr b="0" i="0" lang="en-US" sz="700" u="none" cap="none" strike="noStrike">
                <a:solidFill>
                  <a:srgbClr val="BBA9DE"/>
                </a:solidFill>
                <a:latin typeface="Courier New"/>
                <a:ea typeface="Courier New"/>
                <a:cs typeface="Courier New"/>
                <a:sym typeface="Courier New"/>
              </a:rPr>
              <a:t>not planted in our churn file — look for it in yours</a:t>
            </a:r>
            <a:endParaRPr b="0" i="0" sz="700" u="none" cap="none" strike="noStrike">
              <a:solidFill>
                <a:schemeClr val="dk1"/>
              </a:solidFill>
              <a:latin typeface="Calibri"/>
              <a:ea typeface="Calibri"/>
              <a:cs typeface="Calibri"/>
              <a:sym typeface="Calibri"/>
            </a:endParaRPr>
          </a:p>
        </p:txBody>
      </p:sp>
      <p:sp>
        <p:nvSpPr>
          <p:cNvPr id="573" name="Google Shape;573;p16"/>
          <p:cNvSpPr/>
          <p:nvPr/>
        </p:nvSpPr>
        <p:spPr>
          <a:xfrm>
            <a:off x="502920" y="4059936"/>
            <a:ext cx="8138160" cy="530352"/>
          </a:xfrm>
          <a:prstGeom prst="roundRect">
            <a:avLst>
              <a:gd fmla="val 15517" name="adj"/>
            </a:avLst>
          </a:prstGeom>
          <a:solidFill>
            <a:srgbClr val="1E1230"/>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16"/>
          <p:cNvSpPr txBox="1"/>
          <p:nvPr/>
        </p:nvSpPr>
        <p:spPr>
          <a:xfrm>
            <a:off x="685800" y="4059923"/>
            <a:ext cx="7772400" cy="324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50"/>
              <a:buFont typeface="Courier New"/>
              <a:buNone/>
            </a:pPr>
            <a:r>
              <a:rPr b="0" i="0" lang="en-US" sz="850" u="none" cap="none" strike="noStrike">
                <a:solidFill>
                  <a:srgbClr val="5EE9B5"/>
                </a:solidFill>
                <a:latin typeface="Courier New"/>
                <a:ea typeface="Courier New"/>
                <a:cs typeface="Courier New"/>
                <a:sym typeface="Courier New"/>
              </a:rPr>
              <a:t>THE PARTY TRICK   </a:t>
            </a:r>
            <a:r>
              <a:rPr b="0" i="0" lang="en-US" sz="1050" u="none" cap="none" strike="noStrike">
                <a:solidFill>
                  <a:srgbClr val="D8CDEE"/>
                </a:solidFill>
                <a:latin typeface="Calibri"/>
                <a:ea typeface="Calibri"/>
                <a:cs typeface="Calibri"/>
                <a:sym typeface="Calibri"/>
              </a:rPr>
              <a:t>~76 detectors across TensorFlow, PyTorch, scikit-learn, Hugging Face, pandas and numpy — and it never imports any of them. A Colab CPU runtime audits a training script with no GPU and no pip install torch.</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579" name="Shape 579"/>
        <p:cNvGrpSpPr/>
        <p:nvPr/>
      </p:nvGrpSpPr>
      <p:grpSpPr>
        <a:xfrm>
          <a:off x="0" y="0"/>
          <a:ext cx="0" cy="0"/>
          <a:chOff x="0" y="0"/>
          <a:chExt cx="0" cy="0"/>
        </a:xfrm>
      </p:grpSpPr>
      <p:sp>
        <p:nvSpPr>
          <p:cNvPr id="580" name="Google Shape;580;p17"/>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§1.5 · THE DETECTION TOOLBOX</a:t>
            </a:r>
            <a:endParaRPr b="0" i="0" sz="1050" u="none" cap="none" strike="noStrike">
              <a:solidFill>
                <a:schemeClr val="dk1"/>
              </a:solidFill>
              <a:latin typeface="Calibri"/>
              <a:ea typeface="Calibri"/>
              <a:cs typeface="Calibri"/>
              <a:sym typeface="Calibri"/>
            </a:endParaRPr>
          </a:p>
        </p:txBody>
      </p:sp>
      <p:sp>
        <p:nvSpPr>
          <p:cNvPr id="581" name="Google Shape;581;p17"/>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Four instruments. None of them gets a vote.</a:t>
            </a:r>
            <a:endParaRPr b="0" i="0" sz="2700" u="none" cap="none" strike="noStrike">
              <a:solidFill>
                <a:schemeClr val="dk1"/>
              </a:solidFill>
              <a:latin typeface="Calibri"/>
              <a:ea typeface="Calibri"/>
              <a:cs typeface="Calibri"/>
              <a:sym typeface="Calibri"/>
            </a:endParaRPr>
          </a:p>
        </p:txBody>
      </p:sp>
      <p:sp>
        <p:nvSpPr>
          <p:cNvPr id="582" name="Google Shape;582;p17">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583" name="Google Shape;583;p17"/>
          <p:cNvSpPr/>
          <p:nvPr/>
        </p:nvSpPr>
        <p:spPr>
          <a:xfrm>
            <a:off x="502920" y="1133856"/>
            <a:ext cx="1924812" cy="1792224"/>
          </a:xfrm>
          <a:prstGeom prst="roundRect">
            <a:avLst>
              <a:gd fmla="val 459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7">
            <a:hlinkClick r:id="rId5"/>
          </p:cNvPr>
          <p:cNvSpPr txBox="1"/>
          <p:nvPr/>
        </p:nvSpPr>
        <p:spPr>
          <a:xfrm>
            <a:off x="640080" y="1261872"/>
            <a:ext cx="165049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sng" cap="none" strike="noStrike">
                <a:solidFill>
                  <a:schemeClr val="hlink"/>
                </a:solidFill>
                <a:latin typeface="Cambria"/>
                <a:ea typeface="Cambria"/>
                <a:cs typeface="Cambria"/>
                <a:sym typeface="Cambria"/>
                <a:hlinkClick r:id="rId6"/>
              </a:rPr>
              <a:t>PyExamine</a:t>
            </a:r>
            <a:endParaRPr b="0" i="0" sz="1600" u="none" cap="none" strike="noStrike">
              <a:solidFill>
                <a:schemeClr val="dk1"/>
              </a:solidFill>
              <a:latin typeface="Calibri"/>
              <a:ea typeface="Calibri"/>
              <a:cs typeface="Calibri"/>
              <a:sym typeface="Calibri"/>
            </a:endParaRPr>
          </a:p>
        </p:txBody>
      </p:sp>
      <p:sp>
        <p:nvSpPr>
          <p:cNvPr id="585" name="Google Shape;585;p17"/>
          <p:cNvSpPr/>
          <p:nvPr/>
        </p:nvSpPr>
        <p:spPr>
          <a:xfrm>
            <a:off x="640080" y="1554480"/>
            <a:ext cx="100584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17"/>
          <p:cNvSpPr txBox="1"/>
          <p:nvPr/>
        </p:nvSpPr>
        <p:spPr>
          <a:xfrm>
            <a:off x="640080" y="1554480"/>
            <a:ext cx="100584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MSR 2025</a:t>
            </a:r>
            <a:endParaRPr b="0" i="0" sz="750" u="none" cap="none" strike="noStrike">
              <a:solidFill>
                <a:schemeClr val="dk1"/>
              </a:solidFill>
              <a:latin typeface="Calibri"/>
              <a:ea typeface="Calibri"/>
              <a:cs typeface="Calibri"/>
              <a:sym typeface="Calibri"/>
            </a:endParaRPr>
          </a:p>
        </p:txBody>
      </p:sp>
      <p:sp>
        <p:nvSpPr>
          <p:cNvPr id="587" name="Google Shape;587;p17"/>
          <p:cNvSpPr txBox="1"/>
          <p:nvPr/>
        </p:nvSpPr>
        <p:spPr>
          <a:xfrm>
            <a:off x="640080" y="186537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MEASURES</a:t>
            </a:r>
            <a:endParaRPr b="0" i="0" sz="750" u="none" cap="none" strike="noStrike">
              <a:solidFill>
                <a:schemeClr val="dk1"/>
              </a:solidFill>
              <a:latin typeface="Calibri"/>
              <a:ea typeface="Calibri"/>
              <a:cs typeface="Calibri"/>
              <a:sym typeface="Calibri"/>
            </a:endParaRPr>
          </a:p>
        </p:txBody>
      </p:sp>
      <p:sp>
        <p:nvSpPr>
          <p:cNvPr id="588" name="Google Shape;588;p17"/>
          <p:cNvSpPr txBox="1"/>
          <p:nvPr/>
        </p:nvSpPr>
        <p:spPr>
          <a:xfrm>
            <a:off x="640080" y="2029968"/>
            <a:ext cx="1650492"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Fowler-style smells + OO metrics + architecture</a:t>
            </a:r>
            <a:endParaRPr b="0" i="0" sz="950" u="none" cap="none" strike="noStrike">
              <a:solidFill>
                <a:schemeClr val="dk1"/>
              </a:solidFill>
              <a:latin typeface="Calibri"/>
              <a:ea typeface="Calibri"/>
              <a:cs typeface="Calibri"/>
              <a:sym typeface="Calibri"/>
            </a:endParaRPr>
          </a:p>
        </p:txBody>
      </p:sp>
      <p:sp>
        <p:nvSpPr>
          <p:cNvPr id="589" name="Google Shape;589;p17"/>
          <p:cNvSpPr txBox="1"/>
          <p:nvPr/>
        </p:nvSpPr>
        <p:spPr>
          <a:xfrm>
            <a:off x="640080" y="250545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50"/>
              <a:buFont typeface="Courier New"/>
              <a:buNone/>
            </a:pPr>
            <a:r>
              <a:rPr b="0" i="0" lang="en-US" sz="750" u="none" cap="none" strike="noStrike">
                <a:solidFill>
                  <a:srgbClr val="FB7185"/>
                </a:solidFill>
                <a:latin typeface="Courier New"/>
                <a:ea typeface="Courier New"/>
                <a:cs typeface="Courier New"/>
                <a:sym typeface="Courier New"/>
              </a:rPr>
              <a:t>CANNOT</a:t>
            </a:r>
            <a:endParaRPr b="0" i="0" sz="750" u="none" cap="none" strike="noStrike">
              <a:solidFill>
                <a:schemeClr val="dk1"/>
              </a:solidFill>
              <a:latin typeface="Calibri"/>
              <a:ea typeface="Calibri"/>
              <a:cs typeface="Calibri"/>
              <a:sym typeface="Calibri"/>
            </a:endParaRPr>
          </a:p>
        </p:txBody>
      </p:sp>
      <p:sp>
        <p:nvSpPr>
          <p:cNvPr id="590" name="Google Shape;590;p17"/>
          <p:cNvSpPr txBox="1"/>
          <p:nvPr/>
        </p:nvSpPr>
        <p:spPr>
          <a:xfrm>
            <a:off x="640080" y="2670048"/>
            <a:ext cx="16504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Run tests · decide a merge</a:t>
            </a:r>
            <a:endParaRPr b="0" i="0" sz="900" u="none" cap="none" strike="noStrike">
              <a:solidFill>
                <a:schemeClr val="dk1"/>
              </a:solidFill>
              <a:latin typeface="Calibri"/>
              <a:ea typeface="Calibri"/>
              <a:cs typeface="Calibri"/>
              <a:sym typeface="Calibri"/>
            </a:endParaRPr>
          </a:p>
        </p:txBody>
      </p:sp>
      <p:sp>
        <p:nvSpPr>
          <p:cNvPr id="591" name="Google Shape;591;p17"/>
          <p:cNvSpPr/>
          <p:nvPr/>
        </p:nvSpPr>
        <p:spPr>
          <a:xfrm>
            <a:off x="2574036" y="1133856"/>
            <a:ext cx="1924812" cy="1792224"/>
          </a:xfrm>
          <a:prstGeom prst="roundRect">
            <a:avLst>
              <a:gd fmla="val 459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17">
            <a:hlinkClick r:id="rId7"/>
          </p:cNvPr>
          <p:cNvSpPr txBox="1"/>
          <p:nvPr/>
        </p:nvSpPr>
        <p:spPr>
          <a:xfrm>
            <a:off x="2711196" y="1261872"/>
            <a:ext cx="165049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sng" cap="none" strike="noStrike">
                <a:solidFill>
                  <a:schemeClr val="hlink"/>
                </a:solidFill>
                <a:latin typeface="Cambria"/>
                <a:ea typeface="Cambria"/>
                <a:cs typeface="Cambria"/>
                <a:sym typeface="Cambria"/>
                <a:hlinkClick r:id="rId8"/>
              </a:rPr>
              <a:t>MLScent</a:t>
            </a:r>
            <a:endParaRPr b="0" i="0" sz="1600" u="none" cap="none" strike="noStrike">
              <a:solidFill>
                <a:schemeClr val="dk1"/>
              </a:solidFill>
              <a:latin typeface="Calibri"/>
              <a:ea typeface="Calibri"/>
              <a:cs typeface="Calibri"/>
              <a:sym typeface="Calibri"/>
            </a:endParaRPr>
          </a:p>
        </p:txBody>
      </p:sp>
      <p:sp>
        <p:nvSpPr>
          <p:cNvPr id="593" name="Google Shape;593;p17"/>
          <p:cNvSpPr/>
          <p:nvPr/>
        </p:nvSpPr>
        <p:spPr>
          <a:xfrm>
            <a:off x="2711196" y="1554480"/>
            <a:ext cx="100584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17"/>
          <p:cNvSpPr txBox="1"/>
          <p:nvPr/>
        </p:nvSpPr>
        <p:spPr>
          <a:xfrm>
            <a:off x="2711196" y="1554480"/>
            <a:ext cx="100584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CAIN 2025</a:t>
            </a:r>
            <a:endParaRPr b="0" i="0" sz="750" u="none" cap="none" strike="noStrike">
              <a:solidFill>
                <a:schemeClr val="dk1"/>
              </a:solidFill>
              <a:latin typeface="Calibri"/>
              <a:ea typeface="Calibri"/>
              <a:cs typeface="Calibri"/>
              <a:sym typeface="Calibri"/>
            </a:endParaRPr>
          </a:p>
        </p:txBody>
      </p:sp>
      <p:sp>
        <p:nvSpPr>
          <p:cNvPr id="595" name="Google Shape;595;p17"/>
          <p:cNvSpPr txBox="1"/>
          <p:nvPr/>
        </p:nvSpPr>
        <p:spPr>
          <a:xfrm>
            <a:off x="2711196" y="186537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MEASURES</a:t>
            </a:r>
            <a:endParaRPr b="0" i="0" sz="750" u="none" cap="none" strike="noStrike">
              <a:solidFill>
                <a:schemeClr val="dk1"/>
              </a:solidFill>
              <a:latin typeface="Calibri"/>
              <a:ea typeface="Calibri"/>
              <a:cs typeface="Calibri"/>
              <a:sym typeface="Calibri"/>
            </a:endParaRPr>
          </a:p>
        </p:txBody>
      </p:sp>
      <p:sp>
        <p:nvSpPr>
          <p:cNvPr id="596" name="Google Shape;596;p17"/>
          <p:cNvSpPr txBox="1"/>
          <p:nvPr/>
        </p:nvSpPr>
        <p:spPr>
          <a:xfrm>
            <a:off x="2711196" y="2029968"/>
            <a:ext cx="1650492"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ML anti-patterns — no sklearn or torch install needed</a:t>
            </a:r>
            <a:endParaRPr b="0" i="0" sz="950" u="none" cap="none" strike="noStrike">
              <a:solidFill>
                <a:schemeClr val="dk1"/>
              </a:solidFill>
              <a:latin typeface="Calibri"/>
              <a:ea typeface="Calibri"/>
              <a:cs typeface="Calibri"/>
              <a:sym typeface="Calibri"/>
            </a:endParaRPr>
          </a:p>
        </p:txBody>
      </p:sp>
      <p:sp>
        <p:nvSpPr>
          <p:cNvPr id="597" name="Google Shape;597;p17"/>
          <p:cNvSpPr txBox="1"/>
          <p:nvPr/>
        </p:nvSpPr>
        <p:spPr>
          <a:xfrm>
            <a:off x="2711196" y="250545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50"/>
              <a:buFont typeface="Courier New"/>
              <a:buNone/>
            </a:pPr>
            <a:r>
              <a:rPr b="0" i="0" lang="en-US" sz="750" u="none" cap="none" strike="noStrike">
                <a:solidFill>
                  <a:srgbClr val="FB7185"/>
                </a:solidFill>
                <a:latin typeface="Courier New"/>
                <a:ea typeface="Courier New"/>
                <a:cs typeface="Courier New"/>
                <a:sym typeface="Courier New"/>
              </a:rPr>
              <a:t>CANNOT</a:t>
            </a:r>
            <a:endParaRPr b="0" i="0" sz="750" u="none" cap="none" strike="noStrike">
              <a:solidFill>
                <a:schemeClr val="dk1"/>
              </a:solidFill>
              <a:latin typeface="Calibri"/>
              <a:ea typeface="Calibri"/>
              <a:cs typeface="Calibri"/>
              <a:sym typeface="Calibri"/>
            </a:endParaRPr>
          </a:p>
        </p:txBody>
      </p:sp>
      <p:sp>
        <p:nvSpPr>
          <p:cNvPr id="598" name="Google Shape;598;p17"/>
          <p:cNvSpPr txBox="1"/>
          <p:nvPr/>
        </p:nvSpPr>
        <p:spPr>
          <a:xfrm>
            <a:off x="2711196" y="2670048"/>
            <a:ext cx="16504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Prove the model is any good</a:t>
            </a:r>
            <a:endParaRPr b="0" i="0" sz="900" u="none" cap="none" strike="noStrike">
              <a:solidFill>
                <a:schemeClr val="dk1"/>
              </a:solidFill>
              <a:latin typeface="Calibri"/>
              <a:ea typeface="Calibri"/>
              <a:cs typeface="Calibri"/>
              <a:sym typeface="Calibri"/>
            </a:endParaRPr>
          </a:p>
        </p:txBody>
      </p:sp>
      <p:sp>
        <p:nvSpPr>
          <p:cNvPr id="599" name="Google Shape;599;p17"/>
          <p:cNvSpPr/>
          <p:nvPr/>
        </p:nvSpPr>
        <p:spPr>
          <a:xfrm>
            <a:off x="4645152" y="1133856"/>
            <a:ext cx="1924812" cy="1792224"/>
          </a:xfrm>
          <a:prstGeom prst="roundRect">
            <a:avLst>
              <a:gd fmla="val 459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17">
            <a:hlinkClick r:id="rId9"/>
          </p:cNvPr>
          <p:cNvSpPr txBox="1"/>
          <p:nvPr/>
        </p:nvSpPr>
        <p:spPr>
          <a:xfrm>
            <a:off x="4782312" y="1261872"/>
            <a:ext cx="165049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sng" cap="none" strike="noStrike">
                <a:solidFill>
                  <a:schemeClr val="hlink"/>
                </a:solidFill>
                <a:latin typeface="Cambria"/>
                <a:ea typeface="Cambria"/>
                <a:cs typeface="Cambria"/>
                <a:sym typeface="Cambria"/>
                <a:hlinkClick r:id="rId10"/>
              </a:rPr>
              <a:t>radon</a:t>
            </a:r>
            <a:endParaRPr b="0" i="0" sz="1600" u="none" cap="none" strike="noStrike">
              <a:solidFill>
                <a:schemeClr val="dk1"/>
              </a:solidFill>
              <a:latin typeface="Calibri"/>
              <a:ea typeface="Calibri"/>
              <a:cs typeface="Calibri"/>
              <a:sym typeface="Calibri"/>
            </a:endParaRPr>
          </a:p>
        </p:txBody>
      </p:sp>
      <p:sp>
        <p:nvSpPr>
          <p:cNvPr id="601" name="Google Shape;601;p17"/>
          <p:cNvSpPr/>
          <p:nvPr/>
        </p:nvSpPr>
        <p:spPr>
          <a:xfrm>
            <a:off x="4782312" y="1554480"/>
            <a:ext cx="100584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17"/>
          <p:cNvSpPr txBox="1"/>
          <p:nvPr/>
        </p:nvSpPr>
        <p:spPr>
          <a:xfrm>
            <a:off x="4782312" y="1554480"/>
            <a:ext cx="100584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gate 3</a:t>
            </a:r>
            <a:endParaRPr b="0" i="0" sz="750" u="none" cap="none" strike="noStrike">
              <a:solidFill>
                <a:schemeClr val="dk1"/>
              </a:solidFill>
              <a:latin typeface="Calibri"/>
              <a:ea typeface="Calibri"/>
              <a:cs typeface="Calibri"/>
              <a:sym typeface="Calibri"/>
            </a:endParaRPr>
          </a:p>
        </p:txBody>
      </p:sp>
      <p:sp>
        <p:nvSpPr>
          <p:cNvPr id="603" name="Google Shape;603;p17"/>
          <p:cNvSpPr txBox="1"/>
          <p:nvPr/>
        </p:nvSpPr>
        <p:spPr>
          <a:xfrm>
            <a:off x="4782312" y="186537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MEASURES</a:t>
            </a:r>
            <a:endParaRPr b="0" i="0" sz="750" u="none" cap="none" strike="noStrike">
              <a:solidFill>
                <a:schemeClr val="dk1"/>
              </a:solidFill>
              <a:latin typeface="Calibri"/>
              <a:ea typeface="Calibri"/>
              <a:cs typeface="Calibri"/>
              <a:sym typeface="Calibri"/>
            </a:endParaRPr>
          </a:p>
        </p:txBody>
      </p:sp>
      <p:sp>
        <p:nvSpPr>
          <p:cNvPr id="604" name="Google Shape;604;p17"/>
          <p:cNvSpPr txBox="1"/>
          <p:nvPr/>
        </p:nvSpPr>
        <p:spPr>
          <a:xfrm>
            <a:off x="4782312" y="2029968"/>
            <a:ext cx="1650492"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Cheap cyclomatic complexity — the number we gate on</a:t>
            </a:r>
            <a:endParaRPr b="0" i="0" sz="950" u="none" cap="none" strike="noStrike">
              <a:solidFill>
                <a:schemeClr val="dk1"/>
              </a:solidFill>
              <a:latin typeface="Calibri"/>
              <a:ea typeface="Calibri"/>
              <a:cs typeface="Calibri"/>
              <a:sym typeface="Calibri"/>
            </a:endParaRPr>
          </a:p>
        </p:txBody>
      </p:sp>
      <p:sp>
        <p:nvSpPr>
          <p:cNvPr id="605" name="Google Shape;605;p17"/>
          <p:cNvSpPr txBox="1"/>
          <p:nvPr/>
        </p:nvSpPr>
        <p:spPr>
          <a:xfrm>
            <a:off x="4782312" y="250545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50"/>
              <a:buFont typeface="Courier New"/>
              <a:buNone/>
            </a:pPr>
            <a:r>
              <a:rPr b="0" i="0" lang="en-US" sz="750" u="none" cap="none" strike="noStrike">
                <a:solidFill>
                  <a:srgbClr val="FB7185"/>
                </a:solidFill>
                <a:latin typeface="Courier New"/>
                <a:ea typeface="Courier New"/>
                <a:cs typeface="Courier New"/>
                <a:sym typeface="Courier New"/>
              </a:rPr>
              <a:t>CANNOT</a:t>
            </a:r>
            <a:endParaRPr b="0" i="0" sz="750" u="none" cap="none" strike="noStrike">
              <a:solidFill>
                <a:schemeClr val="dk1"/>
              </a:solidFill>
              <a:latin typeface="Calibri"/>
              <a:ea typeface="Calibri"/>
              <a:cs typeface="Calibri"/>
              <a:sym typeface="Calibri"/>
            </a:endParaRPr>
          </a:p>
        </p:txBody>
      </p:sp>
      <p:sp>
        <p:nvSpPr>
          <p:cNvPr id="606" name="Google Shape;606;p17"/>
          <p:cNvSpPr txBox="1"/>
          <p:nvPr/>
        </p:nvSpPr>
        <p:spPr>
          <a:xfrm>
            <a:off x="4782312" y="2670048"/>
            <a:ext cx="16504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Name a smell in English</a:t>
            </a:r>
            <a:endParaRPr b="0" i="0" sz="900" u="none" cap="none" strike="noStrike">
              <a:solidFill>
                <a:schemeClr val="dk1"/>
              </a:solidFill>
              <a:latin typeface="Calibri"/>
              <a:ea typeface="Calibri"/>
              <a:cs typeface="Calibri"/>
              <a:sym typeface="Calibri"/>
            </a:endParaRPr>
          </a:p>
        </p:txBody>
      </p:sp>
      <p:sp>
        <p:nvSpPr>
          <p:cNvPr id="607" name="Google Shape;607;p17"/>
          <p:cNvSpPr/>
          <p:nvPr/>
        </p:nvSpPr>
        <p:spPr>
          <a:xfrm>
            <a:off x="6716268" y="1133856"/>
            <a:ext cx="1924812" cy="1792224"/>
          </a:xfrm>
          <a:prstGeom prst="roundRect">
            <a:avLst>
              <a:gd fmla="val 459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17">
            <a:hlinkClick r:id="rId11"/>
          </p:cNvPr>
          <p:cNvSpPr txBox="1"/>
          <p:nvPr/>
        </p:nvSpPr>
        <p:spPr>
          <a:xfrm>
            <a:off x="6853428" y="1261872"/>
            <a:ext cx="165049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sng" cap="none" strike="noStrike">
                <a:solidFill>
                  <a:schemeClr val="hlink"/>
                </a:solidFill>
                <a:latin typeface="Cambria"/>
                <a:ea typeface="Cambria"/>
                <a:cs typeface="Cambria"/>
                <a:sym typeface="Cambria"/>
                <a:hlinkClick r:id="rId12"/>
              </a:rPr>
              <a:t>pylint</a:t>
            </a:r>
            <a:endParaRPr b="0" i="0" sz="1600" u="none" cap="none" strike="noStrike">
              <a:solidFill>
                <a:schemeClr val="dk1"/>
              </a:solidFill>
              <a:latin typeface="Calibri"/>
              <a:ea typeface="Calibri"/>
              <a:cs typeface="Calibri"/>
              <a:sym typeface="Calibri"/>
            </a:endParaRPr>
          </a:p>
        </p:txBody>
      </p:sp>
      <p:sp>
        <p:nvSpPr>
          <p:cNvPr id="609" name="Google Shape;609;p17"/>
          <p:cNvSpPr/>
          <p:nvPr/>
        </p:nvSpPr>
        <p:spPr>
          <a:xfrm>
            <a:off x="6853428" y="1554480"/>
            <a:ext cx="100584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17"/>
          <p:cNvSpPr txBox="1"/>
          <p:nvPr/>
        </p:nvSpPr>
        <p:spPr>
          <a:xfrm>
            <a:off x="6853428" y="1554480"/>
            <a:ext cx="100584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advisory</a:t>
            </a:r>
            <a:endParaRPr b="0" i="0" sz="750" u="none" cap="none" strike="noStrike">
              <a:solidFill>
                <a:schemeClr val="dk1"/>
              </a:solidFill>
              <a:latin typeface="Calibri"/>
              <a:ea typeface="Calibri"/>
              <a:cs typeface="Calibri"/>
              <a:sym typeface="Calibri"/>
            </a:endParaRPr>
          </a:p>
        </p:txBody>
      </p:sp>
      <p:sp>
        <p:nvSpPr>
          <p:cNvPr id="611" name="Google Shape;611;p17"/>
          <p:cNvSpPr txBox="1"/>
          <p:nvPr/>
        </p:nvSpPr>
        <p:spPr>
          <a:xfrm>
            <a:off x="6853428" y="186537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MEASURES</a:t>
            </a:r>
            <a:endParaRPr b="0" i="0" sz="750" u="none" cap="none" strike="noStrike">
              <a:solidFill>
                <a:schemeClr val="dk1"/>
              </a:solidFill>
              <a:latin typeface="Calibri"/>
              <a:ea typeface="Calibri"/>
              <a:cs typeface="Calibri"/>
              <a:sym typeface="Calibri"/>
            </a:endParaRPr>
          </a:p>
        </p:txBody>
      </p:sp>
      <p:sp>
        <p:nvSpPr>
          <p:cNvPr id="612" name="Google Shape;612;p17"/>
          <p:cNvSpPr txBox="1"/>
          <p:nvPr/>
        </p:nvSpPr>
        <p:spPr>
          <a:xfrm>
            <a:off x="6853428" y="2029968"/>
            <a:ext cx="1650492"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Style and bug-adjacent messages, JSON output</a:t>
            </a:r>
            <a:endParaRPr b="0" i="0" sz="950" u="none" cap="none" strike="noStrike">
              <a:solidFill>
                <a:schemeClr val="dk1"/>
              </a:solidFill>
              <a:latin typeface="Calibri"/>
              <a:ea typeface="Calibri"/>
              <a:cs typeface="Calibri"/>
              <a:sym typeface="Calibri"/>
            </a:endParaRPr>
          </a:p>
        </p:txBody>
      </p:sp>
      <p:sp>
        <p:nvSpPr>
          <p:cNvPr id="613" name="Google Shape;613;p17"/>
          <p:cNvSpPr txBox="1"/>
          <p:nvPr/>
        </p:nvSpPr>
        <p:spPr>
          <a:xfrm>
            <a:off x="6853428" y="2505456"/>
            <a:ext cx="1650492"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50"/>
              <a:buFont typeface="Courier New"/>
              <a:buNone/>
            </a:pPr>
            <a:r>
              <a:rPr b="0" i="0" lang="en-US" sz="750" u="none" cap="none" strike="noStrike">
                <a:solidFill>
                  <a:srgbClr val="FB7185"/>
                </a:solidFill>
                <a:latin typeface="Courier New"/>
                <a:ea typeface="Courier New"/>
                <a:cs typeface="Courier New"/>
                <a:sym typeface="Courier New"/>
              </a:rPr>
              <a:t>CANNOT</a:t>
            </a:r>
            <a:endParaRPr b="0" i="0" sz="750" u="none" cap="none" strike="noStrike">
              <a:solidFill>
                <a:schemeClr val="dk1"/>
              </a:solidFill>
              <a:latin typeface="Calibri"/>
              <a:ea typeface="Calibri"/>
              <a:cs typeface="Calibri"/>
              <a:sym typeface="Calibri"/>
            </a:endParaRPr>
          </a:p>
        </p:txBody>
      </p:sp>
      <p:sp>
        <p:nvSpPr>
          <p:cNvPr id="614" name="Google Shape;614;p17"/>
          <p:cNvSpPr txBox="1"/>
          <p:nvPr/>
        </p:nvSpPr>
        <p:spPr>
          <a:xfrm>
            <a:off x="6853428" y="2670048"/>
            <a:ext cx="16504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Be the merge gate by itself</a:t>
            </a:r>
            <a:endParaRPr b="0" i="0" sz="900" u="none" cap="none" strike="noStrike">
              <a:solidFill>
                <a:schemeClr val="dk1"/>
              </a:solidFill>
              <a:latin typeface="Calibri"/>
              <a:ea typeface="Calibri"/>
              <a:cs typeface="Calibri"/>
              <a:sym typeface="Calibri"/>
            </a:endParaRPr>
          </a:p>
        </p:txBody>
      </p:sp>
      <p:sp>
        <p:nvSpPr>
          <p:cNvPr id="615" name="Google Shape;615;p17"/>
          <p:cNvSpPr/>
          <p:nvPr/>
        </p:nvSpPr>
        <p:spPr>
          <a:xfrm>
            <a:off x="502920" y="3108960"/>
            <a:ext cx="8138160" cy="1097280"/>
          </a:xfrm>
          <a:prstGeom prst="roundRect">
            <a:avLst>
              <a:gd fmla="val 7500"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7"/>
          <p:cNvSpPr/>
          <p:nvPr/>
        </p:nvSpPr>
        <p:spPr>
          <a:xfrm>
            <a:off x="777240" y="3328416"/>
            <a:ext cx="1737360" cy="658368"/>
          </a:xfrm>
          <a:prstGeom prst="roundRect">
            <a:avLst>
              <a:gd fmla="val 9722"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17"/>
          <p:cNvSpPr/>
          <p:nvPr/>
        </p:nvSpPr>
        <p:spPr>
          <a:xfrm>
            <a:off x="886968" y="3529584"/>
            <a:ext cx="256032" cy="256032"/>
          </a:xfrm>
          <a:prstGeom prst="ellipse">
            <a:avLst/>
          </a:prstGeom>
          <a:solidFill>
            <a:srgbClr val="BBA9DE"/>
          </a:solidFill>
          <a:ln cap="flat" cmpd="sng" w="12700">
            <a:solidFill>
              <a:srgbClr val="BBA9D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17"/>
          <p:cNvSpPr txBox="1"/>
          <p:nvPr/>
        </p:nvSpPr>
        <p:spPr>
          <a:xfrm>
            <a:off x="886968" y="3529584"/>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1</a:t>
            </a:r>
            <a:endParaRPr b="0" i="0" sz="1000" u="none" cap="none" strike="noStrike">
              <a:solidFill>
                <a:schemeClr val="dk1"/>
              </a:solidFill>
              <a:latin typeface="Calibri"/>
              <a:ea typeface="Calibri"/>
              <a:cs typeface="Calibri"/>
              <a:sym typeface="Calibri"/>
            </a:endParaRPr>
          </a:p>
        </p:txBody>
      </p:sp>
      <p:sp>
        <p:nvSpPr>
          <p:cNvPr id="619" name="Google Shape;619;p17"/>
          <p:cNvSpPr txBox="1"/>
          <p:nvPr/>
        </p:nvSpPr>
        <p:spPr>
          <a:xfrm>
            <a:off x="1216152" y="3419856"/>
            <a:ext cx="1207008"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000"/>
              <a:buFont typeface="Courier New"/>
              <a:buNone/>
            </a:pPr>
            <a:r>
              <a:rPr b="1" i="0" lang="en-US" sz="1000" u="none" cap="none" strike="noStrike">
                <a:solidFill>
                  <a:srgbClr val="BBA9DE"/>
                </a:solidFill>
                <a:latin typeface="Courier New"/>
                <a:ea typeface="Courier New"/>
                <a:cs typeface="Courier New"/>
                <a:sym typeface="Courier New"/>
              </a:rPr>
              <a:t>PARSE</a:t>
            </a:r>
            <a:endParaRPr b="0" i="0" sz="1000" u="none" cap="none" strike="noStrike">
              <a:solidFill>
                <a:schemeClr val="dk1"/>
              </a:solidFill>
              <a:latin typeface="Calibri"/>
              <a:ea typeface="Calibri"/>
              <a:cs typeface="Calibri"/>
              <a:sym typeface="Calibri"/>
            </a:endParaRPr>
          </a:p>
        </p:txBody>
      </p:sp>
      <p:sp>
        <p:nvSpPr>
          <p:cNvPr id="620" name="Google Shape;620;p17"/>
          <p:cNvSpPr txBox="1"/>
          <p:nvPr/>
        </p:nvSpPr>
        <p:spPr>
          <a:xfrm>
            <a:off x="1216152" y="3657600"/>
            <a:ext cx="1207008"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ast</a:t>
            </a:r>
            <a:endParaRPr b="0" i="0" sz="850" u="none" cap="none" strike="noStrike">
              <a:solidFill>
                <a:schemeClr val="dk1"/>
              </a:solidFill>
              <a:latin typeface="Calibri"/>
              <a:ea typeface="Calibri"/>
              <a:cs typeface="Calibri"/>
              <a:sym typeface="Calibri"/>
            </a:endParaRPr>
          </a:p>
        </p:txBody>
      </p:sp>
      <p:cxnSp>
        <p:nvCxnSpPr>
          <p:cNvPr id="621" name="Google Shape;621;p17"/>
          <p:cNvCxnSpPr/>
          <p:nvPr/>
        </p:nvCxnSpPr>
        <p:spPr>
          <a:xfrm>
            <a:off x="2569464" y="3657600"/>
            <a:ext cx="274320" cy="914"/>
          </a:xfrm>
          <a:prstGeom prst="straightConnector1">
            <a:avLst/>
          </a:prstGeom>
          <a:noFill/>
          <a:ln cap="flat" cmpd="sng" w="19050">
            <a:solidFill>
              <a:srgbClr val="A78BFA"/>
            </a:solidFill>
            <a:prstDash val="solid"/>
            <a:round/>
            <a:headEnd len="sm" w="sm" type="none"/>
            <a:tailEnd len="med" w="med" type="triangle"/>
          </a:ln>
        </p:spPr>
      </p:cxnSp>
      <p:sp>
        <p:nvSpPr>
          <p:cNvPr id="622" name="Google Shape;622;p17"/>
          <p:cNvSpPr/>
          <p:nvPr/>
        </p:nvSpPr>
        <p:spPr>
          <a:xfrm>
            <a:off x="2898648" y="3328416"/>
            <a:ext cx="1737360" cy="658368"/>
          </a:xfrm>
          <a:prstGeom prst="roundRect">
            <a:avLst>
              <a:gd fmla="val 9722"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17"/>
          <p:cNvSpPr/>
          <p:nvPr/>
        </p:nvSpPr>
        <p:spPr>
          <a:xfrm>
            <a:off x="3008376" y="3529584"/>
            <a:ext cx="256032" cy="256032"/>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7"/>
          <p:cNvSpPr txBox="1"/>
          <p:nvPr/>
        </p:nvSpPr>
        <p:spPr>
          <a:xfrm>
            <a:off x="3008376" y="3529584"/>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2</a:t>
            </a:r>
            <a:endParaRPr b="0" i="0" sz="1000" u="none" cap="none" strike="noStrike">
              <a:solidFill>
                <a:schemeClr val="dk1"/>
              </a:solidFill>
              <a:latin typeface="Calibri"/>
              <a:ea typeface="Calibri"/>
              <a:cs typeface="Calibri"/>
              <a:sym typeface="Calibri"/>
            </a:endParaRPr>
          </a:p>
        </p:txBody>
      </p:sp>
      <p:sp>
        <p:nvSpPr>
          <p:cNvPr id="625" name="Google Shape;625;p17"/>
          <p:cNvSpPr txBox="1"/>
          <p:nvPr/>
        </p:nvSpPr>
        <p:spPr>
          <a:xfrm>
            <a:off x="3337560" y="3419856"/>
            <a:ext cx="1207008"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000"/>
              <a:buFont typeface="Courier New"/>
              <a:buNone/>
            </a:pPr>
            <a:r>
              <a:rPr b="1" i="0" lang="en-US" sz="1000" u="none" cap="none" strike="noStrike">
                <a:solidFill>
                  <a:srgbClr val="5EE9B5"/>
                </a:solidFill>
                <a:latin typeface="Courier New"/>
                <a:ea typeface="Courier New"/>
                <a:cs typeface="Courier New"/>
                <a:sym typeface="Courier New"/>
              </a:rPr>
              <a:t>MEASURE</a:t>
            </a:r>
            <a:endParaRPr b="0" i="0" sz="1000" u="none" cap="none" strike="noStrike">
              <a:solidFill>
                <a:schemeClr val="dk1"/>
              </a:solidFill>
              <a:latin typeface="Calibri"/>
              <a:ea typeface="Calibri"/>
              <a:cs typeface="Calibri"/>
              <a:sym typeface="Calibri"/>
            </a:endParaRPr>
          </a:p>
        </p:txBody>
      </p:sp>
      <p:sp>
        <p:nvSpPr>
          <p:cNvPr id="626" name="Google Shape;626;p17"/>
          <p:cNvSpPr txBox="1"/>
          <p:nvPr/>
        </p:nvSpPr>
        <p:spPr>
          <a:xfrm>
            <a:off x="3337560" y="3657600"/>
            <a:ext cx="1207008"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PyExamine · MLScent · radon</a:t>
            </a:r>
            <a:endParaRPr b="0" i="0" sz="850" u="none" cap="none" strike="noStrike">
              <a:solidFill>
                <a:schemeClr val="dk1"/>
              </a:solidFill>
              <a:latin typeface="Calibri"/>
              <a:ea typeface="Calibri"/>
              <a:cs typeface="Calibri"/>
              <a:sym typeface="Calibri"/>
            </a:endParaRPr>
          </a:p>
        </p:txBody>
      </p:sp>
      <p:cxnSp>
        <p:nvCxnSpPr>
          <p:cNvPr id="627" name="Google Shape;627;p17"/>
          <p:cNvCxnSpPr/>
          <p:nvPr/>
        </p:nvCxnSpPr>
        <p:spPr>
          <a:xfrm>
            <a:off x="4690872" y="3657600"/>
            <a:ext cx="274320" cy="914"/>
          </a:xfrm>
          <a:prstGeom prst="straightConnector1">
            <a:avLst/>
          </a:prstGeom>
          <a:noFill/>
          <a:ln cap="flat" cmpd="sng" w="19050">
            <a:solidFill>
              <a:srgbClr val="A78BFA"/>
            </a:solidFill>
            <a:prstDash val="solid"/>
            <a:round/>
            <a:headEnd len="sm" w="sm" type="none"/>
            <a:tailEnd len="med" w="med" type="triangle"/>
          </a:ln>
        </p:spPr>
      </p:cxnSp>
      <p:sp>
        <p:nvSpPr>
          <p:cNvPr id="628" name="Google Shape;628;p17"/>
          <p:cNvSpPr/>
          <p:nvPr/>
        </p:nvSpPr>
        <p:spPr>
          <a:xfrm>
            <a:off x="5020056" y="3328416"/>
            <a:ext cx="1737360" cy="658368"/>
          </a:xfrm>
          <a:prstGeom prst="roundRect">
            <a:avLst>
              <a:gd fmla="val 9722"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17"/>
          <p:cNvSpPr/>
          <p:nvPr/>
        </p:nvSpPr>
        <p:spPr>
          <a:xfrm>
            <a:off x="5129784" y="3529584"/>
            <a:ext cx="256032" cy="256032"/>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17"/>
          <p:cNvSpPr txBox="1"/>
          <p:nvPr/>
        </p:nvSpPr>
        <p:spPr>
          <a:xfrm>
            <a:off x="5129784" y="3529584"/>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3</a:t>
            </a:r>
            <a:endParaRPr b="0" i="0" sz="1000" u="none" cap="none" strike="noStrike">
              <a:solidFill>
                <a:schemeClr val="dk1"/>
              </a:solidFill>
              <a:latin typeface="Calibri"/>
              <a:ea typeface="Calibri"/>
              <a:cs typeface="Calibri"/>
              <a:sym typeface="Calibri"/>
            </a:endParaRPr>
          </a:p>
        </p:txBody>
      </p:sp>
      <p:sp>
        <p:nvSpPr>
          <p:cNvPr id="631" name="Google Shape;631;p17"/>
          <p:cNvSpPr txBox="1"/>
          <p:nvPr/>
        </p:nvSpPr>
        <p:spPr>
          <a:xfrm>
            <a:off x="5458968" y="3419856"/>
            <a:ext cx="1207008"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000"/>
              <a:buFont typeface="Courier New"/>
              <a:buNone/>
            </a:pPr>
            <a:r>
              <a:rPr b="1" i="0" lang="en-US" sz="1000" u="none" cap="none" strike="noStrike">
                <a:solidFill>
                  <a:srgbClr val="FBBF24"/>
                </a:solidFill>
                <a:latin typeface="Courier New"/>
                <a:ea typeface="Courier New"/>
                <a:cs typeface="Courier New"/>
                <a:sym typeface="Courier New"/>
              </a:rPr>
              <a:t>INTERPRET</a:t>
            </a:r>
            <a:endParaRPr b="0" i="0" sz="1000" u="none" cap="none" strike="noStrike">
              <a:solidFill>
                <a:schemeClr val="dk1"/>
              </a:solidFill>
              <a:latin typeface="Calibri"/>
              <a:ea typeface="Calibri"/>
              <a:cs typeface="Calibri"/>
              <a:sym typeface="Calibri"/>
            </a:endParaRPr>
          </a:p>
        </p:txBody>
      </p:sp>
      <p:sp>
        <p:nvSpPr>
          <p:cNvPr id="632" name="Google Shape;632;p17"/>
          <p:cNvSpPr txBox="1"/>
          <p:nvPr/>
        </p:nvSpPr>
        <p:spPr>
          <a:xfrm>
            <a:off x="5458968" y="3657600"/>
            <a:ext cx="1207008"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llm()</a:t>
            </a:r>
            <a:endParaRPr b="0" i="0" sz="850" u="none" cap="none" strike="noStrike">
              <a:solidFill>
                <a:schemeClr val="dk1"/>
              </a:solidFill>
              <a:latin typeface="Calibri"/>
              <a:ea typeface="Calibri"/>
              <a:cs typeface="Calibri"/>
              <a:sym typeface="Calibri"/>
            </a:endParaRPr>
          </a:p>
        </p:txBody>
      </p:sp>
      <p:cxnSp>
        <p:nvCxnSpPr>
          <p:cNvPr id="633" name="Google Shape;633;p17"/>
          <p:cNvCxnSpPr/>
          <p:nvPr/>
        </p:nvCxnSpPr>
        <p:spPr>
          <a:xfrm>
            <a:off x="6812280" y="3657600"/>
            <a:ext cx="274320" cy="914"/>
          </a:xfrm>
          <a:prstGeom prst="straightConnector1">
            <a:avLst/>
          </a:prstGeom>
          <a:noFill/>
          <a:ln cap="flat" cmpd="sng" w="19050">
            <a:solidFill>
              <a:srgbClr val="A78BFA"/>
            </a:solidFill>
            <a:prstDash val="solid"/>
            <a:round/>
            <a:headEnd len="sm" w="sm" type="none"/>
            <a:tailEnd len="med" w="med" type="triangle"/>
          </a:ln>
        </p:spPr>
      </p:cxnSp>
      <p:sp>
        <p:nvSpPr>
          <p:cNvPr id="634" name="Google Shape;634;p17"/>
          <p:cNvSpPr/>
          <p:nvPr/>
        </p:nvSpPr>
        <p:spPr>
          <a:xfrm>
            <a:off x="7141472" y="3328425"/>
            <a:ext cx="1206900" cy="658500"/>
          </a:xfrm>
          <a:prstGeom prst="roundRect">
            <a:avLst>
              <a:gd fmla="val 9722"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17"/>
          <p:cNvSpPr/>
          <p:nvPr/>
        </p:nvSpPr>
        <p:spPr>
          <a:xfrm>
            <a:off x="7251192" y="3529584"/>
            <a:ext cx="256032" cy="2560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17"/>
          <p:cNvSpPr txBox="1"/>
          <p:nvPr/>
        </p:nvSpPr>
        <p:spPr>
          <a:xfrm>
            <a:off x="7251192" y="3529584"/>
            <a:ext cx="2560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4</a:t>
            </a:r>
            <a:endParaRPr b="0" i="0" sz="1000" u="none" cap="none" strike="noStrike">
              <a:solidFill>
                <a:schemeClr val="dk1"/>
              </a:solidFill>
              <a:latin typeface="Calibri"/>
              <a:ea typeface="Calibri"/>
              <a:cs typeface="Calibri"/>
              <a:sym typeface="Calibri"/>
            </a:endParaRPr>
          </a:p>
        </p:txBody>
      </p:sp>
      <p:sp>
        <p:nvSpPr>
          <p:cNvPr id="637" name="Google Shape;637;p17"/>
          <p:cNvSpPr txBox="1"/>
          <p:nvPr/>
        </p:nvSpPr>
        <p:spPr>
          <a:xfrm>
            <a:off x="7580376" y="3419856"/>
            <a:ext cx="1207008"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00"/>
              <a:buFont typeface="Courier New"/>
              <a:buNone/>
            </a:pPr>
            <a:r>
              <a:rPr b="1" i="0" lang="en-US" sz="1000" u="none" cap="none" strike="noStrike">
                <a:solidFill>
                  <a:srgbClr val="A78BFA"/>
                </a:solidFill>
                <a:latin typeface="Courier New"/>
                <a:ea typeface="Courier New"/>
                <a:cs typeface="Courier New"/>
                <a:sym typeface="Courier New"/>
              </a:rPr>
              <a:t>DECIDE</a:t>
            </a:r>
            <a:endParaRPr b="0" i="0" sz="1000" u="none" cap="none" strike="noStrike">
              <a:solidFill>
                <a:schemeClr val="dk1"/>
              </a:solidFill>
              <a:latin typeface="Calibri"/>
              <a:ea typeface="Calibri"/>
              <a:cs typeface="Calibri"/>
              <a:sym typeface="Calibri"/>
            </a:endParaRPr>
          </a:p>
        </p:txBody>
      </p:sp>
      <p:sp>
        <p:nvSpPr>
          <p:cNvPr id="638" name="Google Shape;638;p17"/>
          <p:cNvSpPr txBox="1"/>
          <p:nvPr/>
        </p:nvSpPr>
        <p:spPr>
          <a:xfrm>
            <a:off x="7580376" y="3657600"/>
            <a:ext cx="1207008"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the gates</a:t>
            </a:r>
            <a:endParaRPr b="0" i="0" sz="850" u="none" cap="none" strike="noStrike">
              <a:solidFill>
                <a:schemeClr val="dk1"/>
              </a:solidFill>
              <a:latin typeface="Calibri"/>
              <a:ea typeface="Calibri"/>
              <a:cs typeface="Calibri"/>
              <a:sym typeface="Calibri"/>
            </a:endParaRPr>
          </a:p>
        </p:txBody>
      </p:sp>
      <p:sp>
        <p:nvSpPr>
          <p:cNvPr id="639" name="Google Shape;639;p17"/>
          <p:cNvSpPr/>
          <p:nvPr/>
        </p:nvSpPr>
        <p:spPr>
          <a:xfrm>
            <a:off x="502920" y="4443984"/>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17"/>
          <p:cNvSpPr txBox="1"/>
          <p:nvPr/>
        </p:nvSpPr>
        <p:spPr>
          <a:xfrm>
            <a:off x="649224" y="4443984"/>
            <a:ext cx="7845552"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100"/>
              <a:buFont typeface="Calibri"/>
              <a:buNone/>
            </a:pPr>
            <a:r>
              <a:rPr b="0" i="1" lang="en-US" sz="1100" u="none" cap="none" strike="noStrike">
                <a:solidFill>
                  <a:srgbClr val="E9DFFF"/>
                </a:solidFill>
                <a:latin typeface="Calibri"/>
                <a:ea typeface="Calibri"/>
                <a:cs typeface="Calibri"/>
                <a:sym typeface="Calibri"/>
              </a:rPr>
              <a:t>Only step 3 can hallucinate — and it is sandwiched between two steps that cannot. That sandwich is the whole design.</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645" name="Shape 645"/>
        <p:cNvGrpSpPr/>
        <p:nvPr/>
      </p:nvGrpSpPr>
      <p:grpSpPr>
        <a:xfrm>
          <a:off x="0" y="0"/>
          <a:ext cx="0" cy="0"/>
          <a:chOff x="0" y="0"/>
          <a:chExt cx="0" cy="0"/>
        </a:xfrm>
      </p:grpSpPr>
      <p:sp>
        <p:nvSpPr>
          <p:cNvPr id="646" name="Google Shape;646;p18"/>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§1.9 · THE CORE ABSTRACTION</a:t>
            </a:r>
            <a:endParaRPr b="0" i="0" sz="1050" u="none" cap="none" strike="noStrike">
              <a:solidFill>
                <a:schemeClr val="dk1"/>
              </a:solidFill>
              <a:latin typeface="Calibri"/>
              <a:ea typeface="Calibri"/>
              <a:cs typeface="Calibri"/>
              <a:sym typeface="Calibri"/>
            </a:endParaRPr>
          </a:p>
        </p:txBody>
      </p:sp>
      <p:sp>
        <p:nvSpPr>
          <p:cNvPr id="647" name="Google Shape;647;p18"/>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An agent is four slots — and tools go first</a:t>
            </a:r>
            <a:endParaRPr b="0" i="0" sz="2700" u="none" cap="none" strike="noStrike">
              <a:solidFill>
                <a:schemeClr val="dk1"/>
              </a:solidFill>
              <a:latin typeface="Calibri"/>
              <a:ea typeface="Calibri"/>
              <a:cs typeface="Calibri"/>
              <a:sym typeface="Calibri"/>
            </a:endParaRPr>
          </a:p>
        </p:txBody>
      </p:sp>
      <p:sp>
        <p:nvSpPr>
          <p:cNvPr id="648" name="Google Shape;648;p18">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649" name="Google Shape;649;p18"/>
          <p:cNvSpPr/>
          <p:nvPr/>
        </p:nvSpPr>
        <p:spPr>
          <a:xfrm>
            <a:off x="502920" y="1133856"/>
            <a:ext cx="1924812" cy="1517904"/>
          </a:xfrm>
          <a:prstGeom prst="roundRect">
            <a:avLst>
              <a:gd fmla="val 542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18"/>
          <p:cNvSpPr/>
          <p:nvPr/>
        </p:nvSpPr>
        <p:spPr>
          <a:xfrm>
            <a:off x="649224" y="1280160"/>
            <a:ext cx="384048" cy="384048"/>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18"/>
          <p:cNvSpPr txBox="1"/>
          <p:nvPr/>
        </p:nvSpPr>
        <p:spPr>
          <a:xfrm>
            <a:off x="649224" y="12801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652" name="Google Shape;652;p18"/>
          <p:cNvSpPr txBox="1"/>
          <p:nvPr/>
        </p:nvSpPr>
        <p:spPr>
          <a:xfrm>
            <a:off x="1124712" y="1335024"/>
            <a:ext cx="117500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Role</a:t>
            </a:r>
            <a:endParaRPr b="0" i="0" sz="1500" u="none" cap="none" strike="noStrike">
              <a:solidFill>
                <a:schemeClr val="dk1"/>
              </a:solidFill>
              <a:latin typeface="Calibri"/>
              <a:ea typeface="Calibri"/>
              <a:cs typeface="Calibri"/>
              <a:sym typeface="Calibri"/>
            </a:endParaRPr>
          </a:p>
        </p:txBody>
      </p:sp>
      <p:sp>
        <p:nvSpPr>
          <p:cNvPr id="653" name="Google Shape;653;p18"/>
          <p:cNvSpPr txBox="1"/>
          <p:nvPr/>
        </p:nvSpPr>
        <p:spPr>
          <a:xfrm>
            <a:off x="649224" y="1792224"/>
            <a:ext cx="1632204" cy="7680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The system prompt. “You are a senior reviewer for a SaaS billing codebase. Use ONLY the tool evidence.”</a:t>
            </a:r>
            <a:endParaRPr b="0" i="0" sz="950" u="none" cap="none" strike="noStrike">
              <a:solidFill>
                <a:schemeClr val="dk1"/>
              </a:solidFill>
              <a:latin typeface="Calibri"/>
              <a:ea typeface="Calibri"/>
              <a:cs typeface="Calibri"/>
              <a:sym typeface="Calibri"/>
            </a:endParaRPr>
          </a:p>
        </p:txBody>
      </p:sp>
      <p:sp>
        <p:nvSpPr>
          <p:cNvPr id="654" name="Google Shape;654;p18"/>
          <p:cNvSpPr/>
          <p:nvPr/>
        </p:nvSpPr>
        <p:spPr>
          <a:xfrm>
            <a:off x="2574036" y="1133856"/>
            <a:ext cx="1924812" cy="1517904"/>
          </a:xfrm>
          <a:prstGeom prst="roundRect">
            <a:avLst>
              <a:gd fmla="val 542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18"/>
          <p:cNvSpPr/>
          <p:nvPr/>
        </p:nvSpPr>
        <p:spPr>
          <a:xfrm>
            <a:off x="2720340" y="1280160"/>
            <a:ext cx="384048" cy="384048"/>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18"/>
          <p:cNvSpPr txBox="1"/>
          <p:nvPr/>
        </p:nvSpPr>
        <p:spPr>
          <a:xfrm>
            <a:off x="2720340" y="12801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657" name="Google Shape;657;p18"/>
          <p:cNvSpPr txBox="1"/>
          <p:nvPr/>
        </p:nvSpPr>
        <p:spPr>
          <a:xfrm>
            <a:off x="3195828" y="1335024"/>
            <a:ext cx="117500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Brain</a:t>
            </a:r>
            <a:endParaRPr b="0" i="0" sz="1500" u="none" cap="none" strike="noStrike">
              <a:solidFill>
                <a:schemeClr val="dk1"/>
              </a:solidFill>
              <a:latin typeface="Calibri"/>
              <a:ea typeface="Calibri"/>
              <a:cs typeface="Calibri"/>
              <a:sym typeface="Calibri"/>
            </a:endParaRPr>
          </a:p>
        </p:txBody>
      </p:sp>
      <p:sp>
        <p:nvSpPr>
          <p:cNvPr id="658" name="Google Shape;658;p18"/>
          <p:cNvSpPr txBox="1"/>
          <p:nvPr/>
        </p:nvSpPr>
        <p:spPr>
          <a:xfrm>
            <a:off x="2720340" y="1792224"/>
            <a:ext cx="1632204" cy="7680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llm() → OpenRouter → openai/gpt-5.6-luna. One function, six agents. Swap the slug, keep everything else.</a:t>
            </a:r>
            <a:endParaRPr b="0" i="0" sz="950" u="none" cap="none" strike="noStrike">
              <a:solidFill>
                <a:schemeClr val="dk1"/>
              </a:solidFill>
              <a:latin typeface="Calibri"/>
              <a:ea typeface="Calibri"/>
              <a:cs typeface="Calibri"/>
              <a:sym typeface="Calibri"/>
            </a:endParaRPr>
          </a:p>
        </p:txBody>
      </p:sp>
      <p:sp>
        <p:nvSpPr>
          <p:cNvPr id="659" name="Google Shape;659;p18"/>
          <p:cNvSpPr/>
          <p:nvPr/>
        </p:nvSpPr>
        <p:spPr>
          <a:xfrm>
            <a:off x="4645152" y="1133856"/>
            <a:ext cx="1924812" cy="1517904"/>
          </a:xfrm>
          <a:prstGeom prst="roundRect">
            <a:avLst>
              <a:gd fmla="val 542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18"/>
          <p:cNvSpPr/>
          <p:nvPr/>
        </p:nvSpPr>
        <p:spPr>
          <a:xfrm>
            <a:off x="4791456" y="1280160"/>
            <a:ext cx="384048" cy="384048"/>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18"/>
          <p:cNvSpPr txBox="1"/>
          <p:nvPr/>
        </p:nvSpPr>
        <p:spPr>
          <a:xfrm>
            <a:off x="4791456" y="12801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662" name="Google Shape;662;p18"/>
          <p:cNvSpPr txBox="1"/>
          <p:nvPr/>
        </p:nvSpPr>
        <p:spPr>
          <a:xfrm>
            <a:off x="5266944" y="1335024"/>
            <a:ext cx="117500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Tools</a:t>
            </a:r>
            <a:endParaRPr b="0" i="0" sz="1500" u="none" cap="none" strike="noStrike">
              <a:solidFill>
                <a:schemeClr val="dk1"/>
              </a:solidFill>
              <a:latin typeface="Calibri"/>
              <a:ea typeface="Calibri"/>
              <a:cs typeface="Calibri"/>
              <a:sym typeface="Calibri"/>
            </a:endParaRPr>
          </a:p>
        </p:txBody>
      </p:sp>
      <p:sp>
        <p:nvSpPr>
          <p:cNvPr id="663" name="Google Shape;663;p18"/>
          <p:cNvSpPr txBox="1"/>
          <p:nvPr/>
        </p:nvSpPr>
        <p:spPr>
          <a:xfrm>
            <a:off x="4791456" y="1792224"/>
            <a:ext cx="1632204" cy="7680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run_pyexamine_for_file, run_radon, run_mlscent. Deterministic callables the model did not write.</a:t>
            </a:r>
            <a:endParaRPr b="0" i="0" sz="950" u="none" cap="none" strike="noStrike">
              <a:solidFill>
                <a:schemeClr val="dk1"/>
              </a:solidFill>
              <a:latin typeface="Calibri"/>
              <a:ea typeface="Calibri"/>
              <a:cs typeface="Calibri"/>
              <a:sym typeface="Calibri"/>
            </a:endParaRPr>
          </a:p>
        </p:txBody>
      </p:sp>
      <p:sp>
        <p:nvSpPr>
          <p:cNvPr id="664" name="Google Shape;664;p18"/>
          <p:cNvSpPr/>
          <p:nvPr/>
        </p:nvSpPr>
        <p:spPr>
          <a:xfrm>
            <a:off x="6716268" y="1133856"/>
            <a:ext cx="1924812" cy="1517904"/>
          </a:xfrm>
          <a:prstGeom prst="roundRect">
            <a:avLst>
              <a:gd fmla="val 5422"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18"/>
          <p:cNvSpPr/>
          <p:nvPr/>
        </p:nvSpPr>
        <p:spPr>
          <a:xfrm>
            <a:off x="6862572" y="1280160"/>
            <a:ext cx="384048" cy="384048"/>
          </a:xfrm>
          <a:prstGeom prst="ellipse">
            <a:avLst/>
          </a:prstGeom>
          <a:solidFill>
            <a:srgbClr val="E9DFFF"/>
          </a:solidFill>
          <a:ln cap="flat" cmpd="sng" w="12700">
            <a:solidFill>
              <a:srgbClr val="E9D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18"/>
          <p:cNvSpPr txBox="1"/>
          <p:nvPr/>
        </p:nvSpPr>
        <p:spPr>
          <a:xfrm>
            <a:off x="6862572" y="12801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667" name="Google Shape;667;p18"/>
          <p:cNvSpPr txBox="1"/>
          <p:nvPr/>
        </p:nvSpPr>
        <p:spPr>
          <a:xfrm>
            <a:off x="7338060" y="1335024"/>
            <a:ext cx="117500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Contract</a:t>
            </a:r>
            <a:endParaRPr b="0" i="0" sz="1500" u="none" cap="none" strike="noStrike">
              <a:solidFill>
                <a:schemeClr val="dk1"/>
              </a:solidFill>
              <a:latin typeface="Calibri"/>
              <a:ea typeface="Calibri"/>
              <a:cs typeface="Calibri"/>
              <a:sym typeface="Calibri"/>
            </a:endParaRPr>
          </a:p>
        </p:txBody>
      </p:sp>
      <p:sp>
        <p:nvSpPr>
          <p:cNvPr id="668" name="Google Shape;668;p18"/>
          <p:cNvSpPr txBox="1"/>
          <p:nvPr/>
        </p:nvSpPr>
        <p:spPr>
          <a:xfrm>
            <a:off x="6862572" y="1792224"/>
            <a:ext cx="1632204" cy="7680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JSON {"findings":[…]} so extract_json() can parse it. Turns prose into data the next agent can use.</a:t>
            </a:r>
            <a:endParaRPr b="0" i="0" sz="950" u="none" cap="none" strike="noStrike">
              <a:solidFill>
                <a:schemeClr val="dk1"/>
              </a:solidFill>
              <a:latin typeface="Calibri"/>
              <a:ea typeface="Calibri"/>
              <a:cs typeface="Calibri"/>
              <a:sym typeface="Calibri"/>
            </a:endParaRPr>
          </a:p>
        </p:txBody>
      </p:sp>
      <p:sp>
        <p:nvSpPr>
          <p:cNvPr id="669" name="Google Shape;669;p18"/>
          <p:cNvSpPr txBox="1"/>
          <p:nvPr/>
        </p:nvSpPr>
        <p:spPr>
          <a:xfrm>
            <a:off x="667512" y="2889504"/>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50"/>
              <a:buFont typeface="Courier New"/>
              <a:buNone/>
            </a:pPr>
            <a:r>
              <a:rPr b="1" i="0" lang="en-US" sz="850" u="none" cap="none" strike="noStrike">
                <a:solidFill>
                  <a:srgbClr val="5EE9B5"/>
                </a:solidFill>
                <a:latin typeface="Courier New"/>
                <a:ea typeface="Courier New"/>
                <a:cs typeface="Courier New"/>
                <a:sym typeface="Courier New"/>
              </a:rPr>
              <a:t>ORDER MATTERS MORE THAN THE PROMPT</a:t>
            </a:r>
            <a:endParaRPr b="1" i="0" sz="85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674" name="Shape 674"/>
        <p:cNvGrpSpPr/>
        <p:nvPr/>
      </p:nvGrpSpPr>
      <p:grpSpPr>
        <a:xfrm>
          <a:off x="0" y="0"/>
          <a:ext cx="0" cy="0"/>
          <a:chOff x="0" y="0"/>
          <a:chExt cx="0" cy="0"/>
        </a:xfrm>
      </p:grpSpPr>
      <p:sp>
        <p:nvSpPr>
          <p:cNvPr id="675" name="Google Shape;675;p19"/>
          <p:cNvSpPr/>
          <p:nvPr/>
        </p:nvSpPr>
        <p:spPr>
          <a:xfrm>
            <a:off x="502920" y="502920"/>
            <a:ext cx="8138160" cy="4114800"/>
          </a:xfrm>
          <a:prstGeom prst="roundRect">
            <a:avLst>
              <a:gd fmla="val 3111" name="adj"/>
            </a:avLst>
          </a:prstGeom>
          <a:solidFill>
            <a:srgbClr val="34234F"/>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19"/>
          <p:cNvSpPr/>
          <p:nvPr/>
        </p:nvSpPr>
        <p:spPr>
          <a:xfrm>
            <a:off x="960120" y="960120"/>
            <a:ext cx="713232" cy="7132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19"/>
          <p:cNvSpPr txBox="1"/>
          <p:nvPr/>
        </p:nvSpPr>
        <p:spPr>
          <a:xfrm>
            <a:off x="960120" y="960120"/>
            <a:ext cx="713232"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2600"/>
              <a:buFont typeface="Courier New"/>
              <a:buNone/>
            </a:pPr>
            <a:r>
              <a:rPr b="1" i="0" lang="en-US" sz="2600" u="none" cap="none" strike="noStrike">
                <a:solidFill>
                  <a:srgbClr val="2A1B3D"/>
                </a:solidFill>
                <a:latin typeface="Courier New"/>
                <a:ea typeface="Courier New"/>
                <a:cs typeface="Courier New"/>
                <a:sym typeface="Courier New"/>
              </a:rPr>
              <a:t>2</a:t>
            </a:r>
            <a:endParaRPr b="0" i="0" sz="2600" u="none" cap="none" strike="noStrike">
              <a:solidFill>
                <a:schemeClr val="dk1"/>
              </a:solidFill>
              <a:latin typeface="Calibri"/>
              <a:ea typeface="Calibri"/>
              <a:cs typeface="Calibri"/>
              <a:sym typeface="Calibri"/>
            </a:endParaRPr>
          </a:p>
        </p:txBody>
      </p:sp>
      <p:sp>
        <p:nvSpPr>
          <p:cNvPr id="678" name="Google Shape;678;p19"/>
          <p:cNvSpPr txBox="1"/>
          <p:nvPr/>
        </p:nvSpPr>
        <p:spPr>
          <a:xfrm>
            <a:off x="1874520" y="987552"/>
            <a:ext cx="5120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100"/>
              <a:buFont typeface="Courier New"/>
              <a:buNone/>
            </a:pPr>
            <a:r>
              <a:rPr b="0" i="0" lang="en-US" sz="1100" u="none" cap="none" strike="noStrike">
                <a:solidFill>
                  <a:srgbClr val="A78BFA"/>
                </a:solidFill>
                <a:latin typeface="Courier New"/>
                <a:ea typeface="Courier New"/>
                <a:cs typeface="Courier New"/>
                <a:sym typeface="Courier New"/>
              </a:rPr>
              <a:t>HANDS-ON · THE HOSPITAL, NOT THE GENIUS</a:t>
            </a:r>
            <a:endParaRPr b="0" i="0" sz="1100" u="none" cap="none" strike="noStrike">
              <a:solidFill>
                <a:schemeClr val="dk1"/>
              </a:solidFill>
              <a:latin typeface="Calibri"/>
              <a:ea typeface="Calibri"/>
              <a:cs typeface="Calibri"/>
              <a:sym typeface="Calibri"/>
            </a:endParaRPr>
          </a:p>
        </p:txBody>
      </p:sp>
      <p:sp>
        <p:nvSpPr>
          <p:cNvPr id="679" name="Google Shape;679;p19"/>
          <p:cNvSpPr txBox="1"/>
          <p:nvPr/>
        </p:nvSpPr>
        <p:spPr>
          <a:xfrm>
            <a:off x="1874520" y="1261872"/>
            <a:ext cx="6035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Cooperative team</a:t>
            </a:r>
            <a:endParaRPr b="0" i="0" sz="3200" u="none" cap="none" strike="noStrike">
              <a:solidFill>
                <a:schemeClr val="dk1"/>
              </a:solidFill>
              <a:latin typeface="Calibri"/>
              <a:ea typeface="Calibri"/>
              <a:cs typeface="Calibri"/>
              <a:sym typeface="Calibri"/>
            </a:endParaRPr>
          </a:p>
        </p:txBody>
      </p:sp>
      <p:sp>
        <p:nvSpPr>
          <p:cNvPr id="680" name="Google Shape;680;p19"/>
          <p:cNvSpPr txBox="1"/>
          <p:nvPr/>
        </p:nvSpPr>
        <p:spPr>
          <a:xfrm>
            <a:off x="1892808" y="1810512"/>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681" name="Google Shape;681;p19"/>
          <p:cNvSpPr txBox="1"/>
          <p:nvPr/>
        </p:nvSpPr>
        <p:spPr>
          <a:xfrm>
            <a:off x="2130552" y="1810512"/>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§2.1  WorkflowState — the blackboard. If it is not on the board, it did not happen.</a:t>
            </a:r>
            <a:endParaRPr b="0" i="0" sz="1100" u="none" cap="none" strike="noStrike">
              <a:solidFill>
                <a:schemeClr val="dk1"/>
              </a:solidFill>
              <a:latin typeface="Calibri"/>
              <a:ea typeface="Calibri"/>
              <a:cs typeface="Calibri"/>
              <a:sym typeface="Calibri"/>
            </a:endParaRPr>
          </a:p>
        </p:txBody>
      </p:sp>
      <p:sp>
        <p:nvSpPr>
          <p:cNvPr id="682" name="Google Shape;682;p19"/>
          <p:cNvSpPr txBox="1"/>
          <p:nvPr/>
        </p:nvSpPr>
        <p:spPr>
          <a:xfrm>
            <a:off x="1892808" y="2194560"/>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683" name="Google Shape;683;p19"/>
          <p:cNvSpPr txBox="1"/>
          <p:nvPr/>
        </p:nvSpPr>
        <p:spPr>
          <a:xfrm>
            <a:off x="2130552" y="2194560"/>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§2.2  Planner: pick three smells, not everything. Same JSON contract as the auditor.</a:t>
            </a:r>
            <a:endParaRPr b="0" i="0" sz="1100" u="none" cap="none" strike="noStrike">
              <a:solidFill>
                <a:schemeClr val="dk1"/>
              </a:solidFill>
              <a:latin typeface="Calibri"/>
              <a:ea typeface="Calibri"/>
              <a:cs typeface="Calibri"/>
              <a:sym typeface="Calibri"/>
            </a:endParaRPr>
          </a:p>
        </p:txBody>
      </p:sp>
      <p:sp>
        <p:nvSpPr>
          <p:cNvPr id="684" name="Google Shape;684;p19"/>
          <p:cNvSpPr txBox="1"/>
          <p:nvPr/>
        </p:nvSpPr>
        <p:spPr>
          <a:xfrm>
            <a:off x="1892808" y="2578608"/>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685" name="Google Shape;685;p19"/>
          <p:cNvSpPr txBox="1"/>
          <p:nvPr/>
        </p:nvSpPr>
        <p:spPr>
          <a:xfrm>
            <a:off x="2130552" y="2578608"/>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§2.3  Refactorer under HARD RULES — one ```python fence, the full module.</a:t>
            </a:r>
            <a:endParaRPr b="0" i="0" sz="1100" u="none" cap="none" strike="noStrike">
              <a:solidFill>
                <a:schemeClr val="dk1"/>
              </a:solidFill>
              <a:latin typeface="Calibri"/>
              <a:ea typeface="Calibri"/>
              <a:cs typeface="Calibri"/>
              <a:sym typeface="Calibri"/>
            </a:endParaRPr>
          </a:p>
        </p:txBody>
      </p:sp>
      <p:sp>
        <p:nvSpPr>
          <p:cNvPr id="686" name="Google Shape;686;p19"/>
          <p:cNvSpPr txBox="1"/>
          <p:nvPr/>
        </p:nvSpPr>
        <p:spPr>
          <a:xfrm>
            <a:off x="1892808" y="2962656"/>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687" name="Google Shape;687;p19"/>
          <p:cNvSpPr txBox="1"/>
          <p:nvPr/>
        </p:nvSpPr>
        <p:spPr>
          <a:xfrm>
            <a:off x="2130552" y="2962656"/>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§2.4  QA with no LLM in it: ast.parse → pytest in a sandbox → Δ cyclomatic complexity.</a:t>
            </a:r>
            <a:endParaRPr b="0" i="0" sz="1100" u="none" cap="none" strike="noStrike">
              <a:solidFill>
                <a:schemeClr val="dk1"/>
              </a:solidFill>
              <a:latin typeface="Calibri"/>
              <a:ea typeface="Calibri"/>
              <a:cs typeface="Calibri"/>
              <a:sym typeface="Calibri"/>
            </a:endParaRPr>
          </a:p>
        </p:txBody>
      </p:sp>
      <p:sp>
        <p:nvSpPr>
          <p:cNvPr id="688" name="Google Shape;688;p19"/>
          <p:cNvSpPr txBox="1"/>
          <p:nvPr/>
        </p:nvSpPr>
        <p:spPr>
          <a:xfrm>
            <a:off x="1892808" y="3346704"/>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689" name="Google Shape;689;p19"/>
          <p:cNvSpPr txBox="1"/>
          <p:nvPr/>
        </p:nvSpPr>
        <p:spPr>
          <a:xfrm>
            <a:off x="2130552" y="3346704"/>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§2.5  Orchestrator: a for loop. Failures go back with the reason attached.</a:t>
            </a:r>
            <a:endParaRPr b="0" i="0" sz="1100" u="none" cap="none" strike="noStrike">
              <a:solidFill>
                <a:schemeClr val="dk1"/>
              </a:solidFill>
              <a:latin typeface="Calibri"/>
              <a:ea typeface="Calibri"/>
              <a:cs typeface="Calibri"/>
              <a:sym typeface="Calibri"/>
            </a:endParaRPr>
          </a:p>
        </p:txBody>
      </p:sp>
      <p:sp>
        <p:nvSpPr>
          <p:cNvPr id="690" name="Google Shape;690;p19"/>
          <p:cNvSpPr txBox="1"/>
          <p:nvPr/>
        </p:nvSpPr>
        <p:spPr>
          <a:xfrm>
            <a:off x="1892808" y="3730752"/>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691" name="Google Shape;691;p19"/>
          <p:cNvSpPr txBox="1"/>
          <p:nvPr/>
        </p:nvSpPr>
        <p:spPr>
          <a:xfrm>
            <a:off x="2130552" y="3730752"/>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§2.6  Sabotage lab: one character flips the refund cap — watch gate 2 speak.</a:t>
            </a:r>
            <a:endParaRPr b="0" i="0" sz="1100" u="none" cap="none" strike="noStrike">
              <a:solidFill>
                <a:schemeClr val="dk1"/>
              </a:solidFill>
              <a:latin typeface="Calibri"/>
              <a:ea typeface="Calibri"/>
              <a:cs typeface="Calibri"/>
              <a:sym typeface="Calibri"/>
            </a:endParaRPr>
          </a:p>
        </p:txBody>
      </p:sp>
      <p:sp>
        <p:nvSpPr>
          <p:cNvPr id="692" name="Google Shape;692;p19"/>
          <p:cNvSpPr/>
          <p:nvPr/>
        </p:nvSpPr>
        <p:spPr>
          <a:xfrm>
            <a:off x="1874520" y="4187952"/>
            <a:ext cx="16002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19"/>
          <p:cNvSpPr txBox="1"/>
          <p:nvPr/>
        </p:nvSpPr>
        <p:spPr>
          <a:xfrm>
            <a:off x="1874520" y="4187952"/>
            <a:ext cx="16002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1:10 – 1:50</a:t>
            </a:r>
            <a:endParaRPr b="0" i="0" sz="950" u="none" cap="none" strike="noStrike">
              <a:solidFill>
                <a:schemeClr val="dk1"/>
              </a:solidFill>
              <a:latin typeface="Calibri"/>
              <a:ea typeface="Calibri"/>
              <a:cs typeface="Calibri"/>
              <a:sym typeface="Calibri"/>
            </a:endParaRPr>
          </a:p>
        </p:txBody>
      </p:sp>
      <p:sp>
        <p:nvSpPr>
          <p:cNvPr id="694" name="Google Shape;694;p19"/>
          <p:cNvSpPr/>
          <p:nvPr/>
        </p:nvSpPr>
        <p:spPr>
          <a:xfrm>
            <a:off x="3593592" y="4187952"/>
            <a:ext cx="22860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19"/>
          <p:cNvSpPr txBox="1"/>
          <p:nvPr/>
        </p:nvSpPr>
        <p:spPr>
          <a:xfrm>
            <a:off x="3593592" y="4187952"/>
            <a:ext cx="2286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950"/>
              <a:buFont typeface="Courier New"/>
              <a:buNone/>
            </a:pPr>
            <a:r>
              <a:rPr b="0" i="0" lang="en-US" sz="950" u="none" cap="none" strike="noStrike">
                <a:solidFill>
                  <a:srgbClr val="5EE9B5"/>
                </a:solidFill>
                <a:latin typeface="Courier New"/>
                <a:ea typeface="Courier New"/>
                <a:cs typeface="Courier New"/>
                <a:sym typeface="Courier New"/>
              </a:rPr>
              <a:t>NOTEBOOK · PART 2</a:t>
            </a:r>
            <a:endParaRPr b="0" i="0" sz="950" u="none" cap="none" strike="noStrike">
              <a:solidFill>
                <a:schemeClr val="dk1"/>
              </a:solidFill>
              <a:latin typeface="Calibri"/>
              <a:ea typeface="Calibri"/>
              <a:cs typeface="Calibri"/>
              <a:sym typeface="Calibri"/>
            </a:endParaRPr>
          </a:p>
        </p:txBody>
      </p:sp>
      <p:sp>
        <p:nvSpPr>
          <p:cNvPr id="696" name="Google Shape;696;p19">
            <a:hlinkClick action="ppaction://hlinksldjump" r:id="rId3"/>
          </p:cNvPr>
          <p:cNvSpPr txBox="1"/>
          <p:nvPr/>
        </p:nvSpPr>
        <p:spPr>
          <a:xfrm>
            <a:off x="7406640" y="4206240"/>
            <a:ext cx="96012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701" name="Shape 701"/>
        <p:cNvGrpSpPr/>
        <p:nvPr/>
      </p:nvGrpSpPr>
      <p:grpSpPr>
        <a:xfrm>
          <a:off x="0" y="0"/>
          <a:ext cx="0" cy="0"/>
          <a:chOff x="0" y="0"/>
          <a:chExt cx="0" cy="0"/>
        </a:xfrm>
      </p:grpSpPr>
      <p:sp>
        <p:nvSpPr>
          <p:cNvPr id="702" name="Google Shape;702;p20"/>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§2.5 · THE LOOP, DRAWN</a:t>
            </a:r>
            <a:endParaRPr b="0" i="0" sz="1050" u="none" cap="none" strike="noStrike">
              <a:solidFill>
                <a:schemeClr val="dk1"/>
              </a:solidFill>
              <a:latin typeface="Calibri"/>
              <a:ea typeface="Calibri"/>
              <a:cs typeface="Calibri"/>
              <a:sym typeface="Calibri"/>
            </a:endParaRPr>
          </a:p>
        </p:txBody>
      </p:sp>
      <p:sp>
        <p:nvSpPr>
          <p:cNvPr id="703" name="Google Shape;703;p20"/>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mbria"/>
              <a:buNone/>
            </a:pPr>
            <a:r>
              <a:rPr b="1" i="0" lang="en-US" sz="2300" u="none" cap="none" strike="noStrike">
                <a:solidFill>
                  <a:srgbClr val="FFFFFF"/>
                </a:solidFill>
                <a:latin typeface="Cambria"/>
                <a:ea typeface="Cambria"/>
                <a:cs typeface="Cambria"/>
                <a:sym typeface="Cambria"/>
              </a:rPr>
              <a:t>Auditor → Planner → Refactorer → QA — and back again</a:t>
            </a:r>
            <a:endParaRPr b="0" i="0" sz="2300" u="none" cap="none" strike="noStrike">
              <a:solidFill>
                <a:schemeClr val="dk1"/>
              </a:solidFill>
              <a:latin typeface="Calibri"/>
              <a:ea typeface="Calibri"/>
              <a:cs typeface="Calibri"/>
              <a:sym typeface="Calibri"/>
            </a:endParaRPr>
          </a:p>
        </p:txBody>
      </p:sp>
      <p:sp>
        <p:nvSpPr>
          <p:cNvPr id="704" name="Google Shape;704;p20">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705" name="Google Shape;705;p20"/>
          <p:cNvSpPr/>
          <p:nvPr/>
        </p:nvSpPr>
        <p:spPr>
          <a:xfrm>
            <a:off x="502920" y="1408176"/>
            <a:ext cx="1417320" cy="841248"/>
          </a:xfrm>
          <a:prstGeom prst="roundRect">
            <a:avLst>
              <a:gd fmla="val 9783"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20"/>
          <p:cNvSpPr txBox="1"/>
          <p:nvPr/>
        </p:nvSpPr>
        <p:spPr>
          <a:xfrm>
            <a:off x="594360" y="1572768"/>
            <a:ext cx="123444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1400"/>
              <a:buFont typeface="Cambria"/>
              <a:buNone/>
            </a:pPr>
            <a:r>
              <a:rPr b="1" i="0" lang="en-US" sz="1400" u="none" cap="none" strike="noStrike">
                <a:solidFill>
                  <a:srgbClr val="5EE9B5"/>
                </a:solidFill>
                <a:latin typeface="Cambria"/>
                <a:ea typeface="Cambria"/>
                <a:cs typeface="Cambria"/>
                <a:sym typeface="Cambria"/>
              </a:rPr>
              <a:t>Auditor</a:t>
            </a:r>
            <a:endParaRPr b="0" i="0" sz="1400" u="none" cap="none" strike="noStrike">
              <a:solidFill>
                <a:schemeClr val="dk1"/>
              </a:solidFill>
              <a:latin typeface="Calibri"/>
              <a:ea typeface="Calibri"/>
              <a:cs typeface="Calibri"/>
              <a:sym typeface="Calibri"/>
            </a:endParaRPr>
          </a:p>
        </p:txBody>
      </p:sp>
      <p:sp>
        <p:nvSpPr>
          <p:cNvPr id="707" name="Google Shape;707;p20"/>
          <p:cNvSpPr txBox="1"/>
          <p:nvPr/>
        </p:nvSpPr>
        <p:spPr>
          <a:xfrm>
            <a:off x="594360" y="1847088"/>
            <a:ext cx="12344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tools, then LLM</a:t>
            </a:r>
            <a:endParaRPr b="0" i="0" sz="800" u="none" cap="none" strike="noStrike">
              <a:solidFill>
                <a:schemeClr val="dk1"/>
              </a:solidFill>
              <a:latin typeface="Calibri"/>
              <a:ea typeface="Calibri"/>
              <a:cs typeface="Calibri"/>
              <a:sym typeface="Calibri"/>
            </a:endParaRPr>
          </a:p>
        </p:txBody>
      </p:sp>
      <p:cxnSp>
        <p:nvCxnSpPr>
          <p:cNvPr id="708" name="Google Shape;708;p20"/>
          <p:cNvCxnSpPr/>
          <p:nvPr/>
        </p:nvCxnSpPr>
        <p:spPr>
          <a:xfrm>
            <a:off x="1956816" y="1828800"/>
            <a:ext cx="137160" cy="914"/>
          </a:xfrm>
          <a:prstGeom prst="straightConnector1">
            <a:avLst/>
          </a:prstGeom>
          <a:noFill/>
          <a:ln cap="flat" cmpd="sng" w="19050">
            <a:solidFill>
              <a:srgbClr val="A78BFA"/>
            </a:solidFill>
            <a:prstDash val="solid"/>
            <a:round/>
            <a:headEnd len="sm" w="sm" type="none"/>
            <a:tailEnd len="med" w="med" type="triangle"/>
          </a:ln>
        </p:spPr>
      </p:cxnSp>
      <p:sp>
        <p:nvSpPr>
          <p:cNvPr id="709" name="Google Shape;709;p20"/>
          <p:cNvSpPr/>
          <p:nvPr/>
        </p:nvSpPr>
        <p:spPr>
          <a:xfrm>
            <a:off x="2130552" y="1408176"/>
            <a:ext cx="1417320" cy="841248"/>
          </a:xfrm>
          <a:prstGeom prst="roundRect">
            <a:avLst>
              <a:gd fmla="val 9783"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20"/>
          <p:cNvSpPr txBox="1"/>
          <p:nvPr/>
        </p:nvSpPr>
        <p:spPr>
          <a:xfrm>
            <a:off x="2221992" y="1572768"/>
            <a:ext cx="123444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1400"/>
              <a:buFont typeface="Cambria"/>
              <a:buNone/>
            </a:pPr>
            <a:r>
              <a:rPr b="1" i="0" lang="en-US" sz="1400" u="none" cap="none" strike="noStrike">
                <a:solidFill>
                  <a:srgbClr val="E9DFFF"/>
                </a:solidFill>
                <a:latin typeface="Cambria"/>
                <a:ea typeface="Cambria"/>
                <a:cs typeface="Cambria"/>
                <a:sym typeface="Cambria"/>
              </a:rPr>
              <a:t>Planner</a:t>
            </a:r>
            <a:endParaRPr b="0" i="0" sz="1400" u="none" cap="none" strike="noStrike">
              <a:solidFill>
                <a:schemeClr val="dk1"/>
              </a:solidFill>
              <a:latin typeface="Calibri"/>
              <a:ea typeface="Calibri"/>
              <a:cs typeface="Calibri"/>
              <a:sym typeface="Calibri"/>
            </a:endParaRPr>
          </a:p>
        </p:txBody>
      </p:sp>
      <p:sp>
        <p:nvSpPr>
          <p:cNvPr id="711" name="Google Shape;711;p20"/>
          <p:cNvSpPr txBox="1"/>
          <p:nvPr/>
        </p:nvSpPr>
        <p:spPr>
          <a:xfrm>
            <a:off x="2221992" y="1847088"/>
            <a:ext cx="12344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 3 smells</a:t>
            </a:r>
            <a:endParaRPr b="0" i="0" sz="800" u="none" cap="none" strike="noStrike">
              <a:solidFill>
                <a:schemeClr val="dk1"/>
              </a:solidFill>
              <a:latin typeface="Calibri"/>
              <a:ea typeface="Calibri"/>
              <a:cs typeface="Calibri"/>
              <a:sym typeface="Calibri"/>
            </a:endParaRPr>
          </a:p>
        </p:txBody>
      </p:sp>
      <p:cxnSp>
        <p:nvCxnSpPr>
          <p:cNvPr id="712" name="Google Shape;712;p20"/>
          <p:cNvCxnSpPr/>
          <p:nvPr/>
        </p:nvCxnSpPr>
        <p:spPr>
          <a:xfrm>
            <a:off x="3584448" y="1828800"/>
            <a:ext cx="137160" cy="914"/>
          </a:xfrm>
          <a:prstGeom prst="straightConnector1">
            <a:avLst/>
          </a:prstGeom>
          <a:noFill/>
          <a:ln cap="flat" cmpd="sng" w="19050">
            <a:solidFill>
              <a:srgbClr val="A78BFA"/>
            </a:solidFill>
            <a:prstDash val="solid"/>
            <a:round/>
            <a:headEnd len="sm" w="sm" type="none"/>
            <a:tailEnd len="med" w="med" type="triangle"/>
          </a:ln>
        </p:spPr>
      </p:cxnSp>
      <p:sp>
        <p:nvSpPr>
          <p:cNvPr id="713" name="Google Shape;713;p20"/>
          <p:cNvSpPr/>
          <p:nvPr/>
        </p:nvSpPr>
        <p:spPr>
          <a:xfrm>
            <a:off x="3758184" y="1408176"/>
            <a:ext cx="1417320" cy="841248"/>
          </a:xfrm>
          <a:prstGeom prst="roundRect">
            <a:avLst>
              <a:gd fmla="val 9783"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0"/>
          <p:cNvSpPr txBox="1"/>
          <p:nvPr/>
        </p:nvSpPr>
        <p:spPr>
          <a:xfrm>
            <a:off x="3849624" y="1572768"/>
            <a:ext cx="123444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BF24"/>
              </a:buClr>
              <a:buSzPts val="1400"/>
              <a:buFont typeface="Cambria"/>
              <a:buNone/>
            </a:pPr>
            <a:r>
              <a:rPr b="1" i="0" lang="en-US" sz="1400" u="none" cap="none" strike="noStrike">
                <a:solidFill>
                  <a:srgbClr val="FBBF24"/>
                </a:solidFill>
                <a:latin typeface="Cambria"/>
                <a:ea typeface="Cambria"/>
                <a:cs typeface="Cambria"/>
                <a:sym typeface="Cambria"/>
              </a:rPr>
              <a:t>Refactorer</a:t>
            </a:r>
            <a:endParaRPr b="0" i="0" sz="1400" u="none" cap="none" strike="noStrike">
              <a:solidFill>
                <a:schemeClr val="dk1"/>
              </a:solidFill>
              <a:latin typeface="Calibri"/>
              <a:ea typeface="Calibri"/>
              <a:cs typeface="Calibri"/>
              <a:sym typeface="Calibri"/>
            </a:endParaRPr>
          </a:p>
        </p:txBody>
      </p:sp>
      <p:sp>
        <p:nvSpPr>
          <p:cNvPr id="715" name="Google Shape;715;p20"/>
          <p:cNvSpPr txBox="1"/>
          <p:nvPr/>
        </p:nvSpPr>
        <p:spPr>
          <a:xfrm>
            <a:off x="3849624" y="1847088"/>
            <a:ext cx="12344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one code fence</a:t>
            </a:r>
            <a:endParaRPr b="0" i="0" sz="800" u="none" cap="none" strike="noStrike">
              <a:solidFill>
                <a:schemeClr val="dk1"/>
              </a:solidFill>
              <a:latin typeface="Calibri"/>
              <a:ea typeface="Calibri"/>
              <a:cs typeface="Calibri"/>
              <a:sym typeface="Calibri"/>
            </a:endParaRPr>
          </a:p>
        </p:txBody>
      </p:sp>
      <p:sp>
        <p:nvSpPr>
          <p:cNvPr id="716" name="Google Shape;716;p20"/>
          <p:cNvSpPr/>
          <p:nvPr/>
        </p:nvSpPr>
        <p:spPr>
          <a:xfrm>
            <a:off x="5458968" y="1207008"/>
            <a:ext cx="1243584" cy="1243584"/>
          </a:xfrm>
          <a:prstGeom prst="diamond">
            <a:avLst/>
          </a:prstGeom>
          <a:solidFill>
            <a:srgbClr val="1E1230"/>
          </a:solidFill>
          <a:ln cap="flat" cmpd="sng" w="1905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0"/>
          <p:cNvSpPr txBox="1"/>
          <p:nvPr/>
        </p:nvSpPr>
        <p:spPr>
          <a:xfrm>
            <a:off x="5458968" y="1554480"/>
            <a:ext cx="124358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QA</a:t>
            </a:r>
            <a:endParaRPr b="0" i="0" sz="1500" u="none" cap="none" strike="noStrike">
              <a:solidFill>
                <a:schemeClr val="dk1"/>
              </a:solidFill>
              <a:latin typeface="Calibri"/>
              <a:ea typeface="Calibri"/>
              <a:cs typeface="Calibri"/>
              <a:sym typeface="Calibri"/>
            </a:endParaRPr>
          </a:p>
        </p:txBody>
      </p:sp>
      <p:sp>
        <p:nvSpPr>
          <p:cNvPr id="718" name="Google Shape;718;p20"/>
          <p:cNvSpPr txBox="1"/>
          <p:nvPr/>
        </p:nvSpPr>
        <p:spPr>
          <a:xfrm>
            <a:off x="5458968" y="1801368"/>
            <a:ext cx="1243584"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no LLM</a:t>
            </a:r>
            <a:endParaRPr b="0" i="0" sz="800" u="none" cap="none" strike="noStrike">
              <a:solidFill>
                <a:schemeClr val="dk1"/>
              </a:solidFill>
              <a:latin typeface="Calibri"/>
              <a:ea typeface="Calibri"/>
              <a:cs typeface="Calibri"/>
              <a:sym typeface="Calibri"/>
            </a:endParaRPr>
          </a:p>
        </p:txBody>
      </p:sp>
      <p:cxnSp>
        <p:nvCxnSpPr>
          <p:cNvPr id="719" name="Google Shape;719;p20"/>
          <p:cNvCxnSpPr/>
          <p:nvPr/>
        </p:nvCxnSpPr>
        <p:spPr>
          <a:xfrm>
            <a:off x="5212080" y="1828800"/>
            <a:ext cx="237744" cy="914"/>
          </a:xfrm>
          <a:prstGeom prst="straightConnector1">
            <a:avLst/>
          </a:prstGeom>
          <a:noFill/>
          <a:ln cap="flat" cmpd="sng" w="19050">
            <a:solidFill>
              <a:srgbClr val="A78BFA"/>
            </a:solidFill>
            <a:prstDash val="solid"/>
            <a:round/>
            <a:headEnd len="sm" w="sm" type="none"/>
            <a:tailEnd len="med" w="med" type="triangle"/>
          </a:ln>
        </p:spPr>
      </p:cxnSp>
      <p:sp>
        <p:nvSpPr>
          <p:cNvPr id="720" name="Google Shape;720;p20"/>
          <p:cNvSpPr/>
          <p:nvPr/>
        </p:nvSpPr>
        <p:spPr>
          <a:xfrm>
            <a:off x="7068312" y="1408176"/>
            <a:ext cx="1572768" cy="841248"/>
          </a:xfrm>
          <a:prstGeom prst="roundRect">
            <a:avLst>
              <a:gd fmla="val 9783" name="adj"/>
            </a:avLst>
          </a:prstGeom>
          <a:solidFill>
            <a:srgbClr val="3D2A5C"/>
          </a:solidFill>
          <a:ln cap="flat" cmpd="sng" w="12700">
            <a:solidFill>
              <a:srgbClr val="5EE9B5"/>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0"/>
          <p:cNvSpPr txBox="1"/>
          <p:nvPr/>
        </p:nvSpPr>
        <p:spPr>
          <a:xfrm>
            <a:off x="7141464" y="1572768"/>
            <a:ext cx="1426464"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950"/>
              <a:buFont typeface="Courier New"/>
              <a:buNone/>
            </a:pPr>
            <a:r>
              <a:rPr b="1" i="0" lang="en-US" sz="950" u="none" cap="none" strike="noStrike">
                <a:solidFill>
                  <a:srgbClr val="5EE9B5"/>
                </a:solidFill>
                <a:latin typeface="Courier New"/>
                <a:ea typeface="Courier New"/>
                <a:cs typeface="Courier New"/>
                <a:sym typeface="Courier New"/>
              </a:rPr>
              <a:t>accepted = True</a:t>
            </a:r>
            <a:endParaRPr b="0" i="0" sz="950" u="none" cap="none" strike="noStrike">
              <a:solidFill>
                <a:schemeClr val="dk1"/>
              </a:solidFill>
              <a:latin typeface="Calibri"/>
              <a:ea typeface="Calibri"/>
              <a:cs typeface="Calibri"/>
              <a:sym typeface="Calibri"/>
            </a:endParaRPr>
          </a:p>
        </p:txBody>
      </p:sp>
      <p:sp>
        <p:nvSpPr>
          <p:cNvPr id="722" name="Google Shape;722;p20"/>
          <p:cNvSpPr txBox="1"/>
          <p:nvPr/>
        </p:nvSpPr>
        <p:spPr>
          <a:xfrm>
            <a:off x="7141464" y="1847088"/>
            <a:ext cx="142646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all three gates passed</a:t>
            </a:r>
            <a:endParaRPr b="0" i="0" sz="850" u="none" cap="none" strike="noStrike">
              <a:solidFill>
                <a:schemeClr val="dk1"/>
              </a:solidFill>
              <a:latin typeface="Calibri"/>
              <a:ea typeface="Calibri"/>
              <a:cs typeface="Calibri"/>
              <a:sym typeface="Calibri"/>
            </a:endParaRPr>
          </a:p>
        </p:txBody>
      </p:sp>
      <p:cxnSp>
        <p:nvCxnSpPr>
          <p:cNvPr id="723" name="Google Shape;723;p20"/>
          <p:cNvCxnSpPr/>
          <p:nvPr/>
        </p:nvCxnSpPr>
        <p:spPr>
          <a:xfrm>
            <a:off x="6720840" y="1828800"/>
            <a:ext cx="128016" cy="914"/>
          </a:xfrm>
          <a:prstGeom prst="straightConnector1">
            <a:avLst/>
          </a:prstGeom>
          <a:noFill/>
          <a:ln cap="flat" cmpd="sng" w="19050">
            <a:solidFill>
              <a:srgbClr val="5EE9B5"/>
            </a:solidFill>
            <a:prstDash val="solid"/>
            <a:round/>
            <a:headEnd len="sm" w="sm" type="none"/>
            <a:tailEnd len="med" w="med" type="triangle"/>
          </a:ln>
        </p:spPr>
      </p:cxnSp>
      <p:cxnSp>
        <p:nvCxnSpPr>
          <p:cNvPr id="724" name="Google Shape;724;p20"/>
          <p:cNvCxnSpPr/>
          <p:nvPr/>
        </p:nvCxnSpPr>
        <p:spPr>
          <a:xfrm>
            <a:off x="6080760" y="2450592"/>
            <a:ext cx="3658" cy="438912"/>
          </a:xfrm>
          <a:prstGeom prst="straightConnector1">
            <a:avLst/>
          </a:prstGeom>
          <a:noFill/>
          <a:ln cap="flat" cmpd="sng" w="19050">
            <a:solidFill>
              <a:srgbClr val="FB7185"/>
            </a:solidFill>
            <a:prstDash val="solid"/>
            <a:round/>
            <a:headEnd len="sm" w="sm" type="none"/>
            <a:tailEnd len="sm" w="sm" type="none"/>
          </a:ln>
        </p:spPr>
      </p:cxnSp>
      <p:cxnSp>
        <p:nvCxnSpPr>
          <p:cNvPr id="725" name="Google Shape;725;p20"/>
          <p:cNvCxnSpPr/>
          <p:nvPr/>
        </p:nvCxnSpPr>
        <p:spPr>
          <a:xfrm flipH="1">
            <a:off x="4466844" y="2889504"/>
            <a:ext cx="1613916" cy="3658"/>
          </a:xfrm>
          <a:prstGeom prst="straightConnector1">
            <a:avLst/>
          </a:prstGeom>
          <a:noFill/>
          <a:ln cap="flat" cmpd="sng" w="19050">
            <a:solidFill>
              <a:srgbClr val="FB7185"/>
            </a:solidFill>
            <a:prstDash val="solid"/>
            <a:round/>
            <a:headEnd len="sm" w="sm" type="none"/>
            <a:tailEnd len="med" w="med" type="triangle"/>
          </a:ln>
        </p:spPr>
      </p:cxnSp>
      <p:cxnSp>
        <p:nvCxnSpPr>
          <p:cNvPr id="726" name="Google Shape;726;p20"/>
          <p:cNvCxnSpPr/>
          <p:nvPr/>
        </p:nvCxnSpPr>
        <p:spPr>
          <a:xfrm flipH="1" rot="10800000">
            <a:off x="4466844" y="2249424"/>
            <a:ext cx="3658" cy="640080"/>
          </a:xfrm>
          <a:prstGeom prst="straightConnector1">
            <a:avLst/>
          </a:prstGeom>
          <a:noFill/>
          <a:ln cap="flat" cmpd="sng" w="19050">
            <a:solidFill>
              <a:srgbClr val="FB7185"/>
            </a:solidFill>
            <a:prstDash val="solid"/>
            <a:round/>
            <a:headEnd len="sm" w="sm" type="none"/>
            <a:tailEnd len="med" w="med" type="triangle"/>
          </a:ln>
        </p:spPr>
      </p:cxnSp>
      <p:sp>
        <p:nvSpPr>
          <p:cNvPr id="727" name="Google Shape;727;p20"/>
          <p:cNvSpPr/>
          <p:nvPr/>
        </p:nvSpPr>
        <p:spPr>
          <a:xfrm>
            <a:off x="4594860" y="2734056"/>
            <a:ext cx="2606040" cy="292608"/>
          </a:xfrm>
          <a:prstGeom prst="roundRect">
            <a:avLst>
              <a:gd fmla="val 15625" name="adj"/>
            </a:avLst>
          </a:prstGeom>
          <a:solidFill>
            <a:srgbClr val="2A1B3D"/>
          </a:solidFill>
          <a:ln cap="flat" cmpd="sng" w="12700">
            <a:solidFill>
              <a:srgbClr val="2A1B3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0"/>
          <p:cNvSpPr txBox="1"/>
          <p:nvPr/>
        </p:nvSpPr>
        <p:spPr>
          <a:xfrm>
            <a:off x="4594860" y="2734056"/>
            <a:ext cx="260604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syntax fail · tests fail · CC worse</a:t>
            </a:r>
            <a:endParaRPr b="0" i="0" sz="800" u="none" cap="none" strike="noStrike">
              <a:solidFill>
                <a:schemeClr val="dk1"/>
              </a:solidFill>
              <a:latin typeface="Calibri"/>
              <a:ea typeface="Calibri"/>
              <a:cs typeface="Calibri"/>
              <a:sym typeface="Calibri"/>
            </a:endParaRPr>
          </a:p>
        </p:txBody>
      </p:sp>
      <p:sp>
        <p:nvSpPr>
          <p:cNvPr id="729" name="Google Shape;729;p20"/>
          <p:cNvSpPr/>
          <p:nvPr/>
        </p:nvSpPr>
        <p:spPr>
          <a:xfrm>
            <a:off x="502920" y="3346704"/>
            <a:ext cx="2615184" cy="1207008"/>
          </a:xfrm>
          <a:prstGeom prst="roundRect">
            <a:avLst>
              <a:gd fmla="val 681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0"/>
          <p:cNvSpPr txBox="1"/>
          <p:nvPr/>
        </p:nvSpPr>
        <p:spPr>
          <a:xfrm>
            <a:off x="649224" y="3456432"/>
            <a:ext cx="2322576" cy="4206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1150"/>
              <a:buFont typeface="Calibri"/>
              <a:buNone/>
            </a:pPr>
            <a:r>
              <a:rPr b="1" i="0" lang="en-US" sz="1150" u="none" cap="none" strike="noStrike">
                <a:solidFill>
                  <a:srgbClr val="FB7185"/>
                </a:solidFill>
                <a:latin typeface="Calibri"/>
                <a:ea typeface="Calibri"/>
                <a:cs typeface="Calibri"/>
                <a:sym typeface="Calibri"/>
              </a:rPr>
              <a:t>The reason travels with the failure</a:t>
            </a:r>
            <a:endParaRPr b="0" i="0" sz="1150" u="none" cap="none" strike="noStrike">
              <a:solidFill>
                <a:schemeClr val="dk1"/>
              </a:solidFill>
              <a:latin typeface="Calibri"/>
              <a:ea typeface="Calibri"/>
              <a:cs typeface="Calibri"/>
              <a:sym typeface="Calibri"/>
            </a:endParaRPr>
          </a:p>
        </p:txBody>
      </p:sp>
      <p:sp>
        <p:nvSpPr>
          <p:cNvPr id="731" name="Google Shape;731;p20"/>
          <p:cNvSpPr txBox="1"/>
          <p:nvPr/>
        </p:nvSpPr>
        <p:spPr>
          <a:xfrm>
            <a:off x="649224" y="3877056"/>
            <a:ext cx="2322576"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Notes from the failed gate are appended to state.findings as a QA FAILED item, so the next rewrite sees why — not just that.</a:t>
            </a:r>
            <a:endParaRPr b="0" i="0" sz="950" u="none" cap="none" strike="noStrike">
              <a:solidFill>
                <a:schemeClr val="dk1"/>
              </a:solidFill>
              <a:latin typeface="Calibri"/>
              <a:ea typeface="Calibri"/>
              <a:cs typeface="Calibri"/>
              <a:sym typeface="Calibri"/>
            </a:endParaRPr>
          </a:p>
        </p:txBody>
      </p:sp>
      <p:sp>
        <p:nvSpPr>
          <p:cNvPr id="732" name="Google Shape;732;p20"/>
          <p:cNvSpPr/>
          <p:nvPr/>
        </p:nvSpPr>
        <p:spPr>
          <a:xfrm>
            <a:off x="3264408" y="3346704"/>
            <a:ext cx="2615184" cy="1207008"/>
          </a:xfrm>
          <a:prstGeom prst="roundRect">
            <a:avLst>
              <a:gd fmla="val 681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0"/>
          <p:cNvSpPr txBox="1"/>
          <p:nvPr/>
        </p:nvSpPr>
        <p:spPr>
          <a:xfrm>
            <a:off x="3410712" y="3456432"/>
            <a:ext cx="2322576" cy="4206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150"/>
              <a:buFont typeface="Calibri"/>
              <a:buNone/>
            </a:pPr>
            <a:r>
              <a:rPr b="1" i="0" lang="en-US" sz="1150" u="none" cap="none" strike="noStrike">
                <a:solidFill>
                  <a:srgbClr val="FBBF24"/>
                </a:solidFill>
                <a:latin typeface="Calibri"/>
                <a:ea typeface="Calibri"/>
                <a:cs typeface="Calibri"/>
                <a:sym typeface="Calibri"/>
              </a:rPr>
              <a:t>The budget is an integer</a:t>
            </a:r>
            <a:endParaRPr b="0" i="0" sz="1150" u="none" cap="none" strike="noStrike">
              <a:solidFill>
                <a:schemeClr val="dk1"/>
              </a:solidFill>
              <a:latin typeface="Calibri"/>
              <a:ea typeface="Calibri"/>
              <a:cs typeface="Calibri"/>
              <a:sym typeface="Calibri"/>
            </a:endParaRPr>
          </a:p>
        </p:txBody>
      </p:sp>
      <p:sp>
        <p:nvSpPr>
          <p:cNvPr id="734" name="Google Shape;734;p20"/>
          <p:cNvSpPr txBox="1"/>
          <p:nvPr/>
        </p:nvSpPr>
        <p:spPr>
          <a:xfrm>
            <a:off x="3410712" y="3877056"/>
            <a:ext cx="2322576"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max_iterations=2 in class. Out of budget with accepted=False is a result, not a crash: the patch is held.</a:t>
            </a:r>
            <a:endParaRPr b="0" i="0" sz="950" u="none" cap="none" strike="noStrike">
              <a:solidFill>
                <a:schemeClr val="dk1"/>
              </a:solidFill>
              <a:latin typeface="Calibri"/>
              <a:ea typeface="Calibri"/>
              <a:cs typeface="Calibri"/>
              <a:sym typeface="Calibri"/>
            </a:endParaRPr>
          </a:p>
        </p:txBody>
      </p:sp>
      <p:sp>
        <p:nvSpPr>
          <p:cNvPr id="735" name="Google Shape;735;p20"/>
          <p:cNvSpPr/>
          <p:nvPr/>
        </p:nvSpPr>
        <p:spPr>
          <a:xfrm>
            <a:off x="6025896" y="3346704"/>
            <a:ext cx="2615184" cy="1207008"/>
          </a:xfrm>
          <a:prstGeom prst="roundRect">
            <a:avLst>
              <a:gd fmla="val 6818"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0"/>
          <p:cNvSpPr txBox="1"/>
          <p:nvPr/>
        </p:nvSpPr>
        <p:spPr>
          <a:xfrm>
            <a:off x="6172200" y="3456432"/>
            <a:ext cx="2322576" cy="4206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150"/>
              <a:buFont typeface="Calibri"/>
              <a:buNone/>
            </a:pPr>
            <a:r>
              <a:rPr b="1" i="0" lang="en-US" sz="1150" u="none" cap="none" strike="noStrike">
                <a:solidFill>
                  <a:srgbClr val="5EE9B5"/>
                </a:solidFill>
                <a:latin typeface="Calibri"/>
                <a:ea typeface="Calibri"/>
                <a:cs typeface="Calibri"/>
                <a:sym typeface="Calibri"/>
              </a:rPr>
              <a:t>Do NOT add a second LLM critic</a:t>
            </a:r>
            <a:endParaRPr b="0" i="0" sz="1150" u="none" cap="none" strike="noStrike">
              <a:solidFill>
                <a:schemeClr val="dk1"/>
              </a:solidFill>
              <a:latin typeface="Calibri"/>
              <a:ea typeface="Calibri"/>
              <a:cs typeface="Calibri"/>
              <a:sym typeface="Calibri"/>
            </a:endParaRPr>
          </a:p>
        </p:txBody>
      </p:sp>
      <p:sp>
        <p:nvSpPr>
          <p:cNvPr id="737" name="Google Shape;737;p20"/>
          <p:cNvSpPr txBox="1"/>
          <p:nvPr/>
        </p:nvSpPr>
        <p:spPr>
          <a:xfrm>
            <a:off x="6172200" y="3877056"/>
            <a:ext cx="2322576"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A “reviewer agent” before QA doubles cost and lets the thing that hallucinates certify itself. The gates are the review.</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742" name="Shape 742"/>
        <p:cNvGrpSpPr/>
        <p:nvPr/>
      </p:nvGrpSpPr>
      <p:grpSpPr>
        <a:xfrm>
          <a:off x="0" y="0"/>
          <a:ext cx="0" cy="0"/>
          <a:chOff x="0" y="0"/>
          <a:chExt cx="0" cy="0"/>
        </a:xfrm>
      </p:grpSpPr>
      <p:sp>
        <p:nvSpPr>
          <p:cNvPr id="743" name="Google Shape;743;p21"/>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§2.1 · HOW AGENTS TALK</a:t>
            </a:r>
            <a:endParaRPr b="0" i="0" sz="1050" u="none" cap="none" strike="noStrike">
              <a:solidFill>
                <a:schemeClr val="dk1"/>
              </a:solidFill>
              <a:latin typeface="Calibri"/>
              <a:ea typeface="Calibri"/>
              <a:cs typeface="Calibri"/>
              <a:sym typeface="Calibri"/>
            </a:endParaRPr>
          </a:p>
        </p:txBody>
      </p:sp>
      <p:sp>
        <p:nvSpPr>
          <p:cNvPr id="744" name="Google Shape;744;p21"/>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Shared state (blackboard) vs message passing</a:t>
            </a:r>
            <a:endParaRPr b="0" i="0" sz="2700" u="none" cap="none" strike="noStrike">
              <a:solidFill>
                <a:schemeClr val="dk1"/>
              </a:solidFill>
              <a:latin typeface="Calibri"/>
              <a:ea typeface="Calibri"/>
              <a:cs typeface="Calibri"/>
              <a:sym typeface="Calibri"/>
            </a:endParaRPr>
          </a:p>
        </p:txBody>
      </p:sp>
      <p:sp>
        <p:nvSpPr>
          <p:cNvPr id="745" name="Google Shape;745;p21">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746" name="Google Shape;746;p21"/>
          <p:cNvSpPr/>
          <p:nvPr/>
        </p:nvSpPr>
        <p:spPr>
          <a:xfrm>
            <a:off x="502920" y="1133856"/>
            <a:ext cx="3977640" cy="1700784"/>
          </a:xfrm>
          <a:prstGeom prst="roundRect">
            <a:avLst>
              <a:gd fmla="val 4839" name="adj"/>
            </a:avLst>
          </a:prstGeom>
          <a:solidFill>
            <a:srgbClr val="3D2A5C"/>
          </a:solidFill>
          <a:ln cap="flat" cmpd="sng" w="12700">
            <a:solidFill>
              <a:srgbClr val="5EE9B5"/>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1"/>
          <p:cNvSpPr/>
          <p:nvPr/>
        </p:nvSpPr>
        <p:spPr>
          <a:xfrm>
            <a:off x="667512" y="1261872"/>
            <a:ext cx="1188720" cy="237744"/>
          </a:xfrm>
          <a:prstGeom prst="roundRect">
            <a:avLst>
              <a:gd fmla="val 23077" name="adj"/>
            </a:avLst>
          </a:prstGeom>
          <a:solidFill>
            <a:srgbClr val="1E1230"/>
          </a:solidFill>
          <a:ln cap="flat" cmpd="sng" w="9525">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21"/>
          <p:cNvSpPr txBox="1"/>
          <p:nvPr/>
        </p:nvSpPr>
        <p:spPr>
          <a:xfrm>
            <a:off x="667512" y="1261872"/>
            <a:ext cx="118872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850"/>
              <a:buFont typeface="Courier New"/>
              <a:buNone/>
            </a:pPr>
            <a:r>
              <a:rPr b="0" i="0" lang="en-US" sz="850" u="none" cap="none" strike="noStrike">
                <a:solidFill>
                  <a:srgbClr val="5EE9B5"/>
                </a:solidFill>
                <a:latin typeface="Courier New"/>
                <a:ea typeface="Courier New"/>
                <a:cs typeface="Courier New"/>
                <a:sym typeface="Courier New"/>
              </a:rPr>
              <a:t>TODAY  ✓</a:t>
            </a:r>
            <a:endParaRPr b="0" i="0" sz="850" u="none" cap="none" strike="noStrike">
              <a:solidFill>
                <a:schemeClr val="dk1"/>
              </a:solidFill>
              <a:latin typeface="Calibri"/>
              <a:ea typeface="Calibri"/>
              <a:cs typeface="Calibri"/>
              <a:sym typeface="Calibri"/>
            </a:endParaRPr>
          </a:p>
        </p:txBody>
      </p:sp>
      <p:sp>
        <p:nvSpPr>
          <p:cNvPr id="749" name="Google Shape;749;p21"/>
          <p:cNvSpPr txBox="1"/>
          <p:nvPr/>
        </p:nvSpPr>
        <p:spPr>
          <a:xfrm>
            <a:off x="667512" y="1554480"/>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i="0" lang="en-US" sz="1700" u="none" cap="none" strike="noStrike">
                <a:solidFill>
                  <a:srgbClr val="FFFFFF"/>
                </a:solidFill>
                <a:latin typeface="Cambria"/>
                <a:ea typeface="Cambria"/>
                <a:cs typeface="Cambria"/>
                <a:sym typeface="Cambria"/>
              </a:rPr>
              <a:t>Blackboard</a:t>
            </a:r>
            <a:endParaRPr b="0" i="0" sz="1700" u="none" cap="none" strike="noStrike">
              <a:solidFill>
                <a:schemeClr val="dk1"/>
              </a:solidFill>
              <a:latin typeface="Calibri"/>
              <a:ea typeface="Calibri"/>
              <a:cs typeface="Calibri"/>
              <a:sym typeface="Calibri"/>
            </a:endParaRPr>
          </a:p>
        </p:txBody>
      </p:sp>
      <p:sp>
        <p:nvSpPr>
          <p:cNvPr id="750" name="Google Shape;750;p21"/>
          <p:cNvSpPr txBox="1"/>
          <p:nvPr/>
        </p:nvSpPr>
        <p:spPr>
          <a:xfrm>
            <a:off x="667512" y="1920240"/>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100"/>
              <a:buFont typeface="Calibri"/>
              <a:buNone/>
            </a:pPr>
            <a:r>
              <a:rPr b="0" i="0" lang="en-US" sz="1100" u="none" cap="none" strike="noStrike">
                <a:solidFill>
                  <a:srgbClr val="5EE9B5"/>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51" name="Google Shape;751;p21"/>
          <p:cNvSpPr txBox="1"/>
          <p:nvPr/>
        </p:nvSpPr>
        <p:spPr>
          <a:xfrm>
            <a:off x="813816" y="1920240"/>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All agents read and write ONE state object</a:t>
            </a:r>
            <a:endParaRPr b="0" i="0" sz="1000" u="none" cap="none" strike="noStrike">
              <a:solidFill>
                <a:schemeClr val="dk1"/>
              </a:solidFill>
              <a:latin typeface="Calibri"/>
              <a:ea typeface="Calibri"/>
              <a:cs typeface="Calibri"/>
              <a:sym typeface="Calibri"/>
            </a:endParaRPr>
          </a:p>
        </p:txBody>
      </p:sp>
      <p:sp>
        <p:nvSpPr>
          <p:cNvPr id="752" name="Google Shape;752;p21"/>
          <p:cNvSpPr txBox="1"/>
          <p:nvPr/>
        </p:nvSpPr>
        <p:spPr>
          <a:xfrm>
            <a:off x="667512" y="2139696"/>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100"/>
              <a:buFont typeface="Calibri"/>
              <a:buNone/>
            </a:pPr>
            <a:r>
              <a:rPr b="0" i="0" lang="en-US" sz="1100" u="none" cap="none" strike="noStrike">
                <a:solidFill>
                  <a:srgbClr val="5EE9B5"/>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53" name="Google Shape;753;p21"/>
          <p:cNvSpPr txBox="1"/>
          <p:nvPr/>
        </p:nvSpPr>
        <p:spPr>
          <a:xfrm>
            <a:off x="813816" y="2139696"/>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The orchestrator decides who acts next</a:t>
            </a:r>
            <a:endParaRPr b="0" i="0" sz="1000" u="none" cap="none" strike="noStrike">
              <a:solidFill>
                <a:schemeClr val="dk1"/>
              </a:solidFill>
              <a:latin typeface="Calibri"/>
              <a:ea typeface="Calibri"/>
              <a:cs typeface="Calibri"/>
              <a:sym typeface="Calibri"/>
            </a:endParaRPr>
          </a:p>
        </p:txBody>
      </p:sp>
      <p:sp>
        <p:nvSpPr>
          <p:cNvPr id="754" name="Google Shape;754;p21"/>
          <p:cNvSpPr txBox="1"/>
          <p:nvPr/>
        </p:nvSpPr>
        <p:spPr>
          <a:xfrm>
            <a:off x="667512" y="2359152"/>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100"/>
              <a:buFont typeface="Calibri"/>
              <a:buNone/>
            </a:pPr>
            <a:r>
              <a:rPr b="0" i="0" lang="en-US" sz="1100" u="none" cap="none" strike="noStrike">
                <a:solidFill>
                  <a:srgbClr val="5EE9B5"/>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55" name="Google Shape;755;p21"/>
          <p:cNvSpPr txBox="1"/>
          <p:nvPr/>
        </p:nvSpPr>
        <p:spPr>
          <a:xfrm>
            <a:off x="813816" y="2359152"/>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Every write is logged → a replayable audit trail</a:t>
            </a:r>
            <a:endParaRPr b="0" i="0" sz="1000" u="none" cap="none" strike="noStrike">
              <a:solidFill>
                <a:schemeClr val="dk1"/>
              </a:solidFill>
              <a:latin typeface="Calibri"/>
              <a:ea typeface="Calibri"/>
              <a:cs typeface="Calibri"/>
              <a:sym typeface="Calibri"/>
            </a:endParaRPr>
          </a:p>
        </p:txBody>
      </p:sp>
      <p:sp>
        <p:nvSpPr>
          <p:cNvPr id="756" name="Google Shape;756;p21"/>
          <p:cNvSpPr txBox="1"/>
          <p:nvPr/>
        </p:nvSpPr>
        <p:spPr>
          <a:xfrm>
            <a:off x="667512" y="2578608"/>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100"/>
              <a:buFont typeface="Calibri"/>
              <a:buNone/>
            </a:pPr>
            <a:r>
              <a:rPr b="0" i="0" lang="en-US" sz="1100" u="none" cap="none" strike="noStrike">
                <a:solidFill>
                  <a:srgbClr val="5EE9B5"/>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57" name="Google Shape;757;p21"/>
          <p:cNvSpPr txBox="1"/>
          <p:nvPr/>
        </p:nvSpPr>
        <p:spPr>
          <a:xfrm>
            <a:off x="813816" y="2578608"/>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The pattern behind LangGraph-style graphs</a:t>
            </a:r>
            <a:endParaRPr b="0" i="0" sz="1000" u="none" cap="none" strike="noStrike">
              <a:solidFill>
                <a:schemeClr val="dk1"/>
              </a:solidFill>
              <a:latin typeface="Calibri"/>
              <a:ea typeface="Calibri"/>
              <a:cs typeface="Calibri"/>
              <a:sym typeface="Calibri"/>
            </a:endParaRPr>
          </a:p>
        </p:txBody>
      </p:sp>
      <p:sp>
        <p:nvSpPr>
          <p:cNvPr id="758" name="Google Shape;758;p21"/>
          <p:cNvSpPr/>
          <p:nvPr/>
        </p:nvSpPr>
        <p:spPr>
          <a:xfrm>
            <a:off x="4663440" y="1133856"/>
            <a:ext cx="3977640" cy="1700784"/>
          </a:xfrm>
          <a:prstGeom prst="roundRect">
            <a:avLst>
              <a:gd fmla="val 4839"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21"/>
          <p:cNvSpPr/>
          <p:nvPr/>
        </p:nvSpPr>
        <p:spPr>
          <a:xfrm>
            <a:off x="4828032" y="1261872"/>
            <a:ext cx="1417320"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21"/>
          <p:cNvSpPr txBox="1"/>
          <p:nvPr/>
        </p:nvSpPr>
        <p:spPr>
          <a:xfrm>
            <a:off x="4828032" y="1261872"/>
            <a:ext cx="141732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NOT TODAY</a:t>
            </a:r>
            <a:endParaRPr b="0" i="0" sz="850" u="none" cap="none" strike="noStrike">
              <a:solidFill>
                <a:schemeClr val="dk1"/>
              </a:solidFill>
              <a:latin typeface="Calibri"/>
              <a:ea typeface="Calibri"/>
              <a:cs typeface="Calibri"/>
              <a:sym typeface="Calibri"/>
            </a:endParaRPr>
          </a:p>
        </p:txBody>
      </p:sp>
      <p:sp>
        <p:nvSpPr>
          <p:cNvPr id="761" name="Google Shape;761;p21"/>
          <p:cNvSpPr txBox="1"/>
          <p:nvPr/>
        </p:nvSpPr>
        <p:spPr>
          <a:xfrm>
            <a:off x="4828032" y="1554480"/>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i="0" lang="en-US" sz="1700" u="none" cap="none" strike="noStrike">
                <a:solidFill>
                  <a:srgbClr val="FFFFFF"/>
                </a:solidFill>
                <a:latin typeface="Cambria"/>
                <a:ea typeface="Cambria"/>
                <a:cs typeface="Cambria"/>
                <a:sym typeface="Cambria"/>
              </a:rPr>
              <a:t>Message passing</a:t>
            </a:r>
            <a:endParaRPr b="0" i="0" sz="1700" u="none" cap="none" strike="noStrike">
              <a:solidFill>
                <a:schemeClr val="dk1"/>
              </a:solidFill>
              <a:latin typeface="Calibri"/>
              <a:ea typeface="Calibri"/>
              <a:cs typeface="Calibri"/>
              <a:sym typeface="Calibri"/>
            </a:endParaRPr>
          </a:p>
        </p:txBody>
      </p:sp>
      <p:sp>
        <p:nvSpPr>
          <p:cNvPr id="762" name="Google Shape;762;p21"/>
          <p:cNvSpPr txBox="1"/>
          <p:nvPr/>
        </p:nvSpPr>
        <p:spPr>
          <a:xfrm>
            <a:off x="4828032" y="1920240"/>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100"/>
              <a:buFont typeface="Calibri"/>
              <a:buNone/>
            </a:pPr>
            <a:r>
              <a:rPr b="0" i="0" lang="en-US" sz="1100" u="none" cap="none" strike="noStrike">
                <a:solidFill>
                  <a:srgbClr val="BBA9DE"/>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63" name="Google Shape;763;p21"/>
          <p:cNvSpPr txBox="1"/>
          <p:nvPr/>
        </p:nvSpPr>
        <p:spPr>
          <a:xfrm>
            <a:off x="4974336" y="1920240"/>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000"/>
              <a:buFont typeface="Calibri"/>
              <a:buNone/>
            </a:pPr>
            <a:r>
              <a:rPr b="0" i="0" lang="en-US" sz="1000" u="none" cap="none" strike="noStrike">
                <a:solidFill>
                  <a:srgbClr val="BBA9DE"/>
                </a:solidFill>
                <a:latin typeface="Calibri"/>
                <a:ea typeface="Calibri"/>
                <a:cs typeface="Calibri"/>
                <a:sym typeface="Calibri"/>
              </a:rPr>
              <a:t>Agents converse via addressed messages</a:t>
            </a:r>
            <a:endParaRPr b="0" i="0" sz="1000" u="none" cap="none" strike="noStrike">
              <a:solidFill>
                <a:schemeClr val="dk1"/>
              </a:solidFill>
              <a:latin typeface="Calibri"/>
              <a:ea typeface="Calibri"/>
              <a:cs typeface="Calibri"/>
              <a:sym typeface="Calibri"/>
            </a:endParaRPr>
          </a:p>
        </p:txBody>
      </p:sp>
      <p:sp>
        <p:nvSpPr>
          <p:cNvPr id="764" name="Google Shape;764;p21"/>
          <p:cNvSpPr txBox="1"/>
          <p:nvPr/>
        </p:nvSpPr>
        <p:spPr>
          <a:xfrm>
            <a:off x="4828032" y="2139696"/>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100"/>
              <a:buFont typeface="Calibri"/>
              <a:buNone/>
            </a:pPr>
            <a:r>
              <a:rPr b="0" i="0" lang="en-US" sz="1100" u="none" cap="none" strike="noStrike">
                <a:solidFill>
                  <a:srgbClr val="BBA9DE"/>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65" name="Google Shape;765;p21"/>
          <p:cNvSpPr txBox="1"/>
          <p:nvPr/>
        </p:nvSpPr>
        <p:spPr>
          <a:xfrm>
            <a:off x="4974336" y="2139696"/>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000"/>
              <a:buFont typeface="Calibri"/>
              <a:buNone/>
            </a:pPr>
            <a:r>
              <a:rPr b="0" i="0" lang="en-US" sz="1000" u="none" cap="none" strike="noStrike">
                <a:solidFill>
                  <a:srgbClr val="BBA9DE"/>
                </a:solidFill>
                <a:latin typeface="Calibri"/>
                <a:ea typeface="Calibri"/>
                <a:cs typeface="Calibri"/>
                <a:sym typeface="Calibri"/>
              </a:rPr>
              <a:t>Flexible, emergent coordination</a:t>
            </a:r>
            <a:endParaRPr b="0" i="0" sz="1000" u="none" cap="none" strike="noStrike">
              <a:solidFill>
                <a:schemeClr val="dk1"/>
              </a:solidFill>
              <a:latin typeface="Calibri"/>
              <a:ea typeface="Calibri"/>
              <a:cs typeface="Calibri"/>
              <a:sym typeface="Calibri"/>
            </a:endParaRPr>
          </a:p>
        </p:txBody>
      </p:sp>
      <p:sp>
        <p:nvSpPr>
          <p:cNvPr id="766" name="Google Shape;766;p21"/>
          <p:cNvSpPr txBox="1"/>
          <p:nvPr/>
        </p:nvSpPr>
        <p:spPr>
          <a:xfrm>
            <a:off x="4828032" y="2359152"/>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100"/>
              <a:buFont typeface="Calibri"/>
              <a:buNone/>
            </a:pPr>
            <a:r>
              <a:rPr b="0" i="0" lang="en-US" sz="1100" u="none" cap="none" strike="noStrike">
                <a:solidFill>
                  <a:srgbClr val="BBA9DE"/>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67" name="Google Shape;767;p21"/>
          <p:cNvSpPr txBox="1"/>
          <p:nvPr/>
        </p:nvSpPr>
        <p:spPr>
          <a:xfrm>
            <a:off x="4974336" y="2359152"/>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000"/>
              <a:buFont typeface="Calibri"/>
              <a:buNone/>
            </a:pPr>
            <a:r>
              <a:rPr b="0" i="0" lang="en-US" sz="1000" u="none" cap="none" strike="noStrike">
                <a:solidFill>
                  <a:srgbClr val="BBA9DE"/>
                </a:solidFill>
                <a:latin typeface="Calibri"/>
                <a:ea typeface="Calibri"/>
                <a:cs typeface="Calibri"/>
                <a:sym typeface="Calibri"/>
              </a:rPr>
              <a:t>Harder to bound, debug and replay</a:t>
            </a:r>
            <a:endParaRPr b="0" i="0" sz="1000" u="none" cap="none" strike="noStrike">
              <a:solidFill>
                <a:schemeClr val="dk1"/>
              </a:solidFill>
              <a:latin typeface="Calibri"/>
              <a:ea typeface="Calibri"/>
              <a:cs typeface="Calibri"/>
              <a:sym typeface="Calibri"/>
            </a:endParaRPr>
          </a:p>
        </p:txBody>
      </p:sp>
      <p:sp>
        <p:nvSpPr>
          <p:cNvPr id="768" name="Google Shape;768;p21"/>
          <p:cNvSpPr txBox="1"/>
          <p:nvPr/>
        </p:nvSpPr>
        <p:spPr>
          <a:xfrm>
            <a:off x="4828032" y="2578608"/>
            <a:ext cx="109728"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100"/>
              <a:buFont typeface="Calibri"/>
              <a:buNone/>
            </a:pPr>
            <a:r>
              <a:rPr b="0" i="0" lang="en-US" sz="1100" u="none" cap="none" strike="noStrike">
                <a:solidFill>
                  <a:srgbClr val="BBA9DE"/>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769" name="Google Shape;769;p21"/>
          <p:cNvSpPr txBox="1"/>
          <p:nvPr/>
        </p:nvSpPr>
        <p:spPr>
          <a:xfrm>
            <a:off x="4974336" y="2578608"/>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000"/>
              <a:buFont typeface="Calibri"/>
              <a:buNone/>
            </a:pPr>
            <a:r>
              <a:rPr b="0" i="0" lang="en-US" sz="1000" u="none" cap="none" strike="noStrike">
                <a:solidFill>
                  <a:srgbClr val="BBA9DE"/>
                </a:solidFill>
                <a:latin typeface="Calibri"/>
                <a:ea typeface="Calibri"/>
                <a:cs typeface="Calibri"/>
                <a:sym typeface="Calibri"/>
              </a:rPr>
              <a:t>The pattern behind AutoGen-style chats</a:t>
            </a:r>
            <a:endParaRPr b="0" i="0" sz="1000" u="none" cap="none" strike="noStrike">
              <a:solidFill>
                <a:schemeClr val="dk1"/>
              </a:solidFill>
              <a:latin typeface="Calibri"/>
              <a:ea typeface="Calibri"/>
              <a:cs typeface="Calibri"/>
              <a:sym typeface="Calibri"/>
            </a:endParaRPr>
          </a:p>
        </p:txBody>
      </p:sp>
      <p:sp>
        <p:nvSpPr>
          <p:cNvPr id="770" name="Google Shape;770;p21"/>
          <p:cNvSpPr/>
          <p:nvPr/>
        </p:nvSpPr>
        <p:spPr>
          <a:xfrm>
            <a:off x="502920" y="2926080"/>
            <a:ext cx="3977640" cy="1444752"/>
          </a:xfrm>
          <a:prstGeom prst="roundRect">
            <a:avLst>
              <a:gd fmla="val 4430"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21"/>
          <p:cNvSpPr txBox="1"/>
          <p:nvPr/>
        </p:nvSpPr>
        <p:spPr>
          <a:xfrm>
            <a:off x="630936" y="3026664"/>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@dataclass</a:t>
            </a:r>
            <a:endParaRPr b="0" i="0" sz="750" u="none" cap="none" strike="noStrike">
              <a:solidFill>
                <a:schemeClr val="dk1"/>
              </a:solidFill>
              <a:latin typeface="Calibri"/>
              <a:ea typeface="Calibri"/>
              <a:cs typeface="Calibri"/>
              <a:sym typeface="Calibri"/>
            </a:endParaRPr>
          </a:p>
        </p:txBody>
      </p:sp>
      <p:sp>
        <p:nvSpPr>
          <p:cNvPr id="772" name="Google Shape;772;p21"/>
          <p:cNvSpPr txBox="1"/>
          <p:nvPr/>
        </p:nvSpPr>
        <p:spPr>
          <a:xfrm>
            <a:off x="630936" y="3159252"/>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class WorkflowState:</a:t>
            </a:r>
            <a:endParaRPr b="0" i="0" sz="750" u="none" cap="none" strike="noStrike">
              <a:solidFill>
                <a:schemeClr val="dk1"/>
              </a:solidFill>
              <a:latin typeface="Calibri"/>
              <a:ea typeface="Calibri"/>
              <a:cs typeface="Calibri"/>
              <a:sym typeface="Calibri"/>
            </a:endParaRPr>
          </a:p>
        </p:txBody>
      </p:sp>
      <p:sp>
        <p:nvSpPr>
          <p:cNvPr id="773" name="Google Shape;773;p21"/>
          <p:cNvSpPr txBox="1"/>
          <p:nvPr/>
        </p:nvSpPr>
        <p:spPr>
          <a:xfrm>
            <a:off x="630936" y="3291840"/>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    source_path: str</a:t>
            </a:r>
            <a:endParaRPr b="0" i="0" sz="750" u="none" cap="none" strike="noStrike">
              <a:solidFill>
                <a:schemeClr val="dk1"/>
              </a:solidFill>
              <a:latin typeface="Calibri"/>
              <a:ea typeface="Calibri"/>
              <a:cs typeface="Calibri"/>
              <a:sym typeface="Calibri"/>
            </a:endParaRPr>
          </a:p>
        </p:txBody>
      </p:sp>
      <p:sp>
        <p:nvSpPr>
          <p:cNvPr id="774" name="Google Shape;774;p21"/>
          <p:cNvSpPr txBox="1"/>
          <p:nvPr/>
        </p:nvSpPr>
        <p:spPr>
          <a:xfrm>
            <a:off x="630936" y="3424428"/>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    test_file: str = ""</a:t>
            </a:r>
            <a:endParaRPr b="0" i="0" sz="750" u="none" cap="none" strike="noStrike">
              <a:solidFill>
                <a:schemeClr val="dk1"/>
              </a:solidFill>
              <a:latin typeface="Calibri"/>
              <a:ea typeface="Calibri"/>
              <a:cs typeface="Calibri"/>
              <a:sym typeface="Calibri"/>
            </a:endParaRPr>
          </a:p>
        </p:txBody>
      </p:sp>
      <p:sp>
        <p:nvSpPr>
          <p:cNvPr id="775" name="Google Shape;775;p21"/>
          <p:cNvSpPr txBox="1"/>
          <p:nvPr/>
        </p:nvSpPr>
        <p:spPr>
          <a:xfrm>
            <a:off x="630936" y="3557016"/>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    original_code / candidate_code: str</a:t>
            </a:r>
            <a:endParaRPr b="0" i="0" sz="750" u="none" cap="none" strike="noStrike">
              <a:solidFill>
                <a:schemeClr val="dk1"/>
              </a:solidFill>
              <a:latin typeface="Calibri"/>
              <a:ea typeface="Calibri"/>
              <a:cs typeface="Calibri"/>
              <a:sym typeface="Calibri"/>
            </a:endParaRPr>
          </a:p>
        </p:txBody>
      </p:sp>
      <p:sp>
        <p:nvSpPr>
          <p:cNvPr id="776" name="Google Shape;776;p21"/>
          <p:cNvSpPr txBox="1"/>
          <p:nvPr/>
        </p:nvSpPr>
        <p:spPr>
          <a:xfrm>
            <a:off x="630936" y="3689604"/>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    findings: list          # the backlog</a:t>
            </a:r>
            <a:endParaRPr b="0" i="0" sz="750" u="none" cap="none" strike="noStrike">
              <a:solidFill>
                <a:schemeClr val="dk1"/>
              </a:solidFill>
              <a:latin typeface="Calibri"/>
              <a:ea typeface="Calibri"/>
              <a:cs typeface="Calibri"/>
              <a:sym typeface="Calibri"/>
            </a:endParaRPr>
          </a:p>
        </p:txBody>
      </p:sp>
      <p:sp>
        <p:nvSpPr>
          <p:cNvPr id="777" name="Google Shape;777;p21"/>
          <p:cNvSpPr txBox="1"/>
          <p:nvPr/>
        </p:nvSpPr>
        <p:spPr>
          <a:xfrm>
            <a:off x="630936" y="3822192"/>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    verdict: dict           # gate results</a:t>
            </a:r>
            <a:endParaRPr b="0" i="0" sz="750" u="none" cap="none" strike="noStrike">
              <a:solidFill>
                <a:schemeClr val="dk1"/>
              </a:solidFill>
              <a:latin typeface="Calibri"/>
              <a:ea typeface="Calibri"/>
              <a:cs typeface="Calibri"/>
              <a:sym typeface="Calibri"/>
            </a:endParaRPr>
          </a:p>
        </p:txBody>
      </p:sp>
      <p:sp>
        <p:nvSpPr>
          <p:cNvPr id="778" name="Google Shape;778;p21"/>
          <p:cNvSpPr txBox="1"/>
          <p:nvPr/>
        </p:nvSpPr>
        <p:spPr>
          <a:xfrm>
            <a:off x="630936" y="3954780"/>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    accepted: bool = False</a:t>
            </a:r>
            <a:endParaRPr b="0" i="0" sz="750" u="none" cap="none" strike="noStrike">
              <a:solidFill>
                <a:schemeClr val="dk1"/>
              </a:solidFill>
              <a:latin typeface="Calibri"/>
              <a:ea typeface="Calibri"/>
              <a:cs typeface="Calibri"/>
              <a:sym typeface="Calibri"/>
            </a:endParaRPr>
          </a:p>
        </p:txBody>
      </p:sp>
      <p:sp>
        <p:nvSpPr>
          <p:cNvPr id="779" name="Google Shape;779;p21"/>
          <p:cNvSpPr txBox="1"/>
          <p:nvPr/>
        </p:nvSpPr>
        <p:spPr>
          <a:xfrm>
            <a:off x="630936" y="4087368"/>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    iteration: int = 0</a:t>
            </a:r>
            <a:endParaRPr b="0" i="0" sz="750" u="none" cap="none" strike="noStrike">
              <a:solidFill>
                <a:schemeClr val="dk1"/>
              </a:solidFill>
              <a:latin typeface="Calibri"/>
              <a:ea typeface="Calibri"/>
              <a:cs typeface="Calibri"/>
              <a:sym typeface="Calibri"/>
            </a:endParaRPr>
          </a:p>
        </p:txBody>
      </p:sp>
      <p:sp>
        <p:nvSpPr>
          <p:cNvPr id="780" name="Google Shape;780;p21"/>
          <p:cNvSpPr txBox="1"/>
          <p:nvPr/>
        </p:nvSpPr>
        <p:spPr>
          <a:xfrm>
            <a:off x="630936" y="4219956"/>
            <a:ext cx="3721608" cy="1325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    history: list           # the timeline</a:t>
            </a:r>
            <a:endParaRPr b="0" i="0" sz="750" u="none" cap="none" strike="noStrike">
              <a:solidFill>
                <a:schemeClr val="dk1"/>
              </a:solidFill>
              <a:latin typeface="Calibri"/>
              <a:ea typeface="Calibri"/>
              <a:cs typeface="Calibri"/>
              <a:sym typeface="Calibri"/>
            </a:endParaRPr>
          </a:p>
        </p:txBody>
      </p:sp>
      <p:sp>
        <p:nvSpPr>
          <p:cNvPr id="781" name="Google Shape;781;p21"/>
          <p:cNvSpPr/>
          <p:nvPr/>
        </p:nvSpPr>
        <p:spPr>
          <a:xfrm>
            <a:off x="4663440" y="2926080"/>
            <a:ext cx="3977640" cy="1444752"/>
          </a:xfrm>
          <a:prstGeom prst="roundRect">
            <a:avLst>
              <a:gd fmla="val 5696"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21"/>
          <p:cNvSpPr txBox="1"/>
          <p:nvPr/>
        </p:nvSpPr>
        <p:spPr>
          <a:xfrm>
            <a:off x="4828032" y="3017520"/>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record() PRINTS THE TIMELINE — THAT LOG *IS* THE DEMO</a:t>
            </a:r>
            <a:endParaRPr b="0" i="0" sz="750" u="none" cap="none" strike="noStrike">
              <a:solidFill>
                <a:schemeClr val="dk1"/>
              </a:solidFill>
              <a:latin typeface="Calibri"/>
              <a:ea typeface="Calibri"/>
              <a:cs typeface="Calibri"/>
              <a:sym typeface="Calibri"/>
            </a:endParaRPr>
          </a:p>
        </p:txBody>
      </p:sp>
      <p:sp>
        <p:nvSpPr>
          <p:cNvPr id="783" name="Google Shape;783;p21"/>
          <p:cNvSpPr txBox="1"/>
          <p:nvPr/>
        </p:nvSpPr>
        <p:spPr>
          <a:xfrm>
            <a:off x="4828032" y="3236976"/>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orch</a:t>
            </a:r>
            <a:endParaRPr b="0" i="0" sz="750" u="none" cap="none" strike="noStrike">
              <a:solidFill>
                <a:schemeClr val="dk1"/>
              </a:solidFill>
              <a:latin typeface="Calibri"/>
              <a:ea typeface="Calibri"/>
              <a:cs typeface="Calibri"/>
              <a:sym typeface="Calibri"/>
            </a:endParaRPr>
          </a:p>
        </p:txBody>
      </p:sp>
      <p:sp>
        <p:nvSpPr>
          <p:cNvPr id="784" name="Google Shape;784;p21"/>
          <p:cNvSpPr txBox="1"/>
          <p:nvPr/>
        </p:nvSpPr>
        <p:spPr>
          <a:xfrm>
            <a:off x="5733288" y="3236976"/>
            <a:ext cx="11887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audit</a:t>
            </a:r>
            <a:endParaRPr b="0" i="0" sz="750" u="none" cap="none" strike="noStrike">
              <a:solidFill>
                <a:schemeClr val="dk1"/>
              </a:solidFill>
              <a:latin typeface="Calibri"/>
              <a:ea typeface="Calibri"/>
              <a:cs typeface="Calibri"/>
              <a:sym typeface="Calibri"/>
            </a:endParaRPr>
          </a:p>
        </p:txBody>
      </p:sp>
      <p:sp>
        <p:nvSpPr>
          <p:cNvPr id="785" name="Google Shape;785;p21"/>
          <p:cNvSpPr txBox="1"/>
          <p:nvPr/>
        </p:nvSpPr>
        <p:spPr>
          <a:xfrm>
            <a:off x="6958584" y="3236976"/>
            <a:ext cx="15544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p:txBody>
      </p:sp>
      <p:sp>
        <p:nvSpPr>
          <p:cNvPr id="786" name="Google Shape;786;p21"/>
          <p:cNvSpPr txBox="1"/>
          <p:nvPr/>
        </p:nvSpPr>
        <p:spPr>
          <a:xfrm>
            <a:off x="4828032" y="3419856"/>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planner</a:t>
            </a:r>
            <a:endParaRPr b="0" i="0" sz="750" u="none" cap="none" strike="noStrike">
              <a:solidFill>
                <a:schemeClr val="dk1"/>
              </a:solidFill>
              <a:latin typeface="Calibri"/>
              <a:ea typeface="Calibri"/>
              <a:cs typeface="Calibri"/>
              <a:sym typeface="Calibri"/>
            </a:endParaRPr>
          </a:p>
        </p:txBody>
      </p:sp>
      <p:sp>
        <p:nvSpPr>
          <p:cNvPr id="787" name="Google Shape;787;p21"/>
          <p:cNvSpPr txBox="1"/>
          <p:nvPr/>
        </p:nvSpPr>
        <p:spPr>
          <a:xfrm>
            <a:off x="5733288" y="3419856"/>
            <a:ext cx="11887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focus</a:t>
            </a:r>
            <a:endParaRPr b="0" i="0" sz="750" u="none" cap="none" strike="noStrike">
              <a:solidFill>
                <a:schemeClr val="dk1"/>
              </a:solidFill>
              <a:latin typeface="Calibri"/>
              <a:ea typeface="Calibri"/>
              <a:cs typeface="Calibri"/>
              <a:sym typeface="Calibri"/>
            </a:endParaRPr>
          </a:p>
        </p:txBody>
      </p:sp>
      <p:sp>
        <p:nvSpPr>
          <p:cNvPr id="788" name="Google Shape;788;p21"/>
          <p:cNvSpPr txBox="1"/>
          <p:nvPr/>
        </p:nvSpPr>
        <p:spPr>
          <a:xfrm>
            <a:off x="6958584" y="3419856"/>
            <a:ext cx="15544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Long Method, broad except</a:t>
            </a:r>
            <a:endParaRPr b="0" i="0" sz="750" u="none" cap="none" strike="noStrike">
              <a:solidFill>
                <a:schemeClr val="dk1"/>
              </a:solidFill>
              <a:latin typeface="Calibri"/>
              <a:ea typeface="Calibri"/>
              <a:cs typeface="Calibri"/>
              <a:sym typeface="Calibri"/>
            </a:endParaRPr>
          </a:p>
        </p:txBody>
      </p:sp>
      <p:sp>
        <p:nvSpPr>
          <p:cNvPr id="789" name="Google Shape;789;p21"/>
          <p:cNvSpPr txBox="1"/>
          <p:nvPr/>
        </p:nvSpPr>
        <p:spPr>
          <a:xfrm>
            <a:off x="4828032" y="3602736"/>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refactorer</a:t>
            </a:r>
            <a:endParaRPr b="0" i="0" sz="750" u="none" cap="none" strike="noStrike">
              <a:solidFill>
                <a:schemeClr val="dk1"/>
              </a:solidFill>
              <a:latin typeface="Calibri"/>
              <a:ea typeface="Calibri"/>
              <a:cs typeface="Calibri"/>
              <a:sym typeface="Calibri"/>
            </a:endParaRPr>
          </a:p>
        </p:txBody>
      </p:sp>
      <p:sp>
        <p:nvSpPr>
          <p:cNvPr id="790" name="Google Shape;790;p21"/>
          <p:cNvSpPr txBox="1"/>
          <p:nvPr/>
        </p:nvSpPr>
        <p:spPr>
          <a:xfrm>
            <a:off x="5733288" y="3602736"/>
            <a:ext cx="11887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candidate</a:t>
            </a:r>
            <a:endParaRPr b="0" i="0" sz="750" u="none" cap="none" strike="noStrike">
              <a:solidFill>
                <a:schemeClr val="dk1"/>
              </a:solidFill>
              <a:latin typeface="Calibri"/>
              <a:ea typeface="Calibri"/>
              <a:cs typeface="Calibri"/>
              <a:sym typeface="Calibri"/>
            </a:endParaRPr>
          </a:p>
        </p:txBody>
      </p:sp>
      <p:sp>
        <p:nvSpPr>
          <p:cNvPr id="791" name="Google Shape;791;p21"/>
          <p:cNvSpPr txBox="1"/>
          <p:nvPr/>
        </p:nvSpPr>
        <p:spPr>
          <a:xfrm>
            <a:off x="6958584" y="3602736"/>
            <a:ext cx="15544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3184 chars</a:t>
            </a:r>
            <a:endParaRPr b="0" i="0" sz="750" u="none" cap="none" strike="noStrike">
              <a:solidFill>
                <a:schemeClr val="dk1"/>
              </a:solidFill>
              <a:latin typeface="Calibri"/>
              <a:ea typeface="Calibri"/>
              <a:cs typeface="Calibri"/>
              <a:sym typeface="Calibri"/>
            </a:endParaRPr>
          </a:p>
        </p:txBody>
      </p:sp>
      <p:sp>
        <p:nvSpPr>
          <p:cNvPr id="792" name="Google Shape;792;p21"/>
          <p:cNvSpPr txBox="1"/>
          <p:nvPr/>
        </p:nvSpPr>
        <p:spPr>
          <a:xfrm>
            <a:off x="4828032" y="3785616"/>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qa</a:t>
            </a:r>
            <a:endParaRPr b="0" i="0" sz="750" u="none" cap="none" strike="noStrike">
              <a:solidFill>
                <a:schemeClr val="dk1"/>
              </a:solidFill>
              <a:latin typeface="Calibri"/>
              <a:ea typeface="Calibri"/>
              <a:cs typeface="Calibri"/>
              <a:sym typeface="Calibri"/>
            </a:endParaRPr>
          </a:p>
        </p:txBody>
      </p:sp>
      <p:sp>
        <p:nvSpPr>
          <p:cNvPr id="793" name="Google Shape;793;p21"/>
          <p:cNvSpPr txBox="1"/>
          <p:nvPr/>
        </p:nvSpPr>
        <p:spPr>
          <a:xfrm>
            <a:off x="5733288" y="3785616"/>
            <a:ext cx="11887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50"/>
              <a:buFont typeface="Courier New"/>
              <a:buNone/>
            </a:pPr>
            <a:r>
              <a:rPr b="0" i="0" lang="en-US" sz="750" u="none" cap="none" strike="noStrike">
                <a:solidFill>
                  <a:srgbClr val="FB7185"/>
                </a:solidFill>
                <a:latin typeface="Courier New"/>
                <a:ea typeface="Courier New"/>
                <a:cs typeface="Courier New"/>
                <a:sym typeface="Courier New"/>
              </a:rPr>
              <a:t>reject gate 2</a:t>
            </a:r>
            <a:endParaRPr b="0" i="0" sz="750" u="none" cap="none" strike="noStrike">
              <a:solidFill>
                <a:schemeClr val="dk1"/>
              </a:solidFill>
              <a:latin typeface="Calibri"/>
              <a:ea typeface="Calibri"/>
              <a:cs typeface="Calibri"/>
              <a:sym typeface="Calibri"/>
            </a:endParaRPr>
          </a:p>
        </p:txBody>
      </p:sp>
      <p:sp>
        <p:nvSpPr>
          <p:cNvPr id="794" name="Google Shape;794;p21"/>
          <p:cNvSpPr txBox="1"/>
          <p:nvPr/>
        </p:nvSpPr>
        <p:spPr>
          <a:xfrm>
            <a:off x="6958584" y="3785616"/>
            <a:ext cx="15544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tests failed</a:t>
            </a:r>
            <a:endParaRPr b="0" i="0" sz="750" u="none" cap="none" strike="noStrike">
              <a:solidFill>
                <a:schemeClr val="dk1"/>
              </a:solidFill>
              <a:latin typeface="Calibri"/>
              <a:ea typeface="Calibri"/>
              <a:cs typeface="Calibri"/>
              <a:sym typeface="Calibri"/>
            </a:endParaRPr>
          </a:p>
        </p:txBody>
      </p:sp>
      <p:sp>
        <p:nvSpPr>
          <p:cNvPr id="795" name="Google Shape;795;p21"/>
          <p:cNvSpPr txBox="1"/>
          <p:nvPr/>
        </p:nvSpPr>
        <p:spPr>
          <a:xfrm>
            <a:off x="4828032" y="3968496"/>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orch</a:t>
            </a:r>
            <a:endParaRPr b="0" i="0" sz="750" u="none" cap="none" strike="noStrike">
              <a:solidFill>
                <a:schemeClr val="dk1"/>
              </a:solidFill>
              <a:latin typeface="Calibri"/>
              <a:ea typeface="Calibri"/>
              <a:cs typeface="Calibri"/>
              <a:sym typeface="Calibri"/>
            </a:endParaRPr>
          </a:p>
        </p:txBody>
      </p:sp>
      <p:sp>
        <p:nvSpPr>
          <p:cNvPr id="796" name="Google Shape;796;p21"/>
          <p:cNvSpPr txBox="1"/>
          <p:nvPr/>
        </p:nvSpPr>
        <p:spPr>
          <a:xfrm>
            <a:off x="5733288" y="3968496"/>
            <a:ext cx="11887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iteration</a:t>
            </a:r>
            <a:endParaRPr b="0" i="0" sz="750" u="none" cap="none" strike="noStrike">
              <a:solidFill>
                <a:schemeClr val="dk1"/>
              </a:solidFill>
              <a:latin typeface="Calibri"/>
              <a:ea typeface="Calibri"/>
              <a:cs typeface="Calibri"/>
              <a:sym typeface="Calibri"/>
            </a:endParaRPr>
          </a:p>
        </p:txBody>
      </p:sp>
      <p:sp>
        <p:nvSpPr>
          <p:cNvPr id="797" name="Google Shape;797;p21"/>
          <p:cNvSpPr txBox="1"/>
          <p:nvPr/>
        </p:nvSpPr>
        <p:spPr>
          <a:xfrm>
            <a:off x="6958584" y="3968496"/>
            <a:ext cx="15544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2</a:t>
            </a:r>
            <a:endParaRPr b="0" i="0" sz="750" u="none" cap="none" strike="noStrike">
              <a:solidFill>
                <a:schemeClr val="dk1"/>
              </a:solidFill>
              <a:latin typeface="Calibri"/>
              <a:ea typeface="Calibri"/>
              <a:cs typeface="Calibri"/>
              <a:sym typeface="Calibri"/>
            </a:endParaRPr>
          </a:p>
        </p:txBody>
      </p:sp>
      <p:sp>
        <p:nvSpPr>
          <p:cNvPr id="798" name="Google Shape;798;p21"/>
          <p:cNvSpPr txBox="1"/>
          <p:nvPr/>
        </p:nvSpPr>
        <p:spPr>
          <a:xfrm>
            <a:off x="4828032" y="4151376"/>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orch</a:t>
            </a:r>
            <a:endParaRPr b="0" i="0" sz="750" u="none" cap="none" strike="noStrike">
              <a:solidFill>
                <a:schemeClr val="dk1"/>
              </a:solidFill>
              <a:latin typeface="Calibri"/>
              <a:ea typeface="Calibri"/>
              <a:cs typeface="Calibri"/>
              <a:sym typeface="Calibri"/>
            </a:endParaRPr>
          </a:p>
        </p:txBody>
      </p:sp>
      <p:sp>
        <p:nvSpPr>
          <p:cNvPr id="799" name="Google Shape;799;p21"/>
          <p:cNvSpPr txBox="1"/>
          <p:nvPr/>
        </p:nvSpPr>
        <p:spPr>
          <a:xfrm>
            <a:off x="5733288" y="4151376"/>
            <a:ext cx="11887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done</a:t>
            </a:r>
            <a:endParaRPr b="0" i="0" sz="750" u="none" cap="none" strike="noStrike">
              <a:solidFill>
                <a:schemeClr val="dk1"/>
              </a:solidFill>
              <a:latin typeface="Calibri"/>
              <a:ea typeface="Calibri"/>
              <a:cs typeface="Calibri"/>
              <a:sym typeface="Calibri"/>
            </a:endParaRPr>
          </a:p>
        </p:txBody>
      </p:sp>
      <p:sp>
        <p:nvSpPr>
          <p:cNvPr id="800" name="Google Shape;800;p21"/>
          <p:cNvSpPr txBox="1"/>
          <p:nvPr/>
        </p:nvSpPr>
        <p:spPr>
          <a:xfrm>
            <a:off x="6958584" y="4151376"/>
            <a:ext cx="15544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50"/>
              <a:buFont typeface="Courier New"/>
              <a:buNone/>
            </a:pPr>
            <a:r>
              <a:rPr b="0" i="0" lang="en-US" sz="750" u="none" cap="none" strike="noStrike">
                <a:solidFill>
                  <a:srgbClr val="BBA9DE"/>
                </a:solidFill>
                <a:latin typeface="Courier New"/>
                <a:ea typeface="Courier New"/>
                <a:cs typeface="Courier New"/>
                <a:sym typeface="Courier New"/>
              </a:rPr>
              <a:t>ACCEPTED</a:t>
            </a:r>
            <a:endParaRPr b="0" i="0" sz="750" u="none" cap="none" strike="noStrike">
              <a:solidFill>
                <a:schemeClr val="dk1"/>
              </a:solidFill>
              <a:latin typeface="Calibri"/>
              <a:ea typeface="Calibri"/>
              <a:cs typeface="Calibri"/>
              <a:sym typeface="Calibri"/>
            </a:endParaRPr>
          </a:p>
        </p:txBody>
      </p:sp>
      <p:sp>
        <p:nvSpPr>
          <p:cNvPr id="801" name="Google Shape;801;p21"/>
          <p:cNvSpPr/>
          <p:nvPr/>
        </p:nvSpPr>
        <p:spPr>
          <a:xfrm>
            <a:off x="502920" y="4443984"/>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21"/>
          <p:cNvSpPr txBox="1"/>
          <p:nvPr/>
        </p:nvSpPr>
        <p:spPr>
          <a:xfrm>
            <a:off x="649224" y="4443984"/>
            <a:ext cx="7845552"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100"/>
              <a:buFont typeface="Calibri"/>
              <a:buNone/>
            </a:pPr>
            <a:r>
              <a:rPr b="0" i="1" lang="en-US" sz="1100" u="none" cap="none" strike="noStrike">
                <a:solidFill>
                  <a:srgbClr val="E9DFFF"/>
                </a:solidFill>
                <a:latin typeface="Calibri"/>
                <a:ea typeface="Calibri"/>
                <a:cs typeface="Calibri"/>
                <a:sym typeface="Calibri"/>
              </a:rPr>
              <a:t>When an agent misbehaves, the state history is your debugger. Log everything — and read the log before you touch the prompt.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807" name="Shape 807"/>
        <p:cNvGrpSpPr/>
        <p:nvPr/>
      </p:nvGrpSpPr>
      <p:grpSpPr>
        <a:xfrm>
          <a:off x="0" y="0"/>
          <a:ext cx="0" cy="0"/>
          <a:chOff x="0" y="0"/>
          <a:chExt cx="0" cy="0"/>
        </a:xfrm>
      </p:grpSpPr>
      <p:sp>
        <p:nvSpPr>
          <p:cNvPr id="808" name="Google Shape;808;p22"/>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§2.2 – §2.5 · FIVE ROLES, FIVE CONTRACTS</a:t>
            </a:r>
            <a:endParaRPr b="0" i="0" sz="1050" u="none" cap="none" strike="noStrike">
              <a:solidFill>
                <a:schemeClr val="dk1"/>
              </a:solidFill>
              <a:latin typeface="Calibri"/>
              <a:ea typeface="Calibri"/>
              <a:cs typeface="Calibri"/>
              <a:sym typeface="Calibri"/>
            </a:endParaRPr>
          </a:p>
        </p:txBody>
      </p:sp>
      <p:sp>
        <p:nvSpPr>
          <p:cNvPr id="809" name="Google Shape;809;p22"/>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Every agent owes the next one a parseable answer</a:t>
            </a:r>
            <a:endParaRPr b="0" i="0" sz="2700" u="none" cap="none" strike="noStrike">
              <a:solidFill>
                <a:schemeClr val="dk1"/>
              </a:solidFill>
              <a:latin typeface="Calibri"/>
              <a:ea typeface="Calibri"/>
              <a:cs typeface="Calibri"/>
              <a:sym typeface="Calibri"/>
            </a:endParaRPr>
          </a:p>
        </p:txBody>
      </p:sp>
      <p:sp>
        <p:nvSpPr>
          <p:cNvPr id="810" name="Google Shape;810;p22">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811" name="Google Shape;811;p22"/>
          <p:cNvSpPr txBox="1"/>
          <p:nvPr/>
        </p:nvSpPr>
        <p:spPr>
          <a:xfrm>
            <a:off x="667512" y="1133856"/>
            <a:ext cx="14173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ROLE</a:t>
            </a:r>
            <a:endParaRPr b="0" i="0" sz="800" u="none" cap="none" strike="noStrike">
              <a:solidFill>
                <a:schemeClr val="dk1"/>
              </a:solidFill>
              <a:latin typeface="Calibri"/>
              <a:ea typeface="Calibri"/>
              <a:cs typeface="Calibri"/>
              <a:sym typeface="Calibri"/>
            </a:endParaRPr>
          </a:p>
        </p:txBody>
      </p:sp>
      <p:sp>
        <p:nvSpPr>
          <p:cNvPr id="812" name="Google Shape;812;p22"/>
          <p:cNvSpPr txBox="1"/>
          <p:nvPr/>
        </p:nvSpPr>
        <p:spPr>
          <a:xfrm>
            <a:off x="2084832" y="1133856"/>
            <a:ext cx="1691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SLOT IT USES</a:t>
            </a:r>
            <a:endParaRPr b="0" i="0" sz="800" u="none" cap="none" strike="noStrike">
              <a:solidFill>
                <a:schemeClr val="dk1"/>
              </a:solidFill>
              <a:latin typeface="Calibri"/>
              <a:ea typeface="Calibri"/>
              <a:cs typeface="Calibri"/>
              <a:sym typeface="Calibri"/>
            </a:endParaRPr>
          </a:p>
        </p:txBody>
      </p:sp>
      <p:sp>
        <p:nvSpPr>
          <p:cNvPr id="813" name="Google Shape;813;p22"/>
          <p:cNvSpPr txBox="1"/>
          <p:nvPr/>
        </p:nvSpPr>
        <p:spPr>
          <a:xfrm>
            <a:off x="3776472" y="1133856"/>
            <a:ext cx="23317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CONTRACT IT OWES</a:t>
            </a:r>
            <a:endParaRPr b="0" i="0" sz="800" u="none" cap="none" strike="noStrike">
              <a:solidFill>
                <a:schemeClr val="dk1"/>
              </a:solidFill>
              <a:latin typeface="Calibri"/>
              <a:ea typeface="Calibri"/>
              <a:cs typeface="Calibri"/>
              <a:sym typeface="Calibri"/>
            </a:endParaRPr>
          </a:p>
        </p:txBody>
      </p:sp>
      <p:sp>
        <p:nvSpPr>
          <p:cNvPr id="814" name="Google Shape;814;p22"/>
          <p:cNvSpPr txBox="1"/>
          <p:nvPr/>
        </p:nvSpPr>
        <p:spPr>
          <a:xfrm>
            <a:off x="6108192" y="1133856"/>
            <a:ext cx="26974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IF IT BREAKS THE CONTRACT</a:t>
            </a:r>
            <a:endParaRPr b="0" i="0" sz="800" u="none" cap="none" strike="noStrike">
              <a:solidFill>
                <a:schemeClr val="dk1"/>
              </a:solidFill>
              <a:latin typeface="Calibri"/>
              <a:ea typeface="Calibri"/>
              <a:cs typeface="Calibri"/>
              <a:sym typeface="Calibri"/>
            </a:endParaRPr>
          </a:p>
        </p:txBody>
      </p:sp>
      <p:sp>
        <p:nvSpPr>
          <p:cNvPr id="815" name="Google Shape;815;p22"/>
          <p:cNvSpPr/>
          <p:nvPr/>
        </p:nvSpPr>
        <p:spPr>
          <a:xfrm>
            <a:off x="502920" y="1389888"/>
            <a:ext cx="8138160" cy="457200"/>
          </a:xfrm>
          <a:prstGeom prst="roundRect">
            <a:avLst>
              <a:gd fmla="val 18000"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22"/>
          <p:cNvSpPr txBox="1"/>
          <p:nvPr/>
        </p:nvSpPr>
        <p:spPr>
          <a:xfrm>
            <a:off x="667512" y="1389888"/>
            <a:ext cx="1417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300"/>
              <a:buFont typeface="Cambria"/>
              <a:buNone/>
            </a:pPr>
            <a:r>
              <a:rPr b="1" i="0" lang="en-US" sz="1300" u="none" cap="none" strike="noStrike">
                <a:solidFill>
                  <a:srgbClr val="5EE9B5"/>
                </a:solidFill>
                <a:latin typeface="Cambria"/>
                <a:ea typeface="Cambria"/>
                <a:cs typeface="Cambria"/>
                <a:sym typeface="Cambria"/>
              </a:rPr>
              <a:t>Auditor</a:t>
            </a:r>
            <a:endParaRPr b="0" i="0" sz="1300" u="none" cap="none" strike="noStrike">
              <a:solidFill>
                <a:schemeClr val="dk1"/>
              </a:solidFill>
              <a:latin typeface="Calibri"/>
              <a:ea typeface="Calibri"/>
              <a:cs typeface="Calibri"/>
              <a:sym typeface="Calibri"/>
            </a:endParaRPr>
          </a:p>
        </p:txBody>
      </p:sp>
      <p:sp>
        <p:nvSpPr>
          <p:cNvPr id="817" name="Google Shape;817;p22"/>
          <p:cNvSpPr txBox="1"/>
          <p:nvPr/>
        </p:nvSpPr>
        <p:spPr>
          <a:xfrm>
            <a:off x="2084832" y="1389888"/>
            <a:ext cx="1691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tools, then llm()</a:t>
            </a:r>
            <a:endParaRPr b="0" i="0" sz="850" u="none" cap="none" strike="noStrike">
              <a:solidFill>
                <a:schemeClr val="dk1"/>
              </a:solidFill>
              <a:latin typeface="Calibri"/>
              <a:ea typeface="Calibri"/>
              <a:cs typeface="Calibri"/>
              <a:sym typeface="Calibri"/>
            </a:endParaRPr>
          </a:p>
        </p:txBody>
      </p:sp>
      <p:sp>
        <p:nvSpPr>
          <p:cNvPr id="818" name="Google Shape;818;p22"/>
          <p:cNvSpPr txBox="1"/>
          <p:nvPr/>
        </p:nvSpPr>
        <p:spPr>
          <a:xfrm>
            <a:off x="3776472" y="1389888"/>
            <a:ext cx="2331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JSON findings, at most 6</a:t>
            </a:r>
            <a:endParaRPr b="0" i="0" sz="1000" u="none" cap="none" strike="noStrike">
              <a:solidFill>
                <a:schemeClr val="dk1"/>
              </a:solidFill>
              <a:latin typeface="Calibri"/>
              <a:ea typeface="Calibri"/>
              <a:cs typeface="Calibri"/>
              <a:sym typeface="Calibri"/>
            </a:endParaRPr>
          </a:p>
        </p:txBody>
      </p:sp>
      <p:sp>
        <p:nvSpPr>
          <p:cNvPr id="819" name="Google Shape;819;p22"/>
          <p:cNvSpPr txBox="1"/>
          <p:nvPr/>
        </p:nvSpPr>
        <p:spPr>
          <a:xfrm>
            <a:off x="6108192" y="1389888"/>
            <a:ext cx="2697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findings_from_evidence() rebuilds them from the tool dump</a:t>
            </a:r>
            <a:endParaRPr b="0" i="0" sz="950" u="none" cap="none" strike="noStrike">
              <a:solidFill>
                <a:schemeClr val="dk1"/>
              </a:solidFill>
              <a:latin typeface="Calibri"/>
              <a:ea typeface="Calibri"/>
              <a:cs typeface="Calibri"/>
              <a:sym typeface="Calibri"/>
            </a:endParaRPr>
          </a:p>
        </p:txBody>
      </p:sp>
      <p:sp>
        <p:nvSpPr>
          <p:cNvPr id="820" name="Google Shape;820;p22"/>
          <p:cNvSpPr/>
          <p:nvPr/>
        </p:nvSpPr>
        <p:spPr>
          <a:xfrm>
            <a:off x="502920" y="1901952"/>
            <a:ext cx="8138160" cy="457200"/>
          </a:xfrm>
          <a:prstGeom prst="roundRect">
            <a:avLst>
              <a:gd fmla="val 1800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2"/>
          <p:cNvSpPr txBox="1"/>
          <p:nvPr/>
        </p:nvSpPr>
        <p:spPr>
          <a:xfrm>
            <a:off x="667512" y="1901952"/>
            <a:ext cx="1417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300"/>
              <a:buFont typeface="Cambria"/>
              <a:buNone/>
            </a:pPr>
            <a:r>
              <a:rPr b="1" i="0" lang="en-US" sz="1300" u="none" cap="none" strike="noStrike">
                <a:solidFill>
                  <a:srgbClr val="E9DFFF"/>
                </a:solidFill>
                <a:latin typeface="Cambria"/>
                <a:ea typeface="Cambria"/>
                <a:cs typeface="Cambria"/>
                <a:sym typeface="Cambria"/>
              </a:rPr>
              <a:t>Planner</a:t>
            </a:r>
            <a:endParaRPr b="0" i="0" sz="1300" u="none" cap="none" strike="noStrike">
              <a:solidFill>
                <a:schemeClr val="dk1"/>
              </a:solidFill>
              <a:latin typeface="Calibri"/>
              <a:ea typeface="Calibri"/>
              <a:cs typeface="Calibri"/>
              <a:sym typeface="Calibri"/>
            </a:endParaRPr>
          </a:p>
        </p:txBody>
      </p:sp>
      <p:sp>
        <p:nvSpPr>
          <p:cNvPr id="822" name="Google Shape;822;p22"/>
          <p:cNvSpPr txBox="1"/>
          <p:nvPr/>
        </p:nvSpPr>
        <p:spPr>
          <a:xfrm>
            <a:off x="2084832" y="1901952"/>
            <a:ext cx="1691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llm() on those findings</a:t>
            </a:r>
            <a:endParaRPr b="0" i="0" sz="850" u="none" cap="none" strike="noStrike">
              <a:solidFill>
                <a:schemeClr val="dk1"/>
              </a:solidFill>
              <a:latin typeface="Calibri"/>
              <a:ea typeface="Calibri"/>
              <a:cs typeface="Calibri"/>
              <a:sym typeface="Calibri"/>
            </a:endParaRPr>
          </a:p>
        </p:txBody>
      </p:sp>
      <p:sp>
        <p:nvSpPr>
          <p:cNvPr id="823" name="Google Shape;823;p22"/>
          <p:cNvSpPr txBox="1"/>
          <p:nvPr/>
        </p:nvSpPr>
        <p:spPr>
          <a:xfrm>
            <a:off x="3776472" y="1901952"/>
            <a:ext cx="2331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JSON — at most 3 smells to fix now</a:t>
            </a:r>
            <a:endParaRPr b="0" i="0" sz="1000" u="none" cap="none" strike="noStrike">
              <a:solidFill>
                <a:schemeClr val="dk1"/>
              </a:solidFill>
              <a:latin typeface="Calibri"/>
              <a:ea typeface="Calibri"/>
              <a:cs typeface="Calibri"/>
              <a:sym typeface="Calibri"/>
            </a:endParaRPr>
          </a:p>
        </p:txBody>
      </p:sp>
      <p:sp>
        <p:nvSpPr>
          <p:cNvPr id="824" name="Google Shape;824;p22"/>
          <p:cNvSpPr txBox="1"/>
          <p:nvPr/>
        </p:nvSpPr>
        <p:spPr>
          <a:xfrm>
            <a:off x="6108192" y="1901952"/>
            <a:ext cx="2697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falls back to the auditor's first three</a:t>
            </a:r>
            <a:endParaRPr b="0" i="0" sz="950" u="none" cap="none" strike="noStrike">
              <a:solidFill>
                <a:schemeClr val="dk1"/>
              </a:solidFill>
              <a:latin typeface="Calibri"/>
              <a:ea typeface="Calibri"/>
              <a:cs typeface="Calibri"/>
              <a:sym typeface="Calibri"/>
            </a:endParaRPr>
          </a:p>
        </p:txBody>
      </p:sp>
      <p:sp>
        <p:nvSpPr>
          <p:cNvPr id="825" name="Google Shape;825;p22"/>
          <p:cNvSpPr/>
          <p:nvPr/>
        </p:nvSpPr>
        <p:spPr>
          <a:xfrm>
            <a:off x="502920" y="2414016"/>
            <a:ext cx="8138160" cy="457200"/>
          </a:xfrm>
          <a:prstGeom prst="roundRect">
            <a:avLst>
              <a:gd fmla="val 18000"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22"/>
          <p:cNvSpPr txBox="1"/>
          <p:nvPr/>
        </p:nvSpPr>
        <p:spPr>
          <a:xfrm>
            <a:off x="667512" y="2414016"/>
            <a:ext cx="1417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300"/>
              <a:buFont typeface="Cambria"/>
              <a:buNone/>
            </a:pPr>
            <a:r>
              <a:rPr b="1" i="0" lang="en-US" sz="1300" u="none" cap="none" strike="noStrike">
                <a:solidFill>
                  <a:srgbClr val="FBBF24"/>
                </a:solidFill>
                <a:latin typeface="Cambria"/>
                <a:ea typeface="Cambria"/>
                <a:cs typeface="Cambria"/>
                <a:sym typeface="Cambria"/>
              </a:rPr>
              <a:t>Refactorer</a:t>
            </a:r>
            <a:endParaRPr b="0" i="0" sz="1300" u="none" cap="none" strike="noStrike">
              <a:solidFill>
                <a:schemeClr val="dk1"/>
              </a:solidFill>
              <a:latin typeface="Calibri"/>
              <a:ea typeface="Calibri"/>
              <a:cs typeface="Calibri"/>
              <a:sym typeface="Calibri"/>
            </a:endParaRPr>
          </a:p>
        </p:txBody>
      </p:sp>
      <p:sp>
        <p:nvSpPr>
          <p:cNvPr id="827" name="Google Shape;827;p22"/>
          <p:cNvSpPr txBox="1"/>
          <p:nvPr/>
        </p:nvSpPr>
        <p:spPr>
          <a:xfrm>
            <a:off x="2084832" y="2414016"/>
            <a:ext cx="1691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llm() + HARD RULES</a:t>
            </a:r>
            <a:endParaRPr b="0" i="0" sz="850" u="none" cap="none" strike="noStrike">
              <a:solidFill>
                <a:schemeClr val="dk1"/>
              </a:solidFill>
              <a:latin typeface="Calibri"/>
              <a:ea typeface="Calibri"/>
              <a:cs typeface="Calibri"/>
              <a:sym typeface="Calibri"/>
            </a:endParaRPr>
          </a:p>
        </p:txBody>
      </p:sp>
      <p:sp>
        <p:nvSpPr>
          <p:cNvPr id="828" name="Google Shape;828;p22"/>
          <p:cNvSpPr txBox="1"/>
          <p:nvPr/>
        </p:nvSpPr>
        <p:spPr>
          <a:xfrm>
            <a:off x="3776472" y="2414016"/>
            <a:ext cx="2331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one ```python fence, the full module</a:t>
            </a:r>
            <a:endParaRPr b="0" i="0" sz="1000" u="none" cap="none" strike="noStrike">
              <a:solidFill>
                <a:schemeClr val="dk1"/>
              </a:solidFill>
              <a:latin typeface="Calibri"/>
              <a:ea typeface="Calibri"/>
              <a:cs typeface="Calibri"/>
              <a:sym typeface="Calibri"/>
            </a:endParaRPr>
          </a:p>
        </p:txBody>
      </p:sp>
      <p:sp>
        <p:nvSpPr>
          <p:cNvPr id="829" name="Google Shape;829;p22"/>
          <p:cNvSpPr txBox="1"/>
          <p:nvPr/>
        </p:nvSpPr>
        <p:spPr>
          <a:xfrm>
            <a:off x="6108192" y="2414016"/>
            <a:ext cx="2697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ValueError → orchestrator retries with that error as feedback</a:t>
            </a:r>
            <a:endParaRPr b="0" i="0" sz="950" u="none" cap="none" strike="noStrike">
              <a:solidFill>
                <a:schemeClr val="dk1"/>
              </a:solidFill>
              <a:latin typeface="Calibri"/>
              <a:ea typeface="Calibri"/>
              <a:cs typeface="Calibri"/>
              <a:sym typeface="Calibri"/>
            </a:endParaRPr>
          </a:p>
        </p:txBody>
      </p:sp>
      <p:sp>
        <p:nvSpPr>
          <p:cNvPr id="830" name="Google Shape;830;p22"/>
          <p:cNvSpPr/>
          <p:nvPr/>
        </p:nvSpPr>
        <p:spPr>
          <a:xfrm>
            <a:off x="502920" y="2926080"/>
            <a:ext cx="8138160" cy="457200"/>
          </a:xfrm>
          <a:prstGeom prst="roundRect">
            <a:avLst>
              <a:gd fmla="val 1800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22"/>
          <p:cNvSpPr txBox="1"/>
          <p:nvPr/>
        </p:nvSpPr>
        <p:spPr>
          <a:xfrm>
            <a:off x="667512" y="2926080"/>
            <a:ext cx="1417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300"/>
              <a:buFont typeface="Cambria"/>
              <a:buNone/>
            </a:pPr>
            <a:r>
              <a:rPr b="1" i="0" lang="en-US" sz="1300" u="none" cap="none" strike="noStrike">
                <a:solidFill>
                  <a:srgbClr val="A78BFA"/>
                </a:solidFill>
                <a:latin typeface="Cambria"/>
                <a:ea typeface="Cambria"/>
                <a:cs typeface="Cambria"/>
                <a:sym typeface="Cambria"/>
              </a:rPr>
              <a:t>QA</a:t>
            </a:r>
            <a:endParaRPr b="0" i="0" sz="1300" u="none" cap="none" strike="noStrike">
              <a:solidFill>
                <a:schemeClr val="dk1"/>
              </a:solidFill>
              <a:latin typeface="Calibri"/>
              <a:ea typeface="Calibri"/>
              <a:cs typeface="Calibri"/>
              <a:sym typeface="Calibri"/>
            </a:endParaRPr>
          </a:p>
        </p:txBody>
      </p:sp>
      <p:sp>
        <p:nvSpPr>
          <p:cNvPr id="832" name="Google Shape;832;p22"/>
          <p:cNvSpPr txBox="1"/>
          <p:nvPr/>
        </p:nvSpPr>
        <p:spPr>
          <a:xfrm>
            <a:off x="2084832" y="2926080"/>
            <a:ext cx="1691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no LLM at all</a:t>
            </a:r>
            <a:endParaRPr b="0" i="0" sz="850" u="none" cap="none" strike="noStrike">
              <a:solidFill>
                <a:schemeClr val="dk1"/>
              </a:solidFill>
              <a:latin typeface="Calibri"/>
              <a:ea typeface="Calibri"/>
              <a:cs typeface="Calibri"/>
              <a:sym typeface="Calibri"/>
            </a:endParaRPr>
          </a:p>
        </p:txBody>
      </p:sp>
      <p:sp>
        <p:nvSpPr>
          <p:cNvPr id="833" name="Google Shape;833;p22"/>
          <p:cNvSpPr txBox="1"/>
          <p:nvPr/>
        </p:nvSpPr>
        <p:spPr>
          <a:xfrm>
            <a:off x="3776472" y="2926080"/>
            <a:ext cx="2331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verdict dict + notes</a:t>
            </a:r>
            <a:endParaRPr b="0" i="0" sz="1000" u="none" cap="none" strike="noStrike">
              <a:solidFill>
                <a:schemeClr val="dk1"/>
              </a:solidFill>
              <a:latin typeface="Calibri"/>
              <a:ea typeface="Calibri"/>
              <a:cs typeface="Calibri"/>
              <a:sym typeface="Calibri"/>
            </a:endParaRPr>
          </a:p>
        </p:txBody>
      </p:sp>
      <p:sp>
        <p:nvSpPr>
          <p:cNvPr id="834" name="Google Shape;834;p22"/>
          <p:cNvSpPr txBox="1"/>
          <p:nvPr/>
        </p:nvSpPr>
        <p:spPr>
          <a:xfrm>
            <a:off x="6108192" y="2926080"/>
            <a:ext cx="2697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cannot — it is a subprocess exit code</a:t>
            </a:r>
            <a:endParaRPr b="0" i="0" sz="950" u="none" cap="none" strike="noStrike">
              <a:solidFill>
                <a:schemeClr val="dk1"/>
              </a:solidFill>
              <a:latin typeface="Calibri"/>
              <a:ea typeface="Calibri"/>
              <a:cs typeface="Calibri"/>
              <a:sym typeface="Calibri"/>
            </a:endParaRPr>
          </a:p>
        </p:txBody>
      </p:sp>
      <p:sp>
        <p:nvSpPr>
          <p:cNvPr id="835" name="Google Shape;835;p22"/>
          <p:cNvSpPr/>
          <p:nvPr/>
        </p:nvSpPr>
        <p:spPr>
          <a:xfrm>
            <a:off x="502920" y="3438144"/>
            <a:ext cx="8138160" cy="457200"/>
          </a:xfrm>
          <a:prstGeom prst="roundRect">
            <a:avLst>
              <a:gd fmla="val 18000"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2"/>
          <p:cNvSpPr txBox="1"/>
          <p:nvPr/>
        </p:nvSpPr>
        <p:spPr>
          <a:xfrm>
            <a:off x="667512" y="3438144"/>
            <a:ext cx="1417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1300"/>
              <a:buFont typeface="Cambria"/>
              <a:buNone/>
            </a:pPr>
            <a:r>
              <a:rPr b="1" i="0" lang="en-US" sz="1300" u="none" cap="none" strike="noStrike">
                <a:solidFill>
                  <a:srgbClr val="FB7185"/>
                </a:solidFill>
                <a:latin typeface="Cambria"/>
                <a:ea typeface="Cambria"/>
                <a:cs typeface="Cambria"/>
                <a:sym typeface="Cambria"/>
              </a:rPr>
              <a:t>Orchestrator</a:t>
            </a:r>
            <a:endParaRPr b="0" i="0" sz="1300" u="none" cap="none" strike="noStrike">
              <a:solidFill>
                <a:schemeClr val="dk1"/>
              </a:solidFill>
              <a:latin typeface="Calibri"/>
              <a:ea typeface="Calibri"/>
              <a:cs typeface="Calibri"/>
              <a:sym typeface="Calibri"/>
            </a:endParaRPr>
          </a:p>
        </p:txBody>
      </p:sp>
      <p:sp>
        <p:nvSpPr>
          <p:cNvPr id="837" name="Google Shape;837;p22"/>
          <p:cNvSpPr txBox="1"/>
          <p:nvPr/>
        </p:nvSpPr>
        <p:spPr>
          <a:xfrm>
            <a:off x="2084832" y="3438144"/>
            <a:ext cx="1691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a for loop</a:t>
            </a:r>
            <a:endParaRPr b="0" i="0" sz="850" u="none" cap="none" strike="noStrike">
              <a:solidFill>
                <a:schemeClr val="dk1"/>
              </a:solidFill>
              <a:latin typeface="Calibri"/>
              <a:ea typeface="Calibri"/>
              <a:cs typeface="Calibri"/>
              <a:sym typeface="Calibri"/>
            </a:endParaRPr>
          </a:p>
        </p:txBody>
      </p:sp>
      <p:sp>
        <p:nvSpPr>
          <p:cNvPr id="838" name="Google Shape;838;p22"/>
          <p:cNvSpPr txBox="1"/>
          <p:nvPr/>
        </p:nvSpPr>
        <p:spPr>
          <a:xfrm>
            <a:off x="3776472" y="3438144"/>
            <a:ext cx="2331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accepted only if all three gates pass</a:t>
            </a:r>
            <a:endParaRPr b="0" i="0" sz="1000" u="none" cap="none" strike="noStrike">
              <a:solidFill>
                <a:schemeClr val="dk1"/>
              </a:solidFill>
              <a:latin typeface="Calibri"/>
              <a:ea typeface="Calibri"/>
              <a:cs typeface="Calibri"/>
              <a:sym typeface="Calibri"/>
            </a:endParaRPr>
          </a:p>
        </p:txBody>
      </p:sp>
      <p:sp>
        <p:nvSpPr>
          <p:cNvPr id="839" name="Google Shape;839;p22"/>
          <p:cNvSpPr txBox="1"/>
          <p:nvPr/>
        </p:nvSpPr>
        <p:spPr>
          <a:xfrm>
            <a:off x="6108192" y="3438144"/>
            <a:ext cx="2697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runs out of iterations and holds the patch</a:t>
            </a:r>
            <a:endParaRPr b="0" i="0" sz="950" u="none" cap="none" strike="noStrike">
              <a:solidFill>
                <a:schemeClr val="dk1"/>
              </a:solidFill>
              <a:latin typeface="Calibri"/>
              <a:ea typeface="Calibri"/>
              <a:cs typeface="Calibri"/>
              <a:sym typeface="Calibri"/>
            </a:endParaRPr>
          </a:p>
        </p:txBody>
      </p:sp>
      <p:sp>
        <p:nvSpPr>
          <p:cNvPr id="840" name="Google Shape;840;p22"/>
          <p:cNvSpPr/>
          <p:nvPr/>
        </p:nvSpPr>
        <p:spPr>
          <a:xfrm>
            <a:off x="502920" y="3968496"/>
            <a:ext cx="8138160" cy="548640"/>
          </a:xfrm>
          <a:prstGeom prst="roundRect">
            <a:avLst>
              <a:gd fmla="val 15000" name="adj"/>
            </a:avLst>
          </a:prstGeom>
          <a:solidFill>
            <a:srgbClr val="1E1230"/>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2"/>
          <p:cNvSpPr txBox="1"/>
          <p:nvPr/>
        </p:nvSpPr>
        <p:spPr>
          <a:xfrm>
            <a:off x="667512" y="3968496"/>
            <a:ext cx="7808976"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00"/>
              <a:buFont typeface="Courier New"/>
              <a:buNone/>
            </a:pPr>
            <a:r>
              <a:rPr b="0" i="0" lang="en-US" sz="800" u="none" cap="none" strike="noStrike">
                <a:solidFill>
                  <a:srgbClr val="FBBF24"/>
                </a:solidFill>
                <a:latin typeface="Courier New"/>
                <a:ea typeface="Courier New"/>
                <a:cs typeface="Courier New"/>
                <a:sym typeface="Courier New"/>
              </a:rPr>
              <a:t>THE REFACTORER'S HARD RULES   </a:t>
            </a:r>
            <a:r>
              <a:rPr b="0" i="0" lang="en-US" sz="1000" u="none" cap="none" strike="noStrike">
                <a:solidFill>
                  <a:srgbClr val="D8CDEE"/>
                </a:solidFill>
                <a:latin typeface="Calibri"/>
                <a:ea typeface="Calibri"/>
                <a:cs typeface="Calibri"/>
                <a:sym typeface="Calibri"/>
              </a:rPr>
              <a:t>Keep Invoice, PaymentGateway, Mailer, OrderFulfillmentService, fulfill_order(), apply_refund() with the same signatures · behaviour identical · no third-party imports · ONE python fence containing the FULL module.</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846" name="Shape 846"/>
        <p:cNvGrpSpPr/>
        <p:nvPr/>
      </p:nvGrpSpPr>
      <p:grpSpPr>
        <a:xfrm>
          <a:off x="0" y="0"/>
          <a:ext cx="0" cy="0"/>
          <a:chOff x="0" y="0"/>
          <a:chExt cx="0" cy="0"/>
        </a:xfrm>
      </p:grpSpPr>
      <p:sp>
        <p:nvSpPr>
          <p:cNvPr id="847" name="Google Shape;847;p23"/>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§2.4 · </a:t>
            </a:r>
            <a:r>
              <a:rPr lang="en-US" sz="1050">
                <a:solidFill>
                  <a:srgbClr val="A78BFA"/>
                </a:solidFill>
                <a:latin typeface="Courier New"/>
                <a:ea typeface="Courier New"/>
                <a:cs typeface="Courier New"/>
                <a:sym typeface="Courier New"/>
              </a:rPr>
              <a:t>TAKEAWAY </a:t>
            </a:r>
            <a:r>
              <a:rPr b="0" i="0" lang="en-US" sz="1050" u="none" cap="none" strike="noStrike">
                <a:solidFill>
                  <a:srgbClr val="A78BFA"/>
                </a:solidFill>
                <a:latin typeface="Courier New"/>
                <a:ea typeface="Courier New"/>
                <a:cs typeface="Courier New"/>
                <a:sym typeface="Courier New"/>
              </a:rPr>
              <a:t>OF THIS WORKSHOP</a:t>
            </a:r>
            <a:endParaRPr b="0" i="0" sz="1050" u="none" cap="none" strike="noStrike">
              <a:solidFill>
                <a:schemeClr val="dk1"/>
              </a:solidFill>
              <a:latin typeface="Calibri"/>
              <a:ea typeface="Calibri"/>
              <a:cs typeface="Calibri"/>
              <a:sym typeface="Calibri"/>
            </a:endParaRPr>
          </a:p>
        </p:txBody>
      </p:sp>
      <p:sp>
        <p:nvSpPr>
          <p:cNvPr id="848" name="Google Shape;848;p23"/>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Generation is cheap. Verification is everything.</a:t>
            </a:r>
            <a:endParaRPr b="0" i="0" sz="2700" u="none" cap="none" strike="noStrike">
              <a:solidFill>
                <a:schemeClr val="dk1"/>
              </a:solidFill>
              <a:latin typeface="Calibri"/>
              <a:ea typeface="Calibri"/>
              <a:cs typeface="Calibri"/>
              <a:sym typeface="Calibri"/>
            </a:endParaRPr>
          </a:p>
        </p:txBody>
      </p:sp>
      <p:sp>
        <p:nvSpPr>
          <p:cNvPr id="849" name="Google Shape;849;p23">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850" name="Google Shape;850;p23"/>
          <p:cNvSpPr/>
          <p:nvPr/>
        </p:nvSpPr>
        <p:spPr>
          <a:xfrm>
            <a:off x="502920" y="1133856"/>
            <a:ext cx="2615184" cy="2395728"/>
          </a:xfrm>
          <a:prstGeom prst="roundRect">
            <a:avLst>
              <a:gd fmla="val 343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3"/>
          <p:cNvSpPr/>
          <p:nvPr/>
        </p:nvSpPr>
        <p:spPr>
          <a:xfrm>
            <a:off x="649224" y="1280160"/>
            <a:ext cx="420624" cy="420624"/>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3"/>
          <p:cNvSpPr txBox="1"/>
          <p:nvPr/>
        </p:nvSpPr>
        <p:spPr>
          <a:xfrm>
            <a:off x="649224" y="1280160"/>
            <a:ext cx="420624" cy="42062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ourier New"/>
              <a:buNone/>
            </a:pPr>
            <a:r>
              <a:rPr b="1" i="0" lang="en-US" sz="1700" u="none" cap="none" strike="noStrike">
                <a:solidFill>
                  <a:srgbClr val="2A1B3D"/>
                </a:solidFill>
                <a:latin typeface="Courier New"/>
                <a:ea typeface="Courier New"/>
                <a:cs typeface="Courier New"/>
                <a:sym typeface="Courier New"/>
              </a:rPr>
              <a:t>1</a:t>
            </a:r>
            <a:endParaRPr b="0" i="0" sz="1700" u="none" cap="none" strike="noStrike">
              <a:solidFill>
                <a:schemeClr val="dk1"/>
              </a:solidFill>
              <a:latin typeface="Calibri"/>
              <a:ea typeface="Calibri"/>
              <a:cs typeface="Calibri"/>
              <a:sym typeface="Calibri"/>
            </a:endParaRPr>
          </a:p>
        </p:txBody>
      </p:sp>
      <p:sp>
        <p:nvSpPr>
          <p:cNvPr id="853" name="Google Shape;853;p23"/>
          <p:cNvSpPr txBox="1"/>
          <p:nvPr/>
        </p:nvSpPr>
        <p:spPr>
          <a:xfrm>
            <a:off x="1161288" y="1335024"/>
            <a:ext cx="181051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Gate 1 · Syntax</a:t>
            </a:r>
            <a:endParaRPr b="0" i="0" sz="1500" u="none" cap="none" strike="noStrike">
              <a:solidFill>
                <a:schemeClr val="dk1"/>
              </a:solidFill>
              <a:latin typeface="Calibri"/>
              <a:ea typeface="Calibri"/>
              <a:cs typeface="Calibri"/>
              <a:sym typeface="Calibri"/>
            </a:endParaRPr>
          </a:p>
        </p:txBody>
      </p:sp>
      <p:sp>
        <p:nvSpPr>
          <p:cNvPr id="854" name="Google Shape;854;p23"/>
          <p:cNvSpPr/>
          <p:nvPr/>
        </p:nvSpPr>
        <p:spPr>
          <a:xfrm>
            <a:off x="649224" y="1810512"/>
            <a:ext cx="2322576" cy="329184"/>
          </a:xfrm>
          <a:prstGeom prst="roundRect">
            <a:avLst>
              <a:gd fmla="val 19444"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23"/>
          <p:cNvSpPr txBox="1"/>
          <p:nvPr/>
        </p:nvSpPr>
        <p:spPr>
          <a:xfrm>
            <a:off x="777240" y="1911096"/>
            <a:ext cx="2066544" cy="1737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ast.parse(candidate)</a:t>
            </a:r>
            <a:endParaRPr b="0" i="0" sz="800" u="none" cap="none" strike="noStrike">
              <a:solidFill>
                <a:schemeClr val="dk1"/>
              </a:solidFill>
              <a:latin typeface="Calibri"/>
              <a:ea typeface="Calibri"/>
              <a:cs typeface="Calibri"/>
              <a:sym typeface="Calibri"/>
            </a:endParaRPr>
          </a:p>
        </p:txBody>
      </p:sp>
      <p:sp>
        <p:nvSpPr>
          <p:cNvPr id="856" name="Google Shape;856;p23"/>
          <p:cNvSpPr/>
          <p:nvPr/>
        </p:nvSpPr>
        <p:spPr>
          <a:xfrm>
            <a:off x="649224" y="2231136"/>
            <a:ext cx="86868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3"/>
          <p:cNvSpPr txBox="1"/>
          <p:nvPr/>
        </p:nvSpPr>
        <p:spPr>
          <a:xfrm>
            <a:off x="649224" y="2231136"/>
            <a:ext cx="86868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~1 ms</a:t>
            </a:r>
            <a:endParaRPr b="0" i="0" sz="800" u="none" cap="none" strike="noStrike">
              <a:solidFill>
                <a:schemeClr val="dk1"/>
              </a:solidFill>
              <a:latin typeface="Calibri"/>
              <a:ea typeface="Calibri"/>
              <a:cs typeface="Calibri"/>
              <a:sym typeface="Calibri"/>
            </a:endParaRPr>
          </a:p>
        </p:txBody>
      </p:sp>
      <p:sp>
        <p:nvSpPr>
          <p:cNvPr id="858" name="Google Shape;858;p23"/>
          <p:cNvSpPr txBox="1"/>
          <p:nvPr/>
        </p:nvSpPr>
        <p:spPr>
          <a:xfrm>
            <a:off x="649224" y="2523744"/>
            <a:ext cx="2322576"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CATCHES</a:t>
            </a:r>
            <a:endParaRPr b="0" i="0" sz="750" u="none" cap="none" strike="noStrike">
              <a:solidFill>
                <a:schemeClr val="dk1"/>
              </a:solidFill>
              <a:latin typeface="Calibri"/>
              <a:ea typeface="Calibri"/>
              <a:cs typeface="Calibri"/>
              <a:sym typeface="Calibri"/>
            </a:endParaRPr>
          </a:p>
        </p:txBody>
      </p:sp>
      <p:sp>
        <p:nvSpPr>
          <p:cNvPr id="859" name="Google Shape;859;p23"/>
          <p:cNvSpPr txBox="1"/>
          <p:nvPr/>
        </p:nvSpPr>
        <p:spPr>
          <a:xfrm>
            <a:off x="649224" y="2688336"/>
            <a:ext cx="2322576"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truncated or mangled output — a fence that ended mid-function</a:t>
            </a:r>
            <a:endParaRPr b="0" i="0" sz="950" u="none" cap="none" strike="noStrike">
              <a:solidFill>
                <a:schemeClr val="dk1"/>
              </a:solidFill>
              <a:latin typeface="Calibri"/>
              <a:ea typeface="Calibri"/>
              <a:cs typeface="Calibri"/>
              <a:sym typeface="Calibri"/>
            </a:endParaRPr>
          </a:p>
        </p:txBody>
      </p:sp>
      <p:sp>
        <p:nvSpPr>
          <p:cNvPr id="860" name="Google Shape;860;p23"/>
          <p:cNvSpPr txBox="1"/>
          <p:nvPr/>
        </p:nvSpPr>
        <p:spPr>
          <a:xfrm>
            <a:off x="649224" y="3090672"/>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1" lang="en-US" sz="900" u="none" cap="none" strike="noStrike">
                <a:solidFill>
                  <a:srgbClr val="BBA9DE"/>
                </a:solidFill>
                <a:latin typeface="Calibri"/>
                <a:ea typeface="Calibri"/>
                <a:cs typeface="Calibri"/>
                <a:sym typeface="Calibri"/>
              </a:rPr>
              <a:t>Delete apply_refund → this fails in milliseconds</a:t>
            </a:r>
            <a:endParaRPr b="0" i="0" sz="900" u="none" cap="none" strike="noStrike">
              <a:solidFill>
                <a:schemeClr val="dk1"/>
              </a:solidFill>
              <a:latin typeface="Calibri"/>
              <a:ea typeface="Calibri"/>
              <a:cs typeface="Calibri"/>
              <a:sym typeface="Calibri"/>
            </a:endParaRPr>
          </a:p>
        </p:txBody>
      </p:sp>
      <p:cxnSp>
        <p:nvCxnSpPr>
          <p:cNvPr id="861" name="Google Shape;861;p23"/>
          <p:cNvCxnSpPr/>
          <p:nvPr/>
        </p:nvCxnSpPr>
        <p:spPr>
          <a:xfrm>
            <a:off x="3136392" y="2322576"/>
            <a:ext cx="109728" cy="914"/>
          </a:xfrm>
          <a:prstGeom prst="straightConnector1">
            <a:avLst/>
          </a:prstGeom>
          <a:noFill/>
          <a:ln cap="flat" cmpd="sng" w="19050">
            <a:solidFill>
              <a:srgbClr val="5B4386"/>
            </a:solidFill>
            <a:prstDash val="solid"/>
            <a:round/>
            <a:headEnd len="sm" w="sm" type="none"/>
            <a:tailEnd len="med" w="med" type="triangle"/>
          </a:ln>
        </p:spPr>
      </p:cxnSp>
      <p:sp>
        <p:nvSpPr>
          <p:cNvPr id="862" name="Google Shape;862;p23"/>
          <p:cNvSpPr/>
          <p:nvPr/>
        </p:nvSpPr>
        <p:spPr>
          <a:xfrm>
            <a:off x="3264408" y="1133856"/>
            <a:ext cx="2615184" cy="2395728"/>
          </a:xfrm>
          <a:prstGeom prst="roundRect">
            <a:avLst>
              <a:gd fmla="val 343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23"/>
          <p:cNvSpPr/>
          <p:nvPr/>
        </p:nvSpPr>
        <p:spPr>
          <a:xfrm>
            <a:off x="3410712" y="1280160"/>
            <a:ext cx="420624" cy="420624"/>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23"/>
          <p:cNvSpPr txBox="1"/>
          <p:nvPr/>
        </p:nvSpPr>
        <p:spPr>
          <a:xfrm>
            <a:off x="3410712" y="1280160"/>
            <a:ext cx="420624" cy="42062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ourier New"/>
              <a:buNone/>
            </a:pPr>
            <a:r>
              <a:rPr b="1" i="0" lang="en-US" sz="1700" u="none" cap="none" strike="noStrike">
                <a:solidFill>
                  <a:srgbClr val="2A1B3D"/>
                </a:solidFill>
                <a:latin typeface="Courier New"/>
                <a:ea typeface="Courier New"/>
                <a:cs typeface="Courier New"/>
                <a:sym typeface="Courier New"/>
              </a:rPr>
              <a:t>2</a:t>
            </a:r>
            <a:endParaRPr b="0" i="0" sz="1700" u="none" cap="none" strike="noStrike">
              <a:solidFill>
                <a:schemeClr val="dk1"/>
              </a:solidFill>
              <a:latin typeface="Calibri"/>
              <a:ea typeface="Calibri"/>
              <a:cs typeface="Calibri"/>
              <a:sym typeface="Calibri"/>
            </a:endParaRPr>
          </a:p>
        </p:txBody>
      </p:sp>
      <p:sp>
        <p:nvSpPr>
          <p:cNvPr id="865" name="Google Shape;865;p23"/>
          <p:cNvSpPr txBox="1"/>
          <p:nvPr/>
        </p:nvSpPr>
        <p:spPr>
          <a:xfrm>
            <a:off x="3922776" y="1335024"/>
            <a:ext cx="181051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Gate 2 · Behaviour</a:t>
            </a:r>
            <a:endParaRPr b="0" i="0" sz="1500" u="none" cap="none" strike="noStrike">
              <a:solidFill>
                <a:schemeClr val="dk1"/>
              </a:solidFill>
              <a:latin typeface="Calibri"/>
              <a:ea typeface="Calibri"/>
              <a:cs typeface="Calibri"/>
              <a:sym typeface="Calibri"/>
            </a:endParaRPr>
          </a:p>
        </p:txBody>
      </p:sp>
      <p:sp>
        <p:nvSpPr>
          <p:cNvPr id="866" name="Google Shape;866;p23"/>
          <p:cNvSpPr/>
          <p:nvPr/>
        </p:nvSpPr>
        <p:spPr>
          <a:xfrm>
            <a:off x="3410712" y="1810512"/>
            <a:ext cx="2322576" cy="329184"/>
          </a:xfrm>
          <a:prstGeom prst="roundRect">
            <a:avLst>
              <a:gd fmla="val 19444"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23"/>
          <p:cNvSpPr txBox="1"/>
          <p:nvPr/>
        </p:nvSpPr>
        <p:spPr>
          <a:xfrm>
            <a:off x="3538728" y="1911096"/>
            <a:ext cx="2066544" cy="1737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00"/>
              <a:buFont typeface="Courier New"/>
              <a:buNone/>
            </a:pPr>
            <a:r>
              <a:rPr b="0" i="0" lang="en-US" sz="800" u="none" cap="none" strike="noStrike">
                <a:solidFill>
                  <a:srgbClr val="FBBF24"/>
                </a:solidFill>
                <a:latin typeface="Courier New"/>
                <a:ea typeface="Courier New"/>
                <a:cs typeface="Courier New"/>
                <a:sym typeface="Courier New"/>
              </a:rPr>
              <a:t>pytest -q  in a temp sandbox</a:t>
            </a:r>
            <a:endParaRPr b="0" i="0" sz="800" u="none" cap="none" strike="noStrike">
              <a:solidFill>
                <a:schemeClr val="dk1"/>
              </a:solidFill>
              <a:latin typeface="Calibri"/>
              <a:ea typeface="Calibri"/>
              <a:cs typeface="Calibri"/>
              <a:sym typeface="Calibri"/>
            </a:endParaRPr>
          </a:p>
        </p:txBody>
      </p:sp>
      <p:sp>
        <p:nvSpPr>
          <p:cNvPr id="868" name="Google Shape;868;p23"/>
          <p:cNvSpPr/>
          <p:nvPr/>
        </p:nvSpPr>
        <p:spPr>
          <a:xfrm>
            <a:off x="3410712" y="2231136"/>
            <a:ext cx="86868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3"/>
          <p:cNvSpPr txBox="1"/>
          <p:nvPr/>
        </p:nvSpPr>
        <p:spPr>
          <a:xfrm>
            <a:off x="3410712" y="2231136"/>
            <a:ext cx="86868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~1 s</a:t>
            </a:r>
            <a:endParaRPr b="0" i="0" sz="800" u="none" cap="none" strike="noStrike">
              <a:solidFill>
                <a:schemeClr val="dk1"/>
              </a:solidFill>
              <a:latin typeface="Calibri"/>
              <a:ea typeface="Calibri"/>
              <a:cs typeface="Calibri"/>
              <a:sym typeface="Calibri"/>
            </a:endParaRPr>
          </a:p>
        </p:txBody>
      </p:sp>
      <p:sp>
        <p:nvSpPr>
          <p:cNvPr id="870" name="Google Shape;870;p23"/>
          <p:cNvSpPr txBox="1"/>
          <p:nvPr/>
        </p:nvSpPr>
        <p:spPr>
          <a:xfrm>
            <a:off x="3410712" y="2523744"/>
            <a:ext cx="2322576"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CATCHES</a:t>
            </a:r>
            <a:endParaRPr b="0" i="0" sz="750" u="none" cap="none" strike="noStrike">
              <a:solidFill>
                <a:schemeClr val="dk1"/>
              </a:solidFill>
              <a:latin typeface="Calibri"/>
              <a:ea typeface="Calibri"/>
              <a:cs typeface="Calibri"/>
              <a:sym typeface="Calibri"/>
            </a:endParaRPr>
          </a:p>
        </p:txBody>
      </p:sp>
      <p:sp>
        <p:nvSpPr>
          <p:cNvPr id="871" name="Google Shape;871;p23"/>
          <p:cNvSpPr txBox="1"/>
          <p:nvPr/>
        </p:nvSpPr>
        <p:spPr>
          <a:xfrm>
            <a:off x="3410712" y="2688336"/>
            <a:ext cx="2322576"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plausible-but-wrong code — the killer failure mode</a:t>
            </a:r>
            <a:endParaRPr b="0" i="0" sz="950" u="none" cap="none" strike="noStrike">
              <a:solidFill>
                <a:schemeClr val="dk1"/>
              </a:solidFill>
              <a:latin typeface="Calibri"/>
              <a:ea typeface="Calibri"/>
              <a:cs typeface="Calibri"/>
              <a:sym typeface="Calibri"/>
            </a:endParaRPr>
          </a:p>
        </p:txBody>
      </p:sp>
      <p:sp>
        <p:nvSpPr>
          <p:cNvPr id="872" name="Google Shape;872;p23"/>
          <p:cNvSpPr txBox="1"/>
          <p:nvPr/>
        </p:nvSpPr>
        <p:spPr>
          <a:xfrm>
            <a:off x="3410712" y="3090672"/>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1" lang="en-US" sz="900" u="none" cap="none" strike="noStrike">
                <a:solidFill>
                  <a:srgbClr val="BBA9DE"/>
                </a:solidFill>
                <a:latin typeface="Calibri"/>
                <a:ea typeface="Calibri"/>
                <a:cs typeface="Calibri"/>
                <a:sym typeface="Calibri"/>
              </a:rPr>
              <a:t>Flip the refund cap → the file still parses; this catches it</a:t>
            </a:r>
            <a:endParaRPr b="0" i="0" sz="900" u="none" cap="none" strike="noStrike">
              <a:solidFill>
                <a:schemeClr val="dk1"/>
              </a:solidFill>
              <a:latin typeface="Calibri"/>
              <a:ea typeface="Calibri"/>
              <a:cs typeface="Calibri"/>
              <a:sym typeface="Calibri"/>
            </a:endParaRPr>
          </a:p>
        </p:txBody>
      </p:sp>
      <p:cxnSp>
        <p:nvCxnSpPr>
          <p:cNvPr id="873" name="Google Shape;873;p23"/>
          <p:cNvCxnSpPr/>
          <p:nvPr/>
        </p:nvCxnSpPr>
        <p:spPr>
          <a:xfrm>
            <a:off x="5897880" y="2322576"/>
            <a:ext cx="109728" cy="914"/>
          </a:xfrm>
          <a:prstGeom prst="straightConnector1">
            <a:avLst/>
          </a:prstGeom>
          <a:noFill/>
          <a:ln cap="flat" cmpd="sng" w="19050">
            <a:solidFill>
              <a:srgbClr val="5B4386"/>
            </a:solidFill>
            <a:prstDash val="solid"/>
            <a:round/>
            <a:headEnd len="sm" w="sm" type="none"/>
            <a:tailEnd len="med" w="med" type="triangle"/>
          </a:ln>
        </p:spPr>
      </p:cxnSp>
      <p:sp>
        <p:nvSpPr>
          <p:cNvPr id="874" name="Google Shape;874;p23"/>
          <p:cNvSpPr/>
          <p:nvPr/>
        </p:nvSpPr>
        <p:spPr>
          <a:xfrm>
            <a:off x="6025896" y="1133856"/>
            <a:ext cx="2615184" cy="2395728"/>
          </a:xfrm>
          <a:prstGeom prst="roundRect">
            <a:avLst>
              <a:gd fmla="val 343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3"/>
          <p:cNvSpPr/>
          <p:nvPr/>
        </p:nvSpPr>
        <p:spPr>
          <a:xfrm>
            <a:off x="6172200" y="1280160"/>
            <a:ext cx="420624" cy="420624"/>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23"/>
          <p:cNvSpPr txBox="1"/>
          <p:nvPr/>
        </p:nvSpPr>
        <p:spPr>
          <a:xfrm>
            <a:off x="6172200" y="1280160"/>
            <a:ext cx="420624" cy="42062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ourier New"/>
              <a:buNone/>
            </a:pPr>
            <a:r>
              <a:rPr b="1" i="0" lang="en-US" sz="1700" u="none" cap="none" strike="noStrike">
                <a:solidFill>
                  <a:srgbClr val="2A1B3D"/>
                </a:solidFill>
                <a:latin typeface="Courier New"/>
                <a:ea typeface="Courier New"/>
                <a:cs typeface="Courier New"/>
                <a:sym typeface="Courier New"/>
              </a:rPr>
              <a:t>3</a:t>
            </a:r>
            <a:endParaRPr b="0" i="0" sz="1700" u="none" cap="none" strike="noStrike">
              <a:solidFill>
                <a:schemeClr val="dk1"/>
              </a:solidFill>
              <a:latin typeface="Calibri"/>
              <a:ea typeface="Calibri"/>
              <a:cs typeface="Calibri"/>
              <a:sym typeface="Calibri"/>
            </a:endParaRPr>
          </a:p>
        </p:txBody>
      </p:sp>
      <p:sp>
        <p:nvSpPr>
          <p:cNvPr id="877" name="Google Shape;877;p23"/>
          <p:cNvSpPr txBox="1"/>
          <p:nvPr/>
        </p:nvSpPr>
        <p:spPr>
          <a:xfrm>
            <a:off x="6684264" y="1335024"/>
            <a:ext cx="181051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Gate 3 · Quality</a:t>
            </a:r>
            <a:endParaRPr b="0" i="0" sz="1500" u="none" cap="none" strike="noStrike">
              <a:solidFill>
                <a:schemeClr val="dk1"/>
              </a:solidFill>
              <a:latin typeface="Calibri"/>
              <a:ea typeface="Calibri"/>
              <a:cs typeface="Calibri"/>
              <a:sym typeface="Calibri"/>
            </a:endParaRPr>
          </a:p>
        </p:txBody>
      </p:sp>
      <p:sp>
        <p:nvSpPr>
          <p:cNvPr id="878" name="Google Shape;878;p23"/>
          <p:cNvSpPr/>
          <p:nvPr/>
        </p:nvSpPr>
        <p:spPr>
          <a:xfrm>
            <a:off x="6172200" y="1810512"/>
            <a:ext cx="2322576" cy="329184"/>
          </a:xfrm>
          <a:prstGeom prst="roundRect">
            <a:avLst>
              <a:gd fmla="val 19444"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23"/>
          <p:cNvSpPr txBox="1"/>
          <p:nvPr/>
        </p:nvSpPr>
        <p:spPr>
          <a:xfrm>
            <a:off x="6300216" y="1911096"/>
            <a:ext cx="2066544" cy="1737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radon cc -j  ·  Δ avg complexity</a:t>
            </a:r>
            <a:endParaRPr b="0" i="0" sz="800" u="none" cap="none" strike="noStrike">
              <a:solidFill>
                <a:schemeClr val="dk1"/>
              </a:solidFill>
              <a:latin typeface="Calibri"/>
              <a:ea typeface="Calibri"/>
              <a:cs typeface="Calibri"/>
              <a:sym typeface="Calibri"/>
            </a:endParaRPr>
          </a:p>
        </p:txBody>
      </p:sp>
      <p:sp>
        <p:nvSpPr>
          <p:cNvPr id="880" name="Google Shape;880;p23"/>
          <p:cNvSpPr/>
          <p:nvPr/>
        </p:nvSpPr>
        <p:spPr>
          <a:xfrm>
            <a:off x="6172200" y="2231136"/>
            <a:ext cx="868680" cy="219456"/>
          </a:xfrm>
          <a:prstGeom prst="roundRect">
            <a:avLst>
              <a:gd fmla="val 25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23"/>
          <p:cNvSpPr txBox="1"/>
          <p:nvPr/>
        </p:nvSpPr>
        <p:spPr>
          <a:xfrm>
            <a:off x="6172200" y="2231136"/>
            <a:ext cx="86868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~0.1 s</a:t>
            </a:r>
            <a:endParaRPr b="0" i="0" sz="800" u="none" cap="none" strike="noStrike">
              <a:solidFill>
                <a:schemeClr val="dk1"/>
              </a:solidFill>
              <a:latin typeface="Calibri"/>
              <a:ea typeface="Calibri"/>
              <a:cs typeface="Calibri"/>
              <a:sym typeface="Calibri"/>
            </a:endParaRPr>
          </a:p>
        </p:txBody>
      </p:sp>
      <p:sp>
        <p:nvSpPr>
          <p:cNvPr id="882" name="Google Shape;882;p23"/>
          <p:cNvSpPr txBox="1"/>
          <p:nvPr/>
        </p:nvSpPr>
        <p:spPr>
          <a:xfrm>
            <a:off x="6172200" y="2523744"/>
            <a:ext cx="2322576"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CATCHES</a:t>
            </a:r>
            <a:endParaRPr b="0" i="0" sz="750" u="none" cap="none" strike="noStrike">
              <a:solidFill>
                <a:schemeClr val="dk1"/>
              </a:solidFill>
              <a:latin typeface="Calibri"/>
              <a:ea typeface="Calibri"/>
              <a:cs typeface="Calibri"/>
              <a:sym typeface="Calibri"/>
            </a:endParaRPr>
          </a:p>
        </p:txBody>
      </p:sp>
      <p:sp>
        <p:nvSpPr>
          <p:cNvPr id="883" name="Google Shape;883;p23"/>
          <p:cNvSpPr txBox="1"/>
          <p:nvPr/>
        </p:nvSpPr>
        <p:spPr>
          <a:xfrm>
            <a:off x="6172200" y="2688336"/>
            <a:ext cx="2322576"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“fixes” that made the code harder to test</a:t>
            </a:r>
            <a:endParaRPr b="0" i="0" sz="950" u="none" cap="none" strike="noStrike">
              <a:solidFill>
                <a:schemeClr val="dk1"/>
              </a:solidFill>
              <a:latin typeface="Calibri"/>
              <a:ea typeface="Calibri"/>
              <a:cs typeface="Calibri"/>
              <a:sym typeface="Calibri"/>
            </a:endParaRPr>
          </a:p>
        </p:txBody>
      </p:sp>
      <p:sp>
        <p:nvSpPr>
          <p:cNvPr id="884" name="Google Shape;884;p23"/>
          <p:cNvSpPr txBox="1"/>
          <p:nvPr/>
        </p:nvSpPr>
        <p:spPr>
          <a:xfrm>
            <a:off x="6172200" y="3090672"/>
            <a:ext cx="2322576"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1" lang="en-US" sz="900" u="none" cap="none" strike="noStrike">
                <a:solidFill>
                  <a:srgbClr val="BBA9DE"/>
                </a:solidFill>
                <a:latin typeface="Calibri"/>
                <a:ea typeface="Calibri"/>
                <a:cs typeface="Calibri"/>
                <a:sym typeface="Calibri"/>
              </a:rPr>
              <a:t>Add more nested ifs → CC went up, patch held</a:t>
            </a:r>
            <a:endParaRPr b="0" i="0" sz="900" u="none" cap="none" strike="noStrike">
              <a:solidFill>
                <a:schemeClr val="dk1"/>
              </a:solidFill>
              <a:latin typeface="Calibri"/>
              <a:ea typeface="Calibri"/>
              <a:cs typeface="Calibri"/>
              <a:sym typeface="Calibri"/>
            </a:endParaRPr>
          </a:p>
        </p:txBody>
      </p:sp>
      <p:sp>
        <p:nvSpPr>
          <p:cNvPr id="885" name="Google Shape;885;p23"/>
          <p:cNvSpPr/>
          <p:nvPr/>
        </p:nvSpPr>
        <p:spPr>
          <a:xfrm>
            <a:off x="502920" y="3675888"/>
            <a:ext cx="3977640" cy="932688"/>
          </a:xfrm>
          <a:prstGeom prst="roundRect">
            <a:avLst>
              <a:gd fmla="val 8824"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3"/>
          <p:cNvSpPr txBox="1"/>
          <p:nvPr/>
        </p:nvSpPr>
        <p:spPr>
          <a:xfrm>
            <a:off x="667512" y="3767328"/>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HOW GATE 2 STAYS HONEST</a:t>
            </a:r>
            <a:endParaRPr b="0" i="0" sz="800" u="none" cap="none" strike="noStrike">
              <a:solidFill>
                <a:schemeClr val="dk1"/>
              </a:solidFill>
              <a:latin typeface="Calibri"/>
              <a:ea typeface="Calibri"/>
              <a:cs typeface="Calibri"/>
              <a:sym typeface="Calibri"/>
            </a:endParaRPr>
          </a:p>
        </p:txBody>
      </p:sp>
      <p:sp>
        <p:nvSpPr>
          <p:cNvPr id="887" name="Google Shape;887;p23"/>
          <p:cNvSpPr txBox="1"/>
          <p:nvPr/>
        </p:nvSpPr>
        <p:spPr>
          <a:xfrm>
            <a:off x="667512" y="3968496"/>
            <a:ext cx="36576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Copy the PayFlow folder into a temp dir → overlay only checkout.py with the candidate → copy the test file in → run pytest with PYTHONPATH pointing at that sandbox. Your working tree is never touched.</a:t>
            </a:r>
            <a:endParaRPr b="0" i="0" sz="950" u="none" cap="none" strike="noStrike">
              <a:solidFill>
                <a:schemeClr val="dk1"/>
              </a:solidFill>
              <a:latin typeface="Calibri"/>
              <a:ea typeface="Calibri"/>
              <a:cs typeface="Calibri"/>
              <a:sym typeface="Calibri"/>
            </a:endParaRPr>
          </a:p>
        </p:txBody>
      </p:sp>
      <p:sp>
        <p:nvSpPr>
          <p:cNvPr id="888" name="Google Shape;888;p23"/>
          <p:cNvSpPr/>
          <p:nvPr/>
        </p:nvSpPr>
        <p:spPr>
          <a:xfrm>
            <a:off x="4663440" y="3675888"/>
            <a:ext cx="3977640" cy="932688"/>
          </a:xfrm>
          <a:prstGeom prst="roundRect">
            <a:avLst>
              <a:gd fmla="val 8824" name="adj"/>
            </a:avLst>
          </a:prstGeom>
          <a:solidFill>
            <a:srgbClr val="1E1230"/>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23"/>
          <p:cNvSpPr txBox="1"/>
          <p:nvPr/>
        </p:nvSpPr>
        <p:spPr>
          <a:xfrm>
            <a:off x="4828032" y="3767328"/>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CHEAPEST GATE FIRST</a:t>
            </a:r>
            <a:endParaRPr b="0" i="0" sz="800" u="none" cap="none" strike="noStrike">
              <a:solidFill>
                <a:schemeClr val="dk1"/>
              </a:solidFill>
              <a:latin typeface="Calibri"/>
              <a:ea typeface="Calibri"/>
              <a:cs typeface="Calibri"/>
              <a:sym typeface="Calibri"/>
            </a:endParaRPr>
          </a:p>
        </p:txBody>
      </p:sp>
      <p:sp>
        <p:nvSpPr>
          <p:cNvPr id="890" name="Google Shape;890;p23"/>
          <p:cNvSpPr txBox="1"/>
          <p:nvPr/>
        </p:nvSpPr>
        <p:spPr>
          <a:xfrm>
            <a:off x="4828032" y="3968496"/>
            <a:ext cx="36576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Fail fast, spend compute only on survivors. And note the ordering is not arbitrary: gate 3 only means anything on code that already passes gate 2 — complexity on broken code is a meaningless number.</a:t>
            </a:r>
            <a:endParaRPr b="0" i="0" sz="950" u="none" cap="none" strike="noStrike">
              <a:solidFill>
                <a:schemeClr val="dk1"/>
              </a:solidFill>
              <a:latin typeface="Calibri"/>
              <a:ea typeface="Calibri"/>
              <a:cs typeface="Calibri"/>
              <a:sym typeface="Calibri"/>
            </a:endParaRPr>
          </a:p>
        </p:txBody>
      </p:sp>
      <p:sp>
        <p:nvSpPr>
          <p:cNvPr id="891" name="Google Shape;891;p23"/>
          <p:cNvSpPr txBox="1"/>
          <p:nvPr/>
        </p:nvSpPr>
        <p:spPr>
          <a:xfrm>
            <a:off x="649199" y="4608573"/>
            <a:ext cx="7845600" cy="40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100"/>
              <a:buFont typeface="Calibri"/>
              <a:buNone/>
            </a:pPr>
            <a:r>
              <a:rPr b="0" i="1" lang="en-US" sz="1100" u="none" cap="none" strike="noStrike">
                <a:solidFill>
                  <a:srgbClr val="E9DFFF"/>
                </a:solidFill>
                <a:latin typeface="Calibri"/>
                <a:ea typeface="Calibri"/>
                <a:cs typeface="Calibri"/>
                <a:sym typeface="Calibri"/>
              </a:rPr>
              <a:t>The tests were written BEFORE any agent ran. They are the contract — not a scorecard the model gets to negotiate with.</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896" name="Shape 896"/>
        <p:cNvGrpSpPr/>
        <p:nvPr/>
      </p:nvGrpSpPr>
      <p:grpSpPr>
        <a:xfrm>
          <a:off x="0" y="0"/>
          <a:ext cx="0" cy="0"/>
          <a:chOff x="0" y="0"/>
          <a:chExt cx="0" cy="0"/>
        </a:xfrm>
      </p:grpSpPr>
      <p:sp>
        <p:nvSpPr>
          <p:cNvPr id="897" name="Google Shape;897;p24"/>
          <p:cNvSpPr txBox="1"/>
          <p:nvPr/>
        </p:nvSpPr>
        <p:spPr>
          <a:xfrm>
            <a:off x="502920" y="235895"/>
            <a:ext cx="81381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§2.6 · INTERACTIVE · THE FAILURE LAB</a:t>
            </a:r>
            <a:endParaRPr b="0" i="0" sz="1050" u="none" cap="none" strike="noStrike">
              <a:solidFill>
                <a:schemeClr val="dk1"/>
              </a:solidFill>
              <a:latin typeface="Calibri"/>
              <a:ea typeface="Calibri"/>
              <a:cs typeface="Calibri"/>
              <a:sym typeface="Calibri"/>
            </a:endParaRPr>
          </a:p>
        </p:txBody>
      </p:sp>
      <p:sp>
        <p:nvSpPr>
          <p:cNvPr id="898" name="Google Shape;898;p24"/>
          <p:cNvSpPr txBox="1"/>
          <p:nvPr/>
        </p:nvSpPr>
        <p:spPr>
          <a:xfrm>
            <a:off x="502920" y="530352"/>
            <a:ext cx="81381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mbria"/>
              <a:buNone/>
            </a:pPr>
            <a:r>
              <a:rPr b="1" i="0" lang="en-US" sz="2300" u="none" cap="none" strike="noStrike">
                <a:solidFill>
                  <a:srgbClr val="FFFFFF"/>
                </a:solidFill>
                <a:latin typeface="Cambria"/>
                <a:ea typeface="Cambria"/>
                <a:cs typeface="Cambria"/>
                <a:sym typeface="Cambria"/>
              </a:rPr>
              <a:t>A PR titled “simplify refund check” — the diff is one character</a:t>
            </a:r>
            <a:endParaRPr b="0" i="0" sz="2300" u="none" cap="none" strike="noStrike">
              <a:solidFill>
                <a:schemeClr val="dk1"/>
              </a:solidFill>
              <a:latin typeface="Calibri"/>
              <a:ea typeface="Calibri"/>
              <a:cs typeface="Calibri"/>
              <a:sym typeface="Calibri"/>
            </a:endParaRPr>
          </a:p>
        </p:txBody>
      </p:sp>
      <p:sp>
        <p:nvSpPr>
          <p:cNvPr id="899" name="Google Shape;899;p24">
            <a:hlinkClick action="ppaction://hlinksldjump" r:id="rId3"/>
          </p:cNvPr>
          <p:cNvSpPr txBox="1"/>
          <p:nvPr/>
        </p:nvSpPr>
        <p:spPr>
          <a:xfrm>
            <a:off x="7635240" y="274320"/>
            <a:ext cx="1005900" cy="237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900" name="Google Shape;900;p24"/>
          <p:cNvSpPr/>
          <p:nvPr/>
        </p:nvSpPr>
        <p:spPr>
          <a:xfrm>
            <a:off x="502920" y="1133856"/>
            <a:ext cx="8138100" cy="786300"/>
          </a:xfrm>
          <a:prstGeom prst="roundRect">
            <a:avLst>
              <a:gd fmla="val 10465" name="adj"/>
            </a:avLst>
          </a:prstGeom>
          <a:solidFill>
            <a:srgbClr val="1E1230"/>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24"/>
          <p:cNvSpPr/>
          <p:nvPr/>
        </p:nvSpPr>
        <p:spPr>
          <a:xfrm>
            <a:off x="704088" y="1316736"/>
            <a:ext cx="420600" cy="420600"/>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4"/>
          <p:cNvSpPr txBox="1"/>
          <p:nvPr/>
        </p:nvSpPr>
        <p:spPr>
          <a:xfrm>
            <a:off x="704088" y="1316736"/>
            <a:ext cx="420600" cy="420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alibri"/>
              <a:buNone/>
            </a:pPr>
            <a:r>
              <a:rPr b="1" i="0" lang="en-US" sz="1700" u="none" cap="none" strike="noStrike">
                <a:solidFill>
                  <a:srgbClr val="2A1B3D"/>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03" name="Google Shape;903;p24"/>
          <p:cNvSpPr txBox="1"/>
          <p:nvPr/>
        </p:nvSpPr>
        <p:spPr>
          <a:xfrm>
            <a:off x="1289304" y="1261872"/>
            <a:ext cx="45720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950"/>
              <a:buFont typeface="Courier New"/>
              <a:buNone/>
            </a:pPr>
            <a:r>
              <a:rPr b="0" i="0" lang="en-US" sz="950" u="none" cap="none" strike="noStrike">
                <a:solidFill>
                  <a:srgbClr val="FBBF24"/>
                </a:solidFill>
                <a:latin typeface="Courier New"/>
                <a:ea typeface="Courier New"/>
                <a:cs typeface="Courier New"/>
                <a:sym typeface="Courier New"/>
              </a:rPr>
              <a:t>TRY IT — PREDICT, THEN RUN THE CELL</a:t>
            </a:r>
            <a:endParaRPr b="0" i="0" sz="950" u="none" cap="none" strike="noStrike">
              <a:solidFill>
                <a:schemeClr val="dk1"/>
              </a:solidFill>
              <a:latin typeface="Calibri"/>
              <a:ea typeface="Calibri"/>
              <a:cs typeface="Calibri"/>
              <a:sym typeface="Calibri"/>
            </a:endParaRPr>
          </a:p>
        </p:txBody>
      </p:sp>
      <p:sp>
        <p:nvSpPr>
          <p:cNvPr id="904" name="Google Shape;904;p24"/>
          <p:cNvSpPr txBox="1"/>
          <p:nvPr/>
        </p:nvSpPr>
        <p:spPr>
          <a:xfrm>
            <a:off x="1289304" y="1481328"/>
            <a:ext cx="71322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200"/>
              <a:buFont typeface="Calibri"/>
              <a:buNone/>
            </a:pPr>
            <a:r>
              <a:rPr b="0" i="0" lang="en-US" sz="1200" u="none" cap="none" strike="noStrike">
                <a:solidFill>
                  <a:srgbClr val="D8CDEE"/>
                </a:solidFill>
                <a:latin typeface="Calibri"/>
                <a:ea typeface="Calibri"/>
                <a:cs typeface="Calibri"/>
                <a:sym typeface="Calibri"/>
              </a:rPr>
              <a:t>Which gate catches this — and would a human reviewer have caught it in a 40-file PR?</a:t>
            </a:r>
            <a:endParaRPr b="0" i="0" sz="1200" u="none" cap="none" strike="noStrike">
              <a:solidFill>
                <a:schemeClr val="dk1"/>
              </a:solidFill>
              <a:latin typeface="Calibri"/>
              <a:ea typeface="Calibri"/>
              <a:cs typeface="Calibri"/>
              <a:sym typeface="Calibri"/>
            </a:endParaRPr>
          </a:p>
        </p:txBody>
      </p:sp>
      <p:sp>
        <p:nvSpPr>
          <p:cNvPr id="905" name="Google Shape;905;p24"/>
          <p:cNvSpPr/>
          <p:nvPr/>
        </p:nvSpPr>
        <p:spPr>
          <a:xfrm>
            <a:off x="502920" y="2066544"/>
            <a:ext cx="4892100" cy="1280100"/>
          </a:xfrm>
          <a:prstGeom prst="roundRect">
            <a:avLst>
              <a:gd fmla="val 5000"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24"/>
          <p:cNvSpPr txBox="1"/>
          <p:nvPr/>
        </p:nvSpPr>
        <p:spPr>
          <a:xfrm>
            <a:off x="630936" y="2167128"/>
            <a:ext cx="4635900" cy="16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 the load-bearing line in apply_refund</a:t>
            </a:r>
            <a:endParaRPr b="0" i="0" sz="800" u="none" cap="none" strike="noStrike">
              <a:solidFill>
                <a:schemeClr val="dk1"/>
              </a:solidFill>
              <a:latin typeface="Calibri"/>
              <a:ea typeface="Calibri"/>
              <a:cs typeface="Calibri"/>
              <a:sym typeface="Calibri"/>
            </a:endParaRPr>
          </a:p>
        </p:txBody>
      </p:sp>
      <p:sp>
        <p:nvSpPr>
          <p:cNvPr id="907" name="Google Shape;907;p24"/>
          <p:cNvSpPr txBox="1"/>
          <p:nvPr/>
        </p:nvSpPr>
        <p:spPr>
          <a:xfrm>
            <a:off x="630936" y="2329891"/>
            <a:ext cx="4635900" cy="16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if invoice.amount_refunded_cents + refund_cents</a:t>
            </a:r>
            <a:endParaRPr b="0" i="0" sz="800" u="none" cap="none" strike="noStrike">
              <a:solidFill>
                <a:schemeClr val="dk1"/>
              </a:solidFill>
              <a:latin typeface="Calibri"/>
              <a:ea typeface="Calibri"/>
              <a:cs typeface="Calibri"/>
              <a:sym typeface="Calibri"/>
            </a:endParaRPr>
          </a:p>
        </p:txBody>
      </p:sp>
      <p:sp>
        <p:nvSpPr>
          <p:cNvPr id="908" name="Google Shape;908;p24"/>
          <p:cNvSpPr txBox="1"/>
          <p:nvPr/>
        </p:nvSpPr>
        <p:spPr>
          <a:xfrm>
            <a:off x="630936" y="2492654"/>
            <a:ext cx="4635900" cy="16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        &gt; invoice.amount_paid_cents:</a:t>
            </a:r>
            <a:endParaRPr b="0" i="0" sz="800" u="none" cap="none" strike="noStrike">
              <a:solidFill>
                <a:schemeClr val="dk1"/>
              </a:solidFill>
              <a:latin typeface="Calibri"/>
              <a:ea typeface="Calibri"/>
              <a:cs typeface="Calibri"/>
              <a:sym typeface="Calibri"/>
            </a:endParaRPr>
          </a:p>
        </p:txBody>
      </p:sp>
      <p:sp>
        <p:nvSpPr>
          <p:cNvPr id="909" name="Google Shape;909;p24"/>
          <p:cNvSpPr txBox="1"/>
          <p:nvPr/>
        </p:nvSpPr>
        <p:spPr>
          <a:xfrm>
            <a:off x="630936" y="2655418"/>
            <a:ext cx="4635900" cy="16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    raise ValueError("refund exceeds amount paid")</a:t>
            </a:r>
            <a:endParaRPr b="0" i="0" sz="800" u="none" cap="none" strike="noStrike">
              <a:solidFill>
                <a:schemeClr val="dk1"/>
              </a:solidFill>
              <a:latin typeface="Calibri"/>
              <a:ea typeface="Calibri"/>
              <a:cs typeface="Calibri"/>
              <a:sym typeface="Calibri"/>
            </a:endParaRPr>
          </a:p>
        </p:txBody>
      </p:sp>
      <p:sp>
        <p:nvSpPr>
          <p:cNvPr id="910" name="Google Shape;910;p24"/>
          <p:cNvSpPr txBox="1"/>
          <p:nvPr/>
        </p:nvSpPr>
        <p:spPr>
          <a:xfrm>
            <a:off x="630936" y="2818181"/>
            <a:ext cx="4635900" cy="16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p:txBody>
      </p:sp>
      <p:sp>
        <p:nvSpPr>
          <p:cNvPr id="911" name="Google Shape;911;p24"/>
          <p:cNvSpPr txBox="1"/>
          <p:nvPr/>
        </p:nvSpPr>
        <p:spPr>
          <a:xfrm>
            <a:off x="630936" y="2980944"/>
            <a:ext cx="4635900" cy="16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 the sabotage:  &gt;  becomes  &lt;</a:t>
            </a:r>
            <a:endParaRPr b="0" i="0" sz="800" u="none" cap="none" strike="noStrike">
              <a:solidFill>
                <a:schemeClr val="dk1"/>
              </a:solidFill>
              <a:latin typeface="Calibri"/>
              <a:ea typeface="Calibri"/>
              <a:cs typeface="Calibri"/>
              <a:sym typeface="Calibri"/>
            </a:endParaRPr>
          </a:p>
        </p:txBody>
      </p:sp>
      <p:sp>
        <p:nvSpPr>
          <p:cNvPr id="912" name="Google Shape;912;p24"/>
          <p:cNvSpPr txBox="1"/>
          <p:nvPr/>
        </p:nvSpPr>
        <p:spPr>
          <a:xfrm>
            <a:off x="630936" y="3143707"/>
            <a:ext cx="4635900" cy="16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        &lt; invoice.amount_paid_cents:</a:t>
            </a:r>
            <a:endParaRPr b="0" i="0" sz="800" u="none" cap="none" strike="noStrike">
              <a:solidFill>
                <a:schemeClr val="dk1"/>
              </a:solidFill>
              <a:latin typeface="Calibri"/>
              <a:ea typeface="Calibri"/>
              <a:cs typeface="Calibri"/>
              <a:sym typeface="Calibri"/>
            </a:endParaRPr>
          </a:p>
        </p:txBody>
      </p:sp>
      <p:sp>
        <p:nvSpPr>
          <p:cNvPr id="913" name="Google Shape;913;p24"/>
          <p:cNvSpPr/>
          <p:nvPr/>
        </p:nvSpPr>
        <p:spPr>
          <a:xfrm>
            <a:off x="5541264" y="2066544"/>
            <a:ext cx="3099900" cy="1280100"/>
          </a:xfrm>
          <a:prstGeom prst="roundRect">
            <a:avLst>
              <a:gd fmla="val 6429" name="adj"/>
            </a:avLst>
          </a:prstGeom>
          <a:solidFill>
            <a:srgbClr val="3D2A5C"/>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24"/>
          <p:cNvSpPr txBox="1"/>
          <p:nvPr/>
        </p:nvSpPr>
        <p:spPr>
          <a:xfrm>
            <a:off x="5705856" y="2157984"/>
            <a:ext cx="278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WHAT THIS SHIPS</a:t>
            </a:r>
            <a:endParaRPr b="0" i="0" sz="800" u="none" cap="none" strike="noStrike">
              <a:solidFill>
                <a:schemeClr val="dk1"/>
              </a:solidFill>
              <a:latin typeface="Calibri"/>
              <a:ea typeface="Calibri"/>
              <a:cs typeface="Calibri"/>
              <a:sym typeface="Calibri"/>
            </a:endParaRPr>
          </a:p>
        </p:txBody>
      </p:sp>
      <p:sp>
        <p:nvSpPr>
          <p:cNvPr id="915" name="Google Shape;915;p24"/>
          <p:cNvSpPr txBox="1"/>
          <p:nvPr/>
        </p:nvSpPr>
        <p:spPr>
          <a:xfrm>
            <a:off x="5705856" y="2359152"/>
            <a:ext cx="2788800" cy="896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Customers can be refunded more than they paid.</a:t>
            </a:r>
            <a:br>
              <a:rPr b="0" i="0" lang="en-US" sz="1000" u="none" cap="none" strike="noStrike">
                <a:solidFill>
                  <a:srgbClr val="D8CDEE"/>
                </a:solidFill>
                <a:latin typeface="Calibri"/>
                <a:ea typeface="Calibri"/>
                <a:cs typeface="Calibri"/>
                <a:sym typeface="Calibri"/>
              </a:rPr>
            </a:br>
            <a:br>
              <a:rPr b="0" i="0" lang="en-US" sz="1000" u="none" cap="none" strike="noStrike">
                <a:solidFill>
                  <a:srgbClr val="D8CDEE"/>
                </a:solidFill>
                <a:latin typeface="Calibri"/>
                <a:ea typeface="Calibri"/>
                <a:cs typeface="Calibri"/>
                <a:sym typeface="Calibri"/>
              </a:rPr>
            </a:br>
            <a:r>
              <a:rPr b="0" i="0" lang="en-US" sz="1000" u="none" cap="none" strike="noStrike">
                <a:solidFill>
                  <a:srgbClr val="BBA9DE"/>
                </a:solidFill>
                <a:latin typeface="Calibri"/>
                <a:ea typeface="Calibri"/>
                <a:cs typeface="Calibri"/>
                <a:sym typeface="Calibri"/>
              </a:rPr>
              <a:t>The file still parses. radon may even look fine — complexity is unchanged. Nothing about the shape of the code is wrong.</a:t>
            </a:r>
            <a:endParaRPr b="0" i="0" sz="1000" u="none" cap="none" strike="noStrike">
              <a:solidFill>
                <a:schemeClr val="dk1"/>
              </a:solidFill>
              <a:latin typeface="Calibri"/>
              <a:ea typeface="Calibri"/>
              <a:cs typeface="Calibri"/>
              <a:sym typeface="Calibri"/>
            </a:endParaRPr>
          </a:p>
        </p:txBody>
      </p:sp>
      <p:sp>
        <p:nvSpPr>
          <p:cNvPr id="916" name="Google Shape;916;p24"/>
          <p:cNvSpPr/>
          <p:nvPr/>
        </p:nvSpPr>
        <p:spPr>
          <a:xfrm>
            <a:off x="502920" y="3493008"/>
            <a:ext cx="1924800" cy="841200"/>
          </a:xfrm>
          <a:prstGeom prst="roundRect">
            <a:avLst>
              <a:gd fmla="val 9783"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24"/>
          <p:cNvSpPr/>
          <p:nvPr/>
        </p:nvSpPr>
        <p:spPr>
          <a:xfrm>
            <a:off x="630936" y="3621024"/>
            <a:ext cx="274200" cy="274200"/>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24"/>
          <p:cNvSpPr txBox="1"/>
          <p:nvPr/>
        </p:nvSpPr>
        <p:spPr>
          <a:xfrm>
            <a:off x="630936" y="3621024"/>
            <a:ext cx="274200" cy="274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100"/>
              <a:buFont typeface="Courier New"/>
              <a:buNone/>
            </a:pPr>
            <a:r>
              <a:rPr b="1" i="0" lang="en-US" sz="1100" u="none" cap="none" strike="noStrike">
                <a:solidFill>
                  <a:srgbClr val="2A1B3D"/>
                </a:solidFill>
                <a:latin typeface="Courier New"/>
                <a:ea typeface="Courier New"/>
                <a:cs typeface="Courier New"/>
                <a:sym typeface="Courier New"/>
              </a:rPr>
              <a:t>A</a:t>
            </a:r>
            <a:endParaRPr b="0" i="0" sz="1100" u="none" cap="none" strike="noStrike">
              <a:solidFill>
                <a:schemeClr val="dk1"/>
              </a:solidFill>
              <a:latin typeface="Calibri"/>
              <a:ea typeface="Calibri"/>
              <a:cs typeface="Calibri"/>
              <a:sym typeface="Calibri"/>
            </a:endParaRPr>
          </a:p>
        </p:txBody>
      </p:sp>
      <p:sp>
        <p:nvSpPr>
          <p:cNvPr id="919" name="Google Shape;919;p24"/>
          <p:cNvSpPr txBox="1"/>
          <p:nvPr/>
        </p:nvSpPr>
        <p:spPr>
          <a:xfrm>
            <a:off x="978408" y="3602736"/>
            <a:ext cx="1321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Gate 1 — syntax</a:t>
            </a:r>
            <a:endParaRPr b="0" i="0" sz="1100" u="none" cap="none" strike="noStrike">
              <a:solidFill>
                <a:schemeClr val="dk1"/>
              </a:solidFill>
              <a:latin typeface="Calibri"/>
              <a:ea typeface="Calibri"/>
              <a:cs typeface="Calibri"/>
              <a:sym typeface="Calibri"/>
            </a:endParaRPr>
          </a:p>
        </p:txBody>
      </p:sp>
      <p:sp>
        <p:nvSpPr>
          <p:cNvPr id="920" name="Google Shape;920;p24"/>
          <p:cNvSpPr txBox="1"/>
          <p:nvPr/>
        </p:nvSpPr>
        <p:spPr>
          <a:xfrm>
            <a:off x="630936" y="3968496"/>
            <a:ext cx="1668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ast.parse rejects it</a:t>
            </a:r>
            <a:endParaRPr b="0" i="0" sz="900" u="none" cap="none" strike="noStrike">
              <a:solidFill>
                <a:schemeClr val="dk1"/>
              </a:solidFill>
              <a:latin typeface="Calibri"/>
              <a:ea typeface="Calibri"/>
              <a:cs typeface="Calibri"/>
              <a:sym typeface="Calibri"/>
            </a:endParaRPr>
          </a:p>
        </p:txBody>
      </p:sp>
      <p:sp>
        <p:nvSpPr>
          <p:cNvPr id="921" name="Google Shape;921;p24"/>
          <p:cNvSpPr/>
          <p:nvPr/>
        </p:nvSpPr>
        <p:spPr>
          <a:xfrm>
            <a:off x="2574036" y="3493008"/>
            <a:ext cx="1924800" cy="841200"/>
          </a:xfrm>
          <a:prstGeom prst="roundRect">
            <a:avLst>
              <a:gd fmla="val 9783"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4"/>
          <p:cNvSpPr/>
          <p:nvPr/>
        </p:nvSpPr>
        <p:spPr>
          <a:xfrm>
            <a:off x="2702052" y="3621024"/>
            <a:ext cx="274200" cy="274200"/>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24"/>
          <p:cNvSpPr txBox="1"/>
          <p:nvPr/>
        </p:nvSpPr>
        <p:spPr>
          <a:xfrm>
            <a:off x="2702052" y="3621024"/>
            <a:ext cx="274200" cy="274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100"/>
              <a:buFont typeface="Courier New"/>
              <a:buNone/>
            </a:pPr>
            <a:r>
              <a:rPr b="1" i="0" lang="en-US" sz="1100" u="none" cap="none" strike="noStrike">
                <a:solidFill>
                  <a:srgbClr val="2A1B3D"/>
                </a:solidFill>
                <a:latin typeface="Courier New"/>
                <a:ea typeface="Courier New"/>
                <a:cs typeface="Courier New"/>
                <a:sym typeface="Courier New"/>
              </a:rPr>
              <a:t>B</a:t>
            </a:r>
            <a:endParaRPr b="0" i="0" sz="1100" u="none" cap="none" strike="noStrike">
              <a:solidFill>
                <a:schemeClr val="dk1"/>
              </a:solidFill>
              <a:latin typeface="Calibri"/>
              <a:ea typeface="Calibri"/>
              <a:cs typeface="Calibri"/>
              <a:sym typeface="Calibri"/>
            </a:endParaRPr>
          </a:p>
        </p:txBody>
      </p:sp>
      <p:sp>
        <p:nvSpPr>
          <p:cNvPr id="924" name="Google Shape;924;p24"/>
          <p:cNvSpPr txBox="1"/>
          <p:nvPr/>
        </p:nvSpPr>
        <p:spPr>
          <a:xfrm>
            <a:off x="3049524" y="3602736"/>
            <a:ext cx="1321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Gate 2 — tests</a:t>
            </a:r>
            <a:endParaRPr b="0" i="0" sz="1100" u="none" cap="none" strike="noStrike">
              <a:solidFill>
                <a:schemeClr val="dk1"/>
              </a:solidFill>
              <a:latin typeface="Calibri"/>
              <a:ea typeface="Calibri"/>
              <a:cs typeface="Calibri"/>
              <a:sym typeface="Calibri"/>
            </a:endParaRPr>
          </a:p>
        </p:txBody>
      </p:sp>
      <p:sp>
        <p:nvSpPr>
          <p:cNvPr id="925" name="Google Shape;925;p24"/>
          <p:cNvSpPr txBox="1"/>
          <p:nvPr/>
        </p:nvSpPr>
        <p:spPr>
          <a:xfrm>
            <a:off x="2702052" y="3968496"/>
            <a:ext cx="1668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pytest catches the behaviour</a:t>
            </a:r>
            <a:endParaRPr b="0" i="0" sz="900" u="none" cap="none" strike="noStrike">
              <a:solidFill>
                <a:schemeClr val="dk1"/>
              </a:solidFill>
              <a:latin typeface="Calibri"/>
              <a:ea typeface="Calibri"/>
              <a:cs typeface="Calibri"/>
              <a:sym typeface="Calibri"/>
            </a:endParaRPr>
          </a:p>
        </p:txBody>
      </p:sp>
      <p:sp>
        <p:nvSpPr>
          <p:cNvPr id="926" name="Google Shape;926;p24"/>
          <p:cNvSpPr/>
          <p:nvPr/>
        </p:nvSpPr>
        <p:spPr>
          <a:xfrm>
            <a:off x="4645152" y="3493008"/>
            <a:ext cx="1924800" cy="841200"/>
          </a:xfrm>
          <a:prstGeom prst="roundRect">
            <a:avLst>
              <a:gd fmla="val 9783"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24"/>
          <p:cNvSpPr/>
          <p:nvPr/>
        </p:nvSpPr>
        <p:spPr>
          <a:xfrm>
            <a:off x="4773168" y="3621024"/>
            <a:ext cx="274200" cy="274200"/>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24"/>
          <p:cNvSpPr txBox="1"/>
          <p:nvPr/>
        </p:nvSpPr>
        <p:spPr>
          <a:xfrm>
            <a:off x="4773168" y="3621024"/>
            <a:ext cx="274200" cy="274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100"/>
              <a:buFont typeface="Courier New"/>
              <a:buNone/>
            </a:pPr>
            <a:r>
              <a:rPr b="1" i="0" lang="en-US" sz="1100" u="none" cap="none" strike="noStrike">
                <a:solidFill>
                  <a:srgbClr val="2A1B3D"/>
                </a:solidFill>
                <a:latin typeface="Courier New"/>
                <a:ea typeface="Courier New"/>
                <a:cs typeface="Courier New"/>
                <a:sym typeface="Courier New"/>
              </a:rPr>
              <a:t>C</a:t>
            </a:r>
            <a:endParaRPr b="0" i="0" sz="1100" u="none" cap="none" strike="noStrike">
              <a:solidFill>
                <a:schemeClr val="dk1"/>
              </a:solidFill>
              <a:latin typeface="Calibri"/>
              <a:ea typeface="Calibri"/>
              <a:cs typeface="Calibri"/>
              <a:sym typeface="Calibri"/>
            </a:endParaRPr>
          </a:p>
        </p:txBody>
      </p:sp>
      <p:sp>
        <p:nvSpPr>
          <p:cNvPr id="929" name="Google Shape;929;p24"/>
          <p:cNvSpPr txBox="1"/>
          <p:nvPr/>
        </p:nvSpPr>
        <p:spPr>
          <a:xfrm>
            <a:off x="5120640" y="3602736"/>
            <a:ext cx="1321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Gate 3 — complexity</a:t>
            </a:r>
            <a:endParaRPr b="0" i="0" sz="1100" u="none" cap="none" strike="noStrike">
              <a:solidFill>
                <a:schemeClr val="dk1"/>
              </a:solidFill>
              <a:latin typeface="Calibri"/>
              <a:ea typeface="Calibri"/>
              <a:cs typeface="Calibri"/>
              <a:sym typeface="Calibri"/>
            </a:endParaRPr>
          </a:p>
        </p:txBody>
      </p:sp>
      <p:sp>
        <p:nvSpPr>
          <p:cNvPr id="930" name="Google Shape;930;p24"/>
          <p:cNvSpPr txBox="1"/>
          <p:nvPr/>
        </p:nvSpPr>
        <p:spPr>
          <a:xfrm>
            <a:off x="4773168" y="3968496"/>
            <a:ext cx="1668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radon sees it got worse</a:t>
            </a:r>
            <a:endParaRPr b="0" i="0" sz="900" u="none" cap="none" strike="noStrike">
              <a:solidFill>
                <a:schemeClr val="dk1"/>
              </a:solidFill>
              <a:latin typeface="Calibri"/>
              <a:ea typeface="Calibri"/>
              <a:cs typeface="Calibri"/>
              <a:sym typeface="Calibri"/>
            </a:endParaRPr>
          </a:p>
        </p:txBody>
      </p:sp>
      <p:sp>
        <p:nvSpPr>
          <p:cNvPr id="931" name="Google Shape;931;p24"/>
          <p:cNvSpPr/>
          <p:nvPr/>
        </p:nvSpPr>
        <p:spPr>
          <a:xfrm>
            <a:off x="6716268" y="3493008"/>
            <a:ext cx="1924800" cy="841200"/>
          </a:xfrm>
          <a:prstGeom prst="roundRect">
            <a:avLst>
              <a:gd fmla="val 9783"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24"/>
          <p:cNvSpPr/>
          <p:nvPr/>
        </p:nvSpPr>
        <p:spPr>
          <a:xfrm>
            <a:off x="6844284" y="3621024"/>
            <a:ext cx="274200" cy="274200"/>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24"/>
          <p:cNvSpPr txBox="1"/>
          <p:nvPr/>
        </p:nvSpPr>
        <p:spPr>
          <a:xfrm>
            <a:off x="6844284" y="3621024"/>
            <a:ext cx="274200" cy="274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100"/>
              <a:buFont typeface="Courier New"/>
              <a:buNone/>
            </a:pPr>
            <a:r>
              <a:rPr b="1" i="0" lang="en-US" sz="1100" u="none" cap="none" strike="noStrike">
                <a:solidFill>
                  <a:srgbClr val="2A1B3D"/>
                </a:solidFill>
                <a:latin typeface="Courier New"/>
                <a:ea typeface="Courier New"/>
                <a:cs typeface="Courier New"/>
                <a:sym typeface="Courier New"/>
              </a:rPr>
              <a:t>D</a:t>
            </a:r>
            <a:endParaRPr b="0" i="0" sz="1100" u="none" cap="none" strike="noStrike">
              <a:solidFill>
                <a:schemeClr val="dk1"/>
              </a:solidFill>
              <a:latin typeface="Calibri"/>
              <a:ea typeface="Calibri"/>
              <a:cs typeface="Calibri"/>
              <a:sym typeface="Calibri"/>
            </a:endParaRPr>
          </a:p>
        </p:txBody>
      </p:sp>
      <p:sp>
        <p:nvSpPr>
          <p:cNvPr id="934" name="Google Shape;934;p24"/>
          <p:cNvSpPr txBox="1"/>
          <p:nvPr/>
        </p:nvSpPr>
        <p:spPr>
          <a:xfrm>
            <a:off x="7191756" y="3602736"/>
            <a:ext cx="1321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None of them</a:t>
            </a:r>
            <a:endParaRPr b="0" i="0" sz="1100" u="none" cap="none" strike="noStrike">
              <a:solidFill>
                <a:schemeClr val="dk1"/>
              </a:solidFill>
              <a:latin typeface="Calibri"/>
              <a:ea typeface="Calibri"/>
              <a:cs typeface="Calibri"/>
              <a:sym typeface="Calibri"/>
            </a:endParaRPr>
          </a:p>
        </p:txBody>
      </p:sp>
      <p:sp>
        <p:nvSpPr>
          <p:cNvPr id="935" name="Google Shape;935;p24"/>
          <p:cNvSpPr txBox="1"/>
          <p:nvPr/>
        </p:nvSpPr>
        <p:spPr>
          <a:xfrm>
            <a:off x="6844284" y="3968496"/>
            <a:ext cx="1668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00"/>
              <a:buFont typeface="Calibri"/>
              <a:buNone/>
            </a:pPr>
            <a:r>
              <a:rPr b="0" i="0" lang="en-US" sz="900" u="none" cap="none" strike="noStrike">
                <a:solidFill>
                  <a:srgbClr val="BBA9DE"/>
                </a:solidFill>
                <a:latin typeface="Calibri"/>
                <a:ea typeface="Calibri"/>
                <a:cs typeface="Calibri"/>
                <a:sym typeface="Calibri"/>
              </a:rPr>
              <a:t>it slips straight through</a:t>
            </a:r>
            <a:endParaRPr b="0" i="0" sz="900" u="none" cap="none" strike="noStrike">
              <a:solidFill>
                <a:schemeClr val="dk1"/>
              </a:solidFill>
              <a:latin typeface="Calibri"/>
              <a:ea typeface="Calibri"/>
              <a:cs typeface="Calibri"/>
              <a:sym typeface="Calibri"/>
            </a:endParaRPr>
          </a:p>
        </p:txBody>
      </p:sp>
      <p:sp>
        <p:nvSpPr>
          <p:cNvPr id="936" name="Google Shape;936;p24"/>
          <p:cNvSpPr/>
          <p:nvPr/>
        </p:nvSpPr>
        <p:spPr>
          <a:xfrm>
            <a:off x="502920" y="4443984"/>
            <a:ext cx="8138100" cy="402300"/>
          </a:xfrm>
          <a:prstGeom prst="roundRect">
            <a:avLst>
              <a:gd fmla="val 18182"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24"/>
          <p:cNvSpPr txBox="1"/>
          <p:nvPr/>
        </p:nvSpPr>
        <p:spPr>
          <a:xfrm>
            <a:off x="649224" y="4443984"/>
            <a:ext cx="7845600" cy="40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100"/>
              <a:buFont typeface="Calibri"/>
              <a:buNone/>
            </a:pPr>
            <a:r>
              <a:rPr b="0" i="1" lang="en-US" sz="1100" u="none" cap="none" strike="noStrike">
                <a:solidFill>
                  <a:srgbClr val="FBBF24"/>
                </a:solidFill>
                <a:latin typeface="Calibri"/>
                <a:ea typeface="Calibri"/>
                <a:cs typeface="Calibri"/>
                <a:sym typeface="Calibri"/>
              </a:rPr>
              <a:t>Reviewers miss one-character diffs. That is not a criticism of reviewers — it is an argument for gates.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942" name="Shape 942"/>
        <p:cNvGrpSpPr/>
        <p:nvPr/>
      </p:nvGrpSpPr>
      <p:grpSpPr>
        <a:xfrm>
          <a:off x="0" y="0"/>
          <a:ext cx="0" cy="0"/>
          <a:chOff x="0" y="0"/>
          <a:chExt cx="0" cy="0"/>
        </a:xfrm>
      </p:grpSpPr>
      <p:sp>
        <p:nvSpPr>
          <p:cNvPr id="943" name="Google Shape;943;p25"/>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§2.6 · REVEAL</a:t>
            </a:r>
            <a:endParaRPr b="0" i="0" sz="1050" u="none" cap="none" strike="noStrike">
              <a:solidFill>
                <a:schemeClr val="dk1"/>
              </a:solidFill>
              <a:latin typeface="Calibri"/>
              <a:ea typeface="Calibri"/>
              <a:cs typeface="Calibri"/>
              <a:sym typeface="Calibri"/>
            </a:endParaRPr>
          </a:p>
        </p:txBody>
      </p:sp>
      <p:sp>
        <p:nvSpPr>
          <p:cNvPr id="944" name="Google Shape;944;p25"/>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Gate 2, and only gate 2.</a:t>
            </a:r>
            <a:endParaRPr b="0" i="0" sz="2700" u="none" cap="none" strike="noStrike">
              <a:solidFill>
                <a:schemeClr val="dk1"/>
              </a:solidFill>
              <a:latin typeface="Calibri"/>
              <a:ea typeface="Calibri"/>
              <a:cs typeface="Calibri"/>
              <a:sym typeface="Calibri"/>
            </a:endParaRPr>
          </a:p>
        </p:txBody>
      </p:sp>
      <p:sp>
        <p:nvSpPr>
          <p:cNvPr id="945" name="Google Shape;945;p25">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946" name="Google Shape;946;p25"/>
          <p:cNvSpPr/>
          <p:nvPr/>
        </p:nvSpPr>
        <p:spPr>
          <a:xfrm>
            <a:off x="502920" y="1133856"/>
            <a:ext cx="2615184" cy="1572768"/>
          </a:xfrm>
          <a:prstGeom prst="roundRect">
            <a:avLst>
              <a:gd fmla="val 5233"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5"/>
          <p:cNvSpPr/>
          <p:nvPr/>
        </p:nvSpPr>
        <p:spPr>
          <a:xfrm>
            <a:off x="649224" y="1280160"/>
            <a:ext cx="420624" cy="420624"/>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25"/>
          <p:cNvSpPr txBox="1"/>
          <p:nvPr/>
        </p:nvSpPr>
        <p:spPr>
          <a:xfrm>
            <a:off x="649224" y="1280160"/>
            <a:ext cx="420624" cy="42062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alibri"/>
              <a:buNone/>
            </a:pPr>
            <a:r>
              <a:rPr b="1" i="0" lang="en-US" sz="1700" u="none" cap="none" strike="noStrike">
                <a:solidFill>
                  <a:srgbClr val="2A1B3D"/>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49" name="Google Shape;949;p25"/>
          <p:cNvSpPr txBox="1"/>
          <p:nvPr/>
        </p:nvSpPr>
        <p:spPr>
          <a:xfrm>
            <a:off x="1161288" y="1298448"/>
            <a:ext cx="181051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100"/>
              <a:buFont typeface="Calibri"/>
              <a:buNone/>
            </a:pPr>
            <a:r>
              <a:rPr b="0" i="0" lang="en-US" sz="1100" u="none" cap="none" strike="noStrike">
                <a:solidFill>
                  <a:srgbClr val="BBA9DE"/>
                </a:solidFill>
                <a:latin typeface="Calibri"/>
                <a:ea typeface="Calibri"/>
                <a:cs typeface="Calibri"/>
                <a:sym typeface="Calibri"/>
              </a:rPr>
              <a:t>Gate 1 · Syntax</a:t>
            </a:r>
            <a:endParaRPr b="0" i="0" sz="1100" u="none" cap="none" strike="noStrike">
              <a:solidFill>
                <a:schemeClr val="dk1"/>
              </a:solidFill>
              <a:latin typeface="Calibri"/>
              <a:ea typeface="Calibri"/>
              <a:cs typeface="Calibri"/>
              <a:sym typeface="Calibri"/>
            </a:endParaRPr>
          </a:p>
        </p:txBody>
      </p:sp>
      <p:sp>
        <p:nvSpPr>
          <p:cNvPr id="950" name="Google Shape;950;p25"/>
          <p:cNvSpPr txBox="1"/>
          <p:nvPr/>
        </p:nvSpPr>
        <p:spPr>
          <a:xfrm>
            <a:off x="1161288" y="1499616"/>
            <a:ext cx="181051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700"/>
              <a:buFont typeface="Cambria"/>
              <a:buNone/>
            </a:pPr>
            <a:r>
              <a:rPr b="1" i="0" lang="en-US" sz="1700" u="none" cap="none" strike="noStrike">
                <a:solidFill>
                  <a:srgbClr val="5EE9B5"/>
                </a:solidFill>
                <a:latin typeface="Cambria"/>
                <a:ea typeface="Cambria"/>
                <a:cs typeface="Cambria"/>
                <a:sym typeface="Cambria"/>
              </a:rPr>
              <a:t>PASS</a:t>
            </a:r>
            <a:endParaRPr b="0" i="0" sz="1700" u="none" cap="none" strike="noStrike">
              <a:solidFill>
                <a:schemeClr val="dk1"/>
              </a:solidFill>
              <a:latin typeface="Calibri"/>
              <a:ea typeface="Calibri"/>
              <a:cs typeface="Calibri"/>
              <a:sym typeface="Calibri"/>
            </a:endParaRPr>
          </a:p>
        </p:txBody>
      </p:sp>
      <p:sp>
        <p:nvSpPr>
          <p:cNvPr id="951" name="Google Shape;951;p25"/>
          <p:cNvSpPr txBox="1"/>
          <p:nvPr/>
        </p:nvSpPr>
        <p:spPr>
          <a:xfrm>
            <a:off x="649224" y="1865376"/>
            <a:ext cx="2322576"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The file is syntactically perfect. It always was.</a:t>
            </a:r>
            <a:endParaRPr b="0" i="0" sz="1000" u="none" cap="none" strike="noStrike">
              <a:solidFill>
                <a:schemeClr val="dk1"/>
              </a:solidFill>
              <a:latin typeface="Calibri"/>
              <a:ea typeface="Calibri"/>
              <a:cs typeface="Calibri"/>
              <a:sym typeface="Calibri"/>
            </a:endParaRPr>
          </a:p>
        </p:txBody>
      </p:sp>
      <p:sp>
        <p:nvSpPr>
          <p:cNvPr id="952" name="Google Shape;952;p25"/>
          <p:cNvSpPr/>
          <p:nvPr/>
        </p:nvSpPr>
        <p:spPr>
          <a:xfrm>
            <a:off x="3264408" y="1133856"/>
            <a:ext cx="2615184" cy="1572768"/>
          </a:xfrm>
          <a:prstGeom prst="roundRect">
            <a:avLst>
              <a:gd fmla="val 5233" name="adj"/>
            </a:avLst>
          </a:prstGeom>
          <a:solidFill>
            <a:srgbClr val="3D2A5C"/>
          </a:solidFill>
          <a:ln cap="flat" cmpd="sng" w="12700">
            <a:solidFill>
              <a:srgbClr val="FB7185"/>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25"/>
          <p:cNvSpPr/>
          <p:nvPr/>
        </p:nvSpPr>
        <p:spPr>
          <a:xfrm>
            <a:off x="3410712" y="1280160"/>
            <a:ext cx="420624" cy="420624"/>
          </a:xfrm>
          <a:prstGeom prst="ellipse">
            <a:avLst/>
          </a:prstGeom>
          <a:solidFill>
            <a:srgbClr val="FB7185"/>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25"/>
          <p:cNvSpPr txBox="1"/>
          <p:nvPr/>
        </p:nvSpPr>
        <p:spPr>
          <a:xfrm>
            <a:off x="3410712" y="1280160"/>
            <a:ext cx="420624" cy="42062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alibri"/>
              <a:buNone/>
            </a:pPr>
            <a:r>
              <a:rPr b="1" i="0" lang="en-US" sz="1700" u="none" cap="none" strike="noStrike">
                <a:solidFill>
                  <a:srgbClr val="2A1B3D"/>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55" name="Google Shape;955;p25"/>
          <p:cNvSpPr txBox="1"/>
          <p:nvPr/>
        </p:nvSpPr>
        <p:spPr>
          <a:xfrm>
            <a:off x="3922776" y="1298448"/>
            <a:ext cx="181051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100"/>
              <a:buFont typeface="Calibri"/>
              <a:buNone/>
            </a:pPr>
            <a:r>
              <a:rPr b="0" i="0" lang="en-US" sz="1100" u="none" cap="none" strike="noStrike">
                <a:solidFill>
                  <a:srgbClr val="BBA9DE"/>
                </a:solidFill>
                <a:latin typeface="Calibri"/>
                <a:ea typeface="Calibri"/>
                <a:cs typeface="Calibri"/>
                <a:sym typeface="Calibri"/>
              </a:rPr>
              <a:t>Gate 2 · Behaviour</a:t>
            </a:r>
            <a:endParaRPr b="0" i="0" sz="1100" u="none" cap="none" strike="noStrike">
              <a:solidFill>
                <a:schemeClr val="dk1"/>
              </a:solidFill>
              <a:latin typeface="Calibri"/>
              <a:ea typeface="Calibri"/>
              <a:cs typeface="Calibri"/>
              <a:sym typeface="Calibri"/>
            </a:endParaRPr>
          </a:p>
        </p:txBody>
      </p:sp>
      <p:sp>
        <p:nvSpPr>
          <p:cNvPr id="956" name="Google Shape;956;p25"/>
          <p:cNvSpPr txBox="1"/>
          <p:nvPr/>
        </p:nvSpPr>
        <p:spPr>
          <a:xfrm>
            <a:off x="3922776" y="1499616"/>
            <a:ext cx="181051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1700"/>
              <a:buFont typeface="Cambria"/>
              <a:buNone/>
            </a:pPr>
            <a:r>
              <a:rPr b="1" i="0" lang="en-US" sz="1700" u="none" cap="none" strike="noStrike">
                <a:solidFill>
                  <a:srgbClr val="FB7185"/>
                </a:solidFill>
                <a:latin typeface="Cambria"/>
                <a:ea typeface="Cambria"/>
                <a:cs typeface="Cambria"/>
                <a:sym typeface="Cambria"/>
              </a:rPr>
              <a:t>FAIL</a:t>
            </a:r>
            <a:endParaRPr b="0" i="0" sz="1700" u="none" cap="none" strike="noStrike">
              <a:solidFill>
                <a:schemeClr val="dk1"/>
              </a:solidFill>
              <a:latin typeface="Calibri"/>
              <a:ea typeface="Calibri"/>
              <a:cs typeface="Calibri"/>
              <a:sym typeface="Calibri"/>
            </a:endParaRPr>
          </a:p>
        </p:txBody>
      </p:sp>
      <p:sp>
        <p:nvSpPr>
          <p:cNvPr id="957" name="Google Shape;957;p25"/>
          <p:cNvSpPr txBox="1"/>
          <p:nvPr/>
        </p:nvSpPr>
        <p:spPr>
          <a:xfrm>
            <a:off x="3410712" y="1865376"/>
            <a:ext cx="2322576"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test_apply_refund_rejects_over_refund dies. This is the whole reason gate 2 exists.</a:t>
            </a:r>
            <a:endParaRPr b="0" i="0" sz="1000" u="none" cap="none" strike="noStrike">
              <a:solidFill>
                <a:schemeClr val="dk1"/>
              </a:solidFill>
              <a:latin typeface="Calibri"/>
              <a:ea typeface="Calibri"/>
              <a:cs typeface="Calibri"/>
              <a:sym typeface="Calibri"/>
            </a:endParaRPr>
          </a:p>
        </p:txBody>
      </p:sp>
      <p:sp>
        <p:nvSpPr>
          <p:cNvPr id="958" name="Google Shape;958;p25"/>
          <p:cNvSpPr/>
          <p:nvPr/>
        </p:nvSpPr>
        <p:spPr>
          <a:xfrm>
            <a:off x="6025896" y="1133856"/>
            <a:ext cx="2615184" cy="1572768"/>
          </a:xfrm>
          <a:prstGeom prst="roundRect">
            <a:avLst>
              <a:gd fmla="val 5233"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25"/>
          <p:cNvSpPr/>
          <p:nvPr/>
        </p:nvSpPr>
        <p:spPr>
          <a:xfrm>
            <a:off x="6172200" y="1280160"/>
            <a:ext cx="420624" cy="420624"/>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25"/>
          <p:cNvSpPr txBox="1"/>
          <p:nvPr/>
        </p:nvSpPr>
        <p:spPr>
          <a:xfrm>
            <a:off x="6172200" y="1280160"/>
            <a:ext cx="420624" cy="42062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700"/>
              <a:buFont typeface="Calibri"/>
              <a:buNone/>
            </a:pPr>
            <a:r>
              <a:rPr b="1" i="0" lang="en-US" sz="1700" u="none" cap="none" strike="noStrike">
                <a:solidFill>
                  <a:srgbClr val="2A1B3D"/>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61" name="Google Shape;961;p25"/>
          <p:cNvSpPr txBox="1"/>
          <p:nvPr/>
        </p:nvSpPr>
        <p:spPr>
          <a:xfrm>
            <a:off x="6684264" y="1298448"/>
            <a:ext cx="181051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100"/>
              <a:buFont typeface="Calibri"/>
              <a:buNone/>
            </a:pPr>
            <a:r>
              <a:rPr b="0" i="0" lang="en-US" sz="1100" u="none" cap="none" strike="noStrike">
                <a:solidFill>
                  <a:srgbClr val="BBA9DE"/>
                </a:solidFill>
                <a:latin typeface="Calibri"/>
                <a:ea typeface="Calibri"/>
                <a:cs typeface="Calibri"/>
                <a:sym typeface="Calibri"/>
              </a:rPr>
              <a:t>Gate 3 · Quality</a:t>
            </a:r>
            <a:endParaRPr b="0" i="0" sz="1100" u="none" cap="none" strike="noStrike">
              <a:solidFill>
                <a:schemeClr val="dk1"/>
              </a:solidFill>
              <a:latin typeface="Calibri"/>
              <a:ea typeface="Calibri"/>
              <a:cs typeface="Calibri"/>
              <a:sym typeface="Calibri"/>
            </a:endParaRPr>
          </a:p>
        </p:txBody>
      </p:sp>
      <p:sp>
        <p:nvSpPr>
          <p:cNvPr id="962" name="Google Shape;962;p25"/>
          <p:cNvSpPr txBox="1"/>
          <p:nvPr/>
        </p:nvSpPr>
        <p:spPr>
          <a:xfrm>
            <a:off x="6684264" y="1499616"/>
            <a:ext cx="181051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1700"/>
              <a:buFont typeface="Cambria"/>
              <a:buNone/>
            </a:pPr>
            <a:r>
              <a:rPr b="1" i="0" lang="en-US" sz="1700" u="none" cap="none" strike="noStrike">
                <a:solidFill>
                  <a:srgbClr val="5EE9B5"/>
                </a:solidFill>
                <a:latin typeface="Cambria"/>
                <a:ea typeface="Cambria"/>
                <a:cs typeface="Cambria"/>
                <a:sym typeface="Cambria"/>
              </a:rPr>
              <a:t>PASS</a:t>
            </a:r>
            <a:endParaRPr b="0" i="0" sz="1700" u="none" cap="none" strike="noStrike">
              <a:solidFill>
                <a:schemeClr val="dk1"/>
              </a:solidFill>
              <a:latin typeface="Calibri"/>
              <a:ea typeface="Calibri"/>
              <a:cs typeface="Calibri"/>
              <a:sym typeface="Calibri"/>
            </a:endParaRPr>
          </a:p>
        </p:txBody>
      </p:sp>
      <p:sp>
        <p:nvSpPr>
          <p:cNvPr id="963" name="Google Shape;963;p25"/>
          <p:cNvSpPr txBox="1"/>
          <p:nvPr/>
        </p:nvSpPr>
        <p:spPr>
          <a:xfrm>
            <a:off x="6172200" y="1865376"/>
            <a:ext cx="2322576"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Complexity is unchanged — the flip does not add a branch. A metric gate is blind to this class of bug.</a:t>
            </a:r>
            <a:endParaRPr b="0" i="0" sz="1000" u="none" cap="none" strike="noStrike">
              <a:solidFill>
                <a:schemeClr val="dk1"/>
              </a:solidFill>
              <a:latin typeface="Calibri"/>
              <a:ea typeface="Calibri"/>
              <a:cs typeface="Calibri"/>
              <a:sym typeface="Calibri"/>
            </a:endParaRPr>
          </a:p>
        </p:txBody>
      </p:sp>
      <p:sp>
        <p:nvSpPr>
          <p:cNvPr id="964" name="Google Shape;964;p25"/>
          <p:cNvSpPr/>
          <p:nvPr/>
        </p:nvSpPr>
        <p:spPr>
          <a:xfrm>
            <a:off x="502920" y="2852928"/>
            <a:ext cx="4892040" cy="969264"/>
          </a:xfrm>
          <a:prstGeom prst="roundRect">
            <a:avLst>
              <a:gd fmla="val 6604"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25"/>
          <p:cNvSpPr txBox="1"/>
          <p:nvPr/>
        </p:nvSpPr>
        <p:spPr>
          <a:xfrm>
            <a:off x="630936" y="2953512"/>
            <a:ext cx="4636008" cy="160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 QA gate 1 ast.parse ---</a:t>
            </a:r>
            <a:endParaRPr b="0" i="0" sz="800" u="none" cap="none" strike="noStrike">
              <a:solidFill>
                <a:schemeClr val="dk1"/>
              </a:solidFill>
              <a:latin typeface="Calibri"/>
              <a:ea typeface="Calibri"/>
              <a:cs typeface="Calibri"/>
              <a:sym typeface="Calibri"/>
            </a:endParaRPr>
          </a:p>
        </p:txBody>
      </p:sp>
      <p:sp>
        <p:nvSpPr>
          <p:cNvPr id="966" name="Google Shape;966;p25"/>
          <p:cNvSpPr txBox="1"/>
          <p:nvPr/>
        </p:nvSpPr>
        <p:spPr>
          <a:xfrm>
            <a:off x="630936" y="3113532"/>
            <a:ext cx="4636008" cy="160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  syntax OK</a:t>
            </a:r>
            <a:endParaRPr b="0" i="0" sz="800" u="none" cap="none" strike="noStrike">
              <a:solidFill>
                <a:schemeClr val="dk1"/>
              </a:solidFill>
              <a:latin typeface="Calibri"/>
              <a:ea typeface="Calibri"/>
              <a:cs typeface="Calibri"/>
              <a:sym typeface="Calibri"/>
            </a:endParaRPr>
          </a:p>
        </p:txBody>
      </p:sp>
      <p:sp>
        <p:nvSpPr>
          <p:cNvPr id="967" name="Google Shape;967;p25"/>
          <p:cNvSpPr txBox="1"/>
          <p:nvPr/>
        </p:nvSpPr>
        <p:spPr>
          <a:xfrm>
            <a:off x="630936" y="3273552"/>
            <a:ext cx="4636008" cy="160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 QA gate 2 pytest (sandbox) ---</a:t>
            </a:r>
            <a:endParaRPr b="0" i="0" sz="800" u="none" cap="none" strike="noStrike">
              <a:solidFill>
                <a:schemeClr val="dk1"/>
              </a:solidFill>
              <a:latin typeface="Calibri"/>
              <a:ea typeface="Calibri"/>
              <a:cs typeface="Calibri"/>
              <a:sym typeface="Calibri"/>
            </a:endParaRPr>
          </a:p>
        </p:txBody>
      </p:sp>
      <p:sp>
        <p:nvSpPr>
          <p:cNvPr id="968" name="Google Shape;968;p25"/>
          <p:cNvSpPr txBox="1"/>
          <p:nvPr/>
        </p:nvSpPr>
        <p:spPr>
          <a:xfrm>
            <a:off x="630936" y="3433572"/>
            <a:ext cx="4636008" cy="160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  pytest exit 1</a:t>
            </a:r>
            <a:endParaRPr b="0" i="0" sz="800" u="none" cap="none" strike="noStrike">
              <a:solidFill>
                <a:schemeClr val="dk1"/>
              </a:solidFill>
              <a:latin typeface="Calibri"/>
              <a:ea typeface="Calibri"/>
              <a:cs typeface="Calibri"/>
              <a:sym typeface="Calibri"/>
            </a:endParaRPr>
          </a:p>
        </p:txBody>
      </p:sp>
      <p:sp>
        <p:nvSpPr>
          <p:cNvPr id="969" name="Google Shape;969;p25"/>
          <p:cNvSpPr txBox="1"/>
          <p:nvPr/>
        </p:nvSpPr>
        <p:spPr>
          <a:xfrm>
            <a:off x="630936" y="3593592"/>
            <a:ext cx="4636008" cy="1600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caught  Failed: DID NOT RAISE &lt;ValueError&gt;</a:t>
            </a:r>
            <a:endParaRPr b="0" i="0" sz="800" u="none" cap="none" strike="noStrike">
              <a:solidFill>
                <a:schemeClr val="dk1"/>
              </a:solidFill>
              <a:latin typeface="Calibri"/>
              <a:ea typeface="Calibri"/>
              <a:cs typeface="Calibri"/>
              <a:sym typeface="Calibri"/>
            </a:endParaRPr>
          </a:p>
        </p:txBody>
      </p:sp>
      <p:sp>
        <p:nvSpPr>
          <p:cNvPr id="970" name="Google Shape;970;p25"/>
          <p:cNvSpPr/>
          <p:nvPr/>
        </p:nvSpPr>
        <p:spPr>
          <a:xfrm>
            <a:off x="5541264" y="2852928"/>
            <a:ext cx="3099816" cy="969264"/>
          </a:xfrm>
          <a:prstGeom prst="roundRect">
            <a:avLst>
              <a:gd fmla="val 8491" name="adj"/>
            </a:avLst>
          </a:prstGeom>
          <a:solidFill>
            <a:srgbClr val="1E1230"/>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25"/>
          <p:cNvSpPr txBox="1"/>
          <p:nvPr/>
        </p:nvSpPr>
        <p:spPr>
          <a:xfrm>
            <a:off x="5705856" y="2944368"/>
            <a:ext cx="27889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THE GENERALISATION</a:t>
            </a:r>
            <a:endParaRPr b="0" i="0" sz="800" u="none" cap="none" strike="noStrike">
              <a:solidFill>
                <a:schemeClr val="dk1"/>
              </a:solidFill>
              <a:latin typeface="Calibri"/>
              <a:ea typeface="Calibri"/>
              <a:cs typeface="Calibri"/>
              <a:sym typeface="Calibri"/>
            </a:endParaRPr>
          </a:p>
        </p:txBody>
      </p:sp>
      <p:sp>
        <p:nvSpPr>
          <p:cNvPr id="972" name="Google Shape;972;p25"/>
          <p:cNvSpPr txBox="1"/>
          <p:nvPr/>
        </p:nvSpPr>
        <p:spPr>
          <a:xfrm>
            <a:off x="5705856" y="3145536"/>
            <a:ext cx="278892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000"/>
              <a:buFont typeface="Calibri"/>
              <a:buNone/>
            </a:pPr>
            <a:r>
              <a:rPr b="0" i="0" lang="en-US" sz="1000" u="none" cap="none" strike="noStrike">
                <a:solidFill>
                  <a:srgbClr val="D8CDEE"/>
                </a:solidFill>
                <a:latin typeface="Calibri"/>
                <a:ea typeface="Calibri"/>
                <a:cs typeface="Calibri"/>
                <a:sym typeface="Calibri"/>
              </a:rPr>
              <a:t>Every gate has a blind spot. You do not fix that by adding a smarter gate — you fix it by having gates that fail differently.</a:t>
            </a:r>
            <a:endParaRPr b="0" i="0" sz="1000" u="none" cap="none" strike="noStrike">
              <a:solidFill>
                <a:schemeClr val="dk1"/>
              </a:solidFill>
              <a:latin typeface="Calibri"/>
              <a:ea typeface="Calibri"/>
              <a:cs typeface="Calibri"/>
              <a:sym typeface="Calibri"/>
            </a:endParaRPr>
          </a:p>
        </p:txBody>
      </p:sp>
      <p:sp>
        <p:nvSpPr>
          <p:cNvPr id="973" name="Google Shape;973;p25"/>
          <p:cNvSpPr/>
          <p:nvPr/>
        </p:nvSpPr>
        <p:spPr>
          <a:xfrm>
            <a:off x="502920" y="3968496"/>
            <a:ext cx="8138160" cy="658368"/>
          </a:xfrm>
          <a:prstGeom prst="roundRect">
            <a:avLst>
              <a:gd fmla="val 1250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25"/>
          <p:cNvSpPr txBox="1"/>
          <p:nvPr/>
        </p:nvSpPr>
        <p:spPr>
          <a:xfrm>
            <a:off x="685800" y="3968496"/>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ourier New"/>
              <a:buNone/>
            </a:pPr>
            <a:r>
              <a:rPr b="0" i="0" lang="en-US" sz="900" u="none" cap="none" strike="noStrike">
                <a:solidFill>
                  <a:srgbClr val="E9DFFF"/>
                </a:solidFill>
                <a:latin typeface="Courier New"/>
                <a:ea typeface="Courier New"/>
                <a:cs typeface="Courier New"/>
                <a:sym typeface="Courier New"/>
              </a:rPr>
              <a:t>💬  DISCUSS — 2 MINUTES   </a:t>
            </a:r>
            <a:r>
              <a:rPr b="0" i="0" lang="en-US" sz="1100" u="none" cap="none" strike="noStrike">
                <a:solidFill>
                  <a:srgbClr val="D8CDEE"/>
                </a:solidFill>
                <a:latin typeface="Calibri"/>
                <a:ea typeface="Calibri"/>
                <a:cs typeface="Calibri"/>
                <a:sym typeface="Calibri"/>
              </a:rPr>
              <a:t>Your repo has no test for the load-bearing line. What is your gate 2? Coverage threshold? A property test? A canary in staging? There is no single right answer — that is why we stop to ask.</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979" name="Shape 979"/>
        <p:cNvGrpSpPr/>
        <p:nvPr/>
      </p:nvGrpSpPr>
      <p:grpSpPr>
        <a:xfrm>
          <a:off x="0" y="0"/>
          <a:ext cx="0" cy="0"/>
          <a:chOff x="0" y="0"/>
          <a:chExt cx="0" cy="0"/>
        </a:xfrm>
      </p:grpSpPr>
      <p:sp>
        <p:nvSpPr>
          <p:cNvPr id="980" name="Google Shape;980;p26"/>
          <p:cNvSpPr/>
          <p:nvPr/>
        </p:nvSpPr>
        <p:spPr>
          <a:xfrm>
            <a:off x="502920" y="502920"/>
            <a:ext cx="8138160" cy="4114800"/>
          </a:xfrm>
          <a:prstGeom prst="roundRect">
            <a:avLst>
              <a:gd fmla="val 3111" name="adj"/>
            </a:avLst>
          </a:prstGeom>
          <a:solidFill>
            <a:srgbClr val="34234F"/>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26"/>
          <p:cNvSpPr/>
          <p:nvPr/>
        </p:nvSpPr>
        <p:spPr>
          <a:xfrm>
            <a:off x="960120" y="960120"/>
            <a:ext cx="713232" cy="7132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26"/>
          <p:cNvSpPr txBox="1"/>
          <p:nvPr/>
        </p:nvSpPr>
        <p:spPr>
          <a:xfrm>
            <a:off x="960120" y="960120"/>
            <a:ext cx="713232"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2600"/>
              <a:buFont typeface="Courier New"/>
              <a:buNone/>
            </a:pPr>
            <a:r>
              <a:rPr b="1" i="0" lang="en-US" sz="2600" u="none" cap="none" strike="noStrike">
                <a:solidFill>
                  <a:srgbClr val="2A1B3D"/>
                </a:solidFill>
                <a:latin typeface="Courier New"/>
                <a:ea typeface="Courier New"/>
                <a:cs typeface="Courier New"/>
                <a:sym typeface="Courier New"/>
              </a:rPr>
              <a:t>3</a:t>
            </a:r>
            <a:endParaRPr b="0" i="0" sz="2600" u="none" cap="none" strike="noStrike">
              <a:solidFill>
                <a:schemeClr val="dk1"/>
              </a:solidFill>
              <a:latin typeface="Calibri"/>
              <a:ea typeface="Calibri"/>
              <a:cs typeface="Calibri"/>
              <a:sym typeface="Calibri"/>
            </a:endParaRPr>
          </a:p>
        </p:txBody>
      </p:sp>
      <p:sp>
        <p:nvSpPr>
          <p:cNvPr id="983" name="Google Shape;983;p26"/>
          <p:cNvSpPr txBox="1"/>
          <p:nvPr/>
        </p:nvSpPr>
        <p:spPr>
          <a:xfrm>
            <a:off x="1874520" y="987552"/>
            <a:ext cx="5120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100"/>
              <a:buFont typeface="Courier New"/>
              <a:buNone/>
            </a:pPr>
            <a:r>
              <a:rPr b="0" i="0" lang="en-US" sz="1100" u="none" cap="none" strike="noStrike">
                <a:solidFill>
                  <a:srgbClr val="A78BFA"/>
                </a:solidFill>
                <a:latin typeface="Courier New"/>
                <a:ea typeface="Courier New"/>
                <a:cs typeface="Courier New"/>
                <a:sym typeface="Courier New"/>
              </a:rPr>
              <a:t>HANDS-ON · THE SAME LOOP WITH LESS GLUE</a:t>
            </a:r>
            <a:endParaRPr b="0" i="0" sz="1100" u="none" cap="none" strike="noStrike">
              <a:solidFill>
                <a:schemeClr val="dk1"/>
              </a:solidFill>
              <a:latin typeface="Calibri"/>
              <a:ea typeface="Calibri"/>
              <a:cs typeface="Calibri"/>
              <a:sym typeface="Calibri"/>
            </a:endParaRPr>
          </a:p>
        </p:txBody>
      </p:sp>
      <p:sp>
        <p:nvSpPr>
          <p:cNvPr id="984" name="Google Shape;984;p26"/>
          <p:cNvSpPr txBox="1"/>
          <p:nvPr/>
        </p:nvSpPr>
        <p:spPr>
          <a:xfrm>
            <a:off x="1874520" y="1261872"/>
            <a:ext cx="6035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Frameworks</a:t>
            </a:r>
            <a:endParaRPr b="0" i="0" sz="3200" u="none" cap="none" strike="noStrike">
              <a:solidFill>
                <a:schemeClr val="dk1"/>
              </a:solidFill>
              <a:latin typeface="Calibri"/>
              <a:ea typeface="Calibri"/>
              <a:cs typeface="Calibri"/>
              <a:sym typeface="Calibri"/>
            </a:endParaRPr>
          </a:p>
        </p:txBody>
      </p:sp>
      <p:sp>
        <p:nvSpPr>
          <p:cNvPr id="985" name="Google Shape;985;p26"/>
          <p:cNvSpPr txBox="1"/>
          <p:nvPr/>
        </p:nvSpPr>
        <p:spPr>
          <a:xfrm>
            <a:off x="1892808" y="1810512"/>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986" name="Google Shape;986;p26"/>
          <p:cNvSpPr txBox="1"/>
          <p:nvPr/>
        </p:nvSpPr>
        <p:spPr>
          <a:xfrm>
            <a:off x="2130552" y="1810512"/>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§3.1  The stack: openai client → LangChain → LangGraph → Deep Agents. Each layer removes glue, not ideas.</a:t>
            </a:r>
            <a:endParaRPr b="0" i="0" sz="1100" u="none" cap="none" strike="noStrike">
              <a:solidFill>
                <a:schemeClr val="dk1"/>
              </a:solidFill>
              <a:latin typeface="Calibri"/>
              <a:ea typeface="Calibri"/>
              <a:cs typeface="Calibri"/>
              <a:sym typeface="Calibri"/>
            </a:endParaRPr>
          </a:p>
        </p:txBody>
      </p:sp>
      <p:sp>
        <p:nvSpPr>
          <p:cNvPr id="987" name="Google Shape;987;p26"/>
          <p:cNvSpPr txBox="1"/>
          <p:nvPr/>
        </p:nvSpPr>
        <p:spPr>
          <a:xfrm>
            <a:off x="1892808" y="2194560"/>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988" name="Google Shape;988;p26"/>
          <p:cNvSpPr txBox="1"/>
          <p:nvPr/>
        </p:nvSpPr>
        <p:spPr>
          <a:xfrm>
            <a:off x="2130552" y="2194560"/>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§3.2  LangGraph is a finite-state machine whose boxes can call an LLM. TeamState is a TypedDict.</a:t>
            </a:r>
            <a:endParaRPr b="0" i="0" sz="1100" u="none" cap="none" strike="noStrike">
              <a:solidFill>
                <a:schemeClr val="dk1"/>
              </a:solidFill>
              <a:latin typeface="Calibri"/>
              <a:ea typeface="Calibri"/>
              <a:cs typeface="Calibri"/>
              <a:sym typeface="Calibri"/>
            </a:endParaRPr>
          </a:p>
        </p:txBody>
      </p:sp>
      <p:sp>
        <p:nvSpPr>
          <p:cNvPr id="989" name="Google Shape;989;p26"/>
          <p:cNvSpPr txBox="1"/>
          <p:nvPr/>
        </p:nvSpPr>
        <p:spPr>
          <a:xfrm>
            <a:off x="1892808" y="2578608"/>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990" name="Google Shape;990;p26"/>
          <p:cNvSpPr txBox="1"/>
          <p:nvPr/>
        </p:nvSpPr>
        <p:spPr>
          <a:xfrm>
            <a:off x="2130552" y="2578608"/>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§3.3  Deep Agents: a coordinator that delegates to a PyExamine subagent and an MLScent subagent.</a:t>
            </a:r>
            <a:endParaRPr b="0" i="0" sz="1100" u="none" cap="none" strike="noStrike">
              <a:solidFill>
                <a:schemeClr val="dk1"/>
              </a:solidFill>
              <a:latin typeface="Calibri"/>
              <a:ea typeface="Calibri"/>
              <a:cs typeface="Calibri"/>
              <a:sym typeface="Calibri"/>
            </a:endParaRPr>
          </a:p>
        </p:txBody>
      </p:sp>
      <p:sp>
        <p:nvSpPr>
          <p:cNvPr id="991" name="Google Shape;991;p26"/>
          <p:cNvSpPr txBox="1"/>
          <p:nvPr/>
        </p:nvSpPr>
        <p:spPr>
          <a:xfrm>
            <a:off x="1892808" y="2962656"/>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992" name="Google Shape;992;p26"/>
          <p:cNvSpPr txBox="1"/>
          <p:nvPr/>
        </p:nvSpPr>
        <p:spPr>
          <a:xfrm>
            <a:off x="2130552" y="2962656"/>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Guardrails: tool stdout capped at ~2k chars · recursion_limit 12 · “at most 6 tool calls” in the prompt.</a:t>
            </a:r>
            <a:endParaRPr b="0" i="0" sz="1100" u="none" cap="none" strike="noStrike">
              <a:solidFill>
                <a:schemeClr val="dk1"/>
              </a:solidFill>
              <a:latin typeface="Calibri"/>
              <a:ea typeface="Calibri"/>
              <a:cs typeface="Calibri"/>
              <a:sym typeface="Calibri"/>
            </a:endParaRPr>
          </a:p>
        </p:txBody>
      </p:sp>
      <p:sp>
        <p:nvSpPr>
          <p:cNvPr id="993" name="Google Shape;993;p26"/>
          <p:cNvSpPr txBox="1"/>
          <p:nvPr/>
        </p:nvSpPr>
        <p:spPr>
          <a:xfrm>
            <a:off x="1892808" y="3346704"/>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994" name="Google Shape;994;p26"/>
          <p:cNvSpPr txBox="1"/>
          <p:nvPr/>
        </p:nvSpPr>
        <p:spPr>
          <a:xfrm>
            <a:off x="2130552" y="3346704"/>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Always use openrouter_chat_model() — never model="openai:{slug}", which looks up OPENAI_API_KEY.</a:t>
            </a:r>
            <a:endParaRPr b="0" i="0" sz="1100" u="none" cap="none" strike="noStrike">
              <a:solidFill>
                <a:schemeClr val="dk1"/>
              </a:solidFill>
              <a:latin typeface="Calibri"/>
              <a:ea typeface="Calibri"/>
              <a:cs typeface="Calibri"/>
              <a:sym typeface="Calibri"/>
            </a:endParaRPr>
          </a:p>
        </p:txBody>
      </p:sp>
      <p:sp>
        <p:nvSpPr>
          <p:cNvPr id="995" name="Google Shape;995;p26"/>
          <p:cNvSpPr/>
          <p:nvPr/>
        </p:nvSpPr>
        <p:spPr>
          <a:xfrm>
            <a:off x="1874520" y="4187952"/>
            <a:ext cx="16002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26"/>
          <p:cNvSpPr txBox="1"/>
          <p:nvPr/>
        </p:nvSpPr>
        <p:spPr>
          <a:xfrm>
            <a:off x="1874520" y="4187952"/>
            <a:ext cx="16002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1:50 – 2:30</a:t>
            </a:r>
            <a:endParaRPr b="0" i="0" sz="950" u="none" cap="none" strike="noStrike">
              <a:solidFill>
                <a:schemeClr val="dk1"/>
              </a:solidFill>
              <a:latin typeface="Calibri"/>
              <a:ea typeface="Calibri"/>
              <a:cs typeface="Calibri"/>
              <a:sym typeface="Calibri"/>
            </a:endParaRPr>
          </a:p>
        </p:txBody>
      </p:sp>
      <p:sp>
        <p:nvSpPr>
          <p:cNvPr id="997" name="Google Shape;997;p26"/>
          <p:cNvSpPr/>
          <p:nvPr/>
        </p:nvSpPr>
        <p:spPr>
          <a:xfrm>
            <a:off x="3593592" y="4187952"/>
            <a:ext cx="22860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26"/>
          <p:cNvSpPr txBox="1"/>
          <p:nvPr/>
        </p:nvSpPr>
        <p:spPr>
          <a:xfrm>
            <a:off x="3593592" y="4187952"/>
            <a:ext cx="2286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950"/>
              <a:buFont typeface="Courier New"/>
              <a:buNone/>
            </a:pPr>
            <a:r>
              <a:rPr b="0" i="0" lang="en-US" sz="950" u="none" cap="none" strike="noStrike">
                <a:solidFill>
                  <a:srgbClr val="5EE9B5"/>
                </a:solidFill>
                <a:latin typeface="Courier New"/>
                <a:ea typeface="Courier New"/>
                <a:cs typeface="Courier New"/>
                <a:sym typeface="Courier New"/>
              </a:rPr>
              <a:t>NOTEBOOK · PART 3</a:t>
            </a:r>
            <a:endParaRPr b="0" i="0" sz="950" u="none" cap="none" strike="noStrike">
              <a:solidFill>
                <a:schemeClr val="dk1"/>
              </a:solidFill>
              <a:latin typeface="Calibri"/>
              <a:ea typeface="Calibri"/>
              <a:cs typeface="Calibri"/>
              <a:sym typeface="Calibri"/>
            </a:endParaRPr>
          </a:p>
        </p:txBody>
      </p:sp>
      <p:sp>
        <p:nvSpPr>
          <p:cNvPr id="999" name="Google Shape;999;p26">
            <a:hlinkClick action="ppaction://hlinksldjump" r:id="rId3"/>
          </p:cNvPr>
          <p:cNvSpPr txBox="1"/>
          <p:nvPr/>
        </p:nvSpPr>
        <p:spPr>
          <a:xfrm>
            <a:off x="7406640" y="4206240"/>
            <a:ext cx="96012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004" name="Shape 1004"/>
        <p:cNvGrpSpPr/>
        <p:nvPr/>
      </p:nvGrpSpPr>
      <p:grpSpPr>
        <a:xfrm>
          <a:off x="0" y="0"/>
          <a:ext cx="0" cy="0"/>
          <a:chOff x="0" y="0"/>
          <a:chExt cx="0" cy="0"/>
        </a:xfrm>
      </p:grpSpPr>
      <p:sp>
        <p:nvSpPr>
          <p:cNvPr id="1005" name="Google Shape;1005;p27"/>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§3.1 · READ THIS BEFORE YOU IMPORT ANYTHING</a:t>
            </a:r>
            <a:endParaRPr b="0" i="0" sz="1050" u="none" cap="none" strike="noStrike">
              <a:solidFill>
                <a:schemeClr val="dk1"/>
              </a:solidFill>
              <a:latin typeface="Calibri"/>
              <a:ea typeface="Calibri"/>
              <a:cs typeface="Calibri"/>
              <a:sym typeface="Calibri"/>
            </a:endParaRPr>
          </a:p>
        </p:txBody>
      </p:sp>
      <p:sp>
        <p:nvSpPr>
          <p:cNvPr id="1006" name="Google Shape;1006;p27"/>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Four layers. You already wrote the bottom one.</a:t>
            </a:r>
            <a:endParaRPr b="0" i="0" sz="2700" u="none" cap="none" strike="noStrike">
              <a:solidFill>
                <a:schemeClr val="dk1"/>
              </a:solidFill>
              <a:latin typeface="Calibri"/>
              <a:ea typeface="Calibri"/>
              <a:cs typeface="Calibri"/>
              <a:sym typeface="Calibri"/>
            </a:endParaRPr>
          </a:p>
        </p:txBody>
      </p:sp>
      <p:sp>
        <p:nvSpPr>
          <p:cNvPr id="1007" name="Google Shape;1007;p27">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008" name="Google Shape;1008;p27"/>
          <p:cNvSpPr/>
          <p:nvPr/>
        </p:nvSpPr>
        <p:spPr>
          <a:xfrm>
            <a:off x="502920" y="1133856"/>
            <a:ext cx="8138160" cy="566928"/>
          </a:xfrm>
          <a:prstGeom prst="roundRect">
            <a:avLst>
              <a:gd fmla="val 14516"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27"/>
          <p:cNvSpPr/>
          <p:nvPr/>
        </p:nvSpPr>
        <p:spPr>
          <a:xfrm>
            <a:off x="667512" y="1280160"/>
            <a:ext cx="274320" cy="274320"/>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27"/>
          <p:cNvSpPr txBox="1"/>
          <p:nvPr/>
        </p:nvSpPr>
        <p:spPr>
          <a:xfrm>
            <a:off x="667512" y="128016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1</a:t>
            </a:r>
            <a:endParaRPr b="0" i="0" sz="1000" u="none" cap="none" strike="noStrike">
              <a:solidFill>
                <a:schemeClr val="dk1"/>
              </a:solidFill>
              <a:latin typeface="Calibri"/>
              <a:ea typeface="Calibri"/>
              <a:cs typeface="Calibri"/>
              <a:sym typeface="Calibri"/>
            </a:endParaRPr>
          </a:p>
        </p:txBody>
      </p:sp>
      <p:sp>
        <p:nvSpPr>
          <p:cNvPr id="1011" name="Google Shape;1011;p27">
            <a:hlinkClick r:id="rId5"/>
          </p:cNvPr>
          <p:cNvSpPr txBox="1"/>
          <p:nvPr/>
        </p:nvSpPr>
        <p:spPr>
          <a:xfrm>
            <a:off x="1051560" y="1133856"/>
            <a:ext cx="16002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r:id="rId6"/>
              </a:rPr>
              <a:t>openai client</a:t>
            </a:r>
            <a:endParaRPr b="0" i="0" sz="1400" u="none" cap="none" strike="noStrike">
              <a:solidFill>
                <a:schemeClr val="dk1"/>
              </a:solidFill>
              <a:latin typeface="Calibri"/>
              <a:ea typeface="Calibri"/>
              <a:cs typeface="Calibri"/>
              <a:sym typeface="Calibri"/>
            </a:endParaRPr>
          </a:p>
        </p:txBody>
      </p:sp>
      <p:sp>
        <p:nvSpPr>
          <p:cNvPr id="1012" name="Google Shape;1012;p27"/>
          <p:cNvSpPr txBox="1"/>
          <p:nvPr/>
        </p:nvSpPr>
        <p:spPr>
          <a:xfrm>
            <a:off x="2697480" y="1133856"/>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HTTP to OpenRouter. Messages in, text out.</a:t>
            </a:r>
            <a:endParaRPr b="0" i="0" sz="950" u="none" cap="none" strike="noStrike">
              <a:solidFill>
                <a:schemeClr val="dk1"/>
              </a:solidFill>
              <a:latin typeface="Calibri"/>
              <a:ea typeface="Calibri"/>
              <a:cs typeface="Calibri"/>
              <a:sym typeface="Calibri"/>
            </a:endParaRPr>
          </a:p>
        </p:txBody>
      </p:sp>
      <p:sp>
        <p:nvSpPr>
          <p:cNvPr id="1013" name="Google Shape;1013;p27"/>
          <p:cNvSpPr txBox="1"/>
          <p:nvPr/>
        </p:nvSpPr>
        <p:spPr>
          <a:xfrm>
            <a:off x="5715000" y="1133856"/>
            <a:ext cx="23774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Parts 0–2 — this is your llm().</a:t>
            </a:r>
            <a:endParaRPr b="0" i="0" sz="950" u="none" cap="none" strike="noStrike">
              <a:solidFill>
                <a:schemeClr val="dk1"/>
              </a:solidFill>
              <a:latin typeface="Calibri"/>
              <a:ea typeface="Calibri"/>
              <a:cs typeface="Calibri"/>
              <a:sym typeface="Calibri"/>
            </a:endParaRPr>
          </a:p>
        </p:txBody>
      </p:sp>
      <p:sp>
        <p:nvSpPr>
          <p:cNvPr id="1014" name="Google Shape;1014;p27"/>
          <p:cNvSpPr/>
          <p:nvPr/>
        </p:nvSpPr>
        <p:spPr>
          <a:xfrm>
            <a:off x="8147304" y="1298448"/>
            <a:ext cx="822960"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27"/>
          <p:cNvSpPr txBox="1"/>
          <p:nvPr/>
        </p:nvSpPr>
        <p:spPr>
          <a:xfrm>
            <a:off x="8147304" y="1298448"/>
            <a:ext cx="82296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650"/>
              <a:buFont typeface="Courier New"/>
              <a:buNone/>
            </a:pPr>
            <a:r>
              <a:rPr b="0" i="0" lang="en-US" sz="650" u="none" cap="none" strike="noStrike">
                <a:solidFill>
                  <a:srgbClr val="5EE9B5"/>
                </a:solidFill>
                <a:latin typeface="Courier New"/>
                <a:ea typeface="Courier New"/>
                <a:cs typeface="Courier New"/>
                <a:sym typeface="Courier New"/>
              </a:rPr>
              <a:t>YOU BUILT IT</a:t>
            </a:r>
            <a:endParaRPr b="0" i="0" sz="650" u="none" cap="none" strike="noStrike">
              <a:solidFill>
                <a:schemeClr val="dk1"/>
              </a:solidFill>
              <a:latin typeface="Calibri"/>
              <a:ea typeface="Calibri"/>
              <a:cs typeface="Calibri"/>
              <a:sym typeface="Calibri"/>
            </a:endParaRPr>
          </a:p>
        </p:txBody>
      </p:sp>
      <p:sp>
        <p:nvSpPr>
          <p:cNvPr id="1016" name="Google Shape;1016;p27"/>
          <p:cNvSpPr/>
          <p:nvPr/>
        </p:nvSpPr>
        <p:spPr>
          <a:xfrm>
            <a:off x="502920" y="1792224"/>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27"/>
          <p:cNvSpPr/>
          <p:nvPr/>
        </p:nvSpPr>
        <p:spPr>
          <a:xfrm>
            <a:off x="667512" y="1938528"/>
            <a:ext cx="274320" cy="274320"/>
          </a:xfrm>
          <a:prstGeom prst="ellipse">
            <a:avLst/>
          </a:prstGeom>
          <a:solidFill>
            <a:srgbClr val="E9DFFF"/>
          </a:solidFill>
          <a:ln cap="flat" cmpd="sng" w="12700">
            <a:solidFill>
              <a:srgbClr val="E9D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27"/>
          <p:cNvSpPr txBox="1"/>
          <p:nvPr/>
        </p:nvSpPr>
        <p:spPr>
          <a:xfrm>
            <a:off x="667512" y="19385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2</a:t>
            </a:r>
            <a:endParaRPr b="0" i="0" sz="1000" u="none" cap="none" strike="noStrike">
              <a:solidFill>
                <a:schemeClr val="dk1"/>
              </a:solidFill>
              <a:latin typeface="Calibri"/>
              <a:ea typeface="Calibri"/>
              <a:cs typeface="Calibri"/>
              <a:sym typeface="Calibri"/>
            </a:endParaRPr>
          </a:p>
        </p:txBody>
      </p:sp>
      <p:sp>
        <p:nvSpPr>
          <p:cNvPr id="1019" name="Google Shape;1019;p27">
            <a:hlinkClick r:id="rId7"/>
          </p:cNvPr>
          <p:cNvSpPr txBox="1"/>
          <p:nvPr/>
        </p:nvSpPr>
        <p:spPr>
          <a:xfrm>
            <a:off x="1051560" y="1792224"/>
            <a:ext cx="16002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r:id="rId8"/>
              </a:rPr>
              <a:t>LangChain</a:t>
            </a:r>
            <a:endParaRPr b="0" i="0" sz="1400" u="none" cap="none" strike="noStrike">
              <a:solidFill>
                <a:schemeClr val="dk1"/>
              </a:solidFill>
              <a:latin typeface="Calibri"/>
              <a:ea typeface="Calibri"/>
              <a:cs typeface="Calibri"/>
              <a:sym typeface="Calibri"/>
            </a:endParaRPr>
          </a:p>
        </p:txBody>
      </p:sp>
      <p:sp>
        <p:nvSpPr>
          <p:cNvPr id="1020" name="Google Shape;1020;p27"/>
          <p:cNvSpPr txBox="1"/>
          <p:nvPr/>
        </p:nvSpPr>
        <p:spPr>
          <a:xfrm>
            <a:off x="2697480" y="1792224"/>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Wrappers around that client: ChatOpenAI, message objects, tool-calling.</a:t>
            </a:r>
            <a:endParaRPr b="0" i="0" sz="950" u="none" cap="none" strike="noStrike">
              <a:solidFill>
                <a:schemeClr val="dk1"/>
              </a:solidFill>
              <a:latin typeface="Calibri"/>
              <a:ea typeface="Calibri"/>
              <a:cs typeface="Calibri"/>
              <a:sym typeface="Calibri"/>
            </a:endParaRPr>
          </a:p>
        </p:txBody>
      </p:sp>
      <p:sp>
        <p:nvSpPr>
          <p:cNvPr id="1021" name="Google Shape;1021;p27"/>
          <p:cNvSpPr txBox="1"/>
          <p:nvPr/>
        </p:nvSpPr>
        <p:spPr>
          <a:xfrm>
            <a:off x="5715000" y="1792224"/>
            <a:ext cx="23774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openrouter_chat_model() — same key, same slug, LangChain-shaped.</a:t>
            </a:r>
            <a:endParaRPr b="0" i="0" sz="950" u="none" cap="none" strike="noStrike">
              <a:solidFill>
                <a:schemeClr val="dk1"/>
              </a:solidFill>
              <a:latin typeface="Calibri"/>
              <a:ea typeface="Calibri"/>
              <a:cs typeface="Calibri"/>
              <a:sym typeface="Calibri"/>
            </a:endParaRPr>
          </a:p>
        </p:txBody>
      </p:sp>
      <p:sp>
        <p:nvSpPr>
          <p:cNvPr id="1022" name="Google Shape;1022;p27"/>
          <p:cNvSpPr/>
          <p:nvPr/>
        </p:nvSpPr>
        <p:spPr>
          <a:xfrm>
            <a:off x="502920" y="2450592"/>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27"/>
          <p:cNvSpPr/>
          <p:nvPr/>
        </p:nvSpPr>
        <p:spPr>
          <a:xfrm>
            <a:off x="667512" y="2596896"/>
            <a:ext cx="274320" cy="274320"/>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27"/>
          <p:cNvSpPr txBox="1"/>
          <p:nvPr/>
        </p:nvSpPr>
        <p:spPr>
          <a:xfrm>
            <a:off x="667512" y="2596896"/>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3</a:t>
            </a:r>
            <a:endParaRPr b="0" i="0" sz="1000" u="none" cap="none" strike="noStrike">
              <a:solidFill>
                <a:schemeClr val="dk1"/>
              </a:solidFill>
              <a:latin typeface="Calibri"/>
              <a:ea typeface="Calibri"/>
              <a:cs typeface="Calibri"/>
              <a:sym typeface="Calibri"/>
            </a:endParaRPr>
          </a:p>
        </p:txBody>
      </p:sp>
      <p:sp>
        <p:nvSpPr>
          <p:cNvPr id="1025" name="Google Shape;1025;p27">
            <a:hlinkClick r:id="rId9"/>
          </p:cNvPr>
          <p:cNvSpPr txBox="1"/>
          <p:nvPr/>
        </p:nvSpPr>
        <p:spPr>
          <a:xfrm>
            <a:off x="1051560" y="2450592"/>
            <a:ext cx="16002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r:id="rId10"/>
              </a:rPr>
              <a:t>LangGraph</a:t>
            </a:r>
            <a:endParaRPr b="0" i="0" sz="1400" u="none" cap="none" strike="noStrike">
              <a:solidFill>
                <a:schemeClr val="dk1"/>
              </a:solidFill>
              <a:latin typeface="Calibri"/>
              <a:ea typeface="Calibri"/>
              <a:cs typeface="Calibri"/>
              <a:sym typeface="Calibri"/>
            </a:endParaRPr>
          </a:p>
        </p:txBody>
      </p:sp>
      <p:sp>
        <p:nvSpPr>
          <p:cNvPr id="1026" name="Google Shape;1026;p27"/>
          <p:cNvSpPr txBox="1"/>
          <p:nvPr/>
        </p:nvSpPr>
        <p:spPr>
          <a:xfrm>
            <a:off x="2697480" y="2450592"/>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A state machine on top of LangChain. Nodes, edges, a TypedDict blackboard.</a:t>
            </a:r>
            <a:endParaRPr b="0" i="0" sz="950" u="none" cap="none" strike="noStrike">
              <a:solidFill>
                <a:schemeClr val="dk1"/>
              </a:solidFill>
              <a:latin typeface="Calibri"/>
              <a:ea typeface="Calibri"/>
              <a:cs typeface="Calibri"/>
              <a:sym typeface="Calibri"/>
            </a:endParaRPr>
          </a:p>
        </p:txBody>
      </p:sp>
      <p:sp>
        <p:nvSpPr>
          <p:cNvPr id="1027" name="Google Shape;1027;p27"/>
          <p:cNvSpPr txBox="1"/>
          <p:nvPr/>
        </p:nvSpPr>
        <p:spPr>
          <a:xfrm>
            <a:off x="5715000" y="2450592"/>
            <a:ext cx="23774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The same auditor → refactorer → qa loop, typed.</a:t>
            </a:r>
            <a:endParaRPr b="0" i="0" sz="950" u="none" cap="none" strike="noStrike">
              <a:solidFill>
                <a:schemeClr val="dk1"/>
              </a:solidFill>
              <a:latin typeface="Calibri"/>
              <a:ea typeface="Calibri"/>
              <a:cs typeface="Calibri"/>
              <a:sym typeface="Calibri"/>
            </a:endParaRPr>
          </a:p>
        </p:txBody>
      </p:sp>
      <p:sp>
        <p:nvSpPr>
          <p:cNvPr id="1028" name="Google Shape;1028;p27"/>
          <p:cNvSpPr/>
          <p:nvPr/>
        </p:nvSpPr>
        <p:spPr>
          <a:xfrm>
            <a:off x="502920" y="3108960"/>
            <a:ext cx="8138160" cy="566928"/>
          </a:xfrm>
          <a:prstGeom prst="roundRect">
            <a:avLst>
              <a:gd fmla="val 1451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27"/>
          <p:cNvSpPr/>
          <p:nvPr/>
        </p:nvSpPr>
        <p:spPr>
          <a:xfrm>
            <a:off x="667512" y="3255264"/>
            <a:ext cx="274320" cy="274320"/>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27"/>
          <p:cNvSpPr txBox="1"/>
          <p:nvPr/>
        </p:nvSpPr>
        <p:spPr>
          <a:xfrm>
            <a:off x="667512" y="325526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4</a:t>
            </a:r>
            <a:endParaRPr b="0" i="0" sz="1000" u="none" cap="none" strike="noStrike">
              <a:solidFill>
                <a:schemeClr val="dk1"/>
              </a:solidFill>
              <a:latin typeface="Calibri"/>
              <a:ea typeface="Calibri"/>
              <a:cs typeface="Calibri"/>
              <a:sym typeface="Calibri"/>
            </a:endParaRPr>
          </a:p>
        </p:txBody>
      </p:sp>
      <p:sp>
        <p:nvSpPr>
          <p:cNvPr id="1031" name="Google Shape;1031;p27">
            <a:hlinkClick r:id="rId11"/>
          </p:cNvPr>
          <p:cNvSpPr txBox="1"/>
          <p:nvPr/>
        </p:nvSpPr>
        <p:spPr>
          <a:xfrm>
            <a:off x="1051560" y="3108960"/>
            <a:ext cx="16002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mbria"/>
              <a:buNone/>
            </a:pPr>
            <a:r>
              <a:rPr b="1" i="0" lang="en-US" sz="1400" u="sng" cap="none" strike="noStrike">
                <a:solidFill>
                  <a:schemeClr val="hlink"/>
                </a:solidFill>
                <a:latin typeface="Cambria"/>
                <a:ea typeface="Cambria"/>
                <a:cs typeface="Cambria"/>
                <a:sym typeface="Cambria"/>
                <a:hlinkClick r:id="rId12"/>
              </a:rPr>
              <a:t>Deep Agents</a:t>
            </a:r>
            <a:endParaRPr b="0" i="0" sz="1400" u="none" cap="none" strike="noStrike">
              <a:solidFill>
                <a:schemeClr val="dk1"/>
              </a:solidFill>
              <a:latin typeface="Calibri"/>
              <a:ea typeface="Calibri"/>
              <a:cs typeface="Calibri"/>
              <a:sym typeface="Calibri"/>
            </a:endParaRPr>
          </a:p>
        </p:txBody>
      </p:sp>
      <p:sp>
        <p:nvSpPr>
          <p:cNvPr id="1032" name="Google Shape;1032;p27"/>
          <p:cNvSpPr txBox="1"/>
          <p:nvPr/>
        </p:nvSpPr>
        <p:spPr>
          <a:xfrm>
            <a:off x="2697480" y="3108960"/>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50"/>
              <a:buFont typeface="Calibri"/>
              <a:buNone/>
            </a:pPr>
            <a:r>
              <a:rPr b="0" i="0" lang="en-US" sz="950" u="none" cap="none" strike="noStrike">
                <a:solidFill>
                  <a:srgbClr val="D8CDEE"/>
                </a:solidFill>
                <a:latin typeface="Calibri"/>
                <a:ea typeface="Calibri"/>
                <a:cs typeface="Calibri"/>
                <a:sym typeface="Calibri"/>
              </a:rPr>
              <a:t>A batteries-included LangGraph harness: todo planner, filesystem tools, task subagents.</a:t>
            </a:r>
            <a:endParaRPr b="0" i="0" sz="950" u="none" cap="none" strike="noStrike">
              <a:solidFill>
                <a:schemeClr val="dk1"/>
              </a:solidFill>
              <a:latin typeface="Calibri"/>
              <a:ea typeface="Calibri"/>
              <a:cs typeface="Calibri"/>
              <a:sym typeface="Calibri"/>
            </a:endParaRPr>
          </a:p>
        </p:txBody>
      </p:sp>
      <p:sp>
        <p:nvSpPr>
          <p:cNvPr id="1033" name="Google Shape;1033;p27"/>
          <p:cNvSpPr txBox="1"/>
          <p:nvPr/>
        </p:nvSpPr>
        <p:spPr>
          <a:xfrm>
            <a:off x="5715000" y="3108960"/>
            <a:ext cx="23774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950"/>
              <a:buFont typeface="Calibri"/>
              <a:buNone/>
            </a:pPr>
            <a:r>
              <a:rPr b="0" i="0" lang="en-US" sz="950" u="none" cap="none" strike="noStrike">
                <a:solidFill>
                  <a:srgbClr val="BBA9DE"/>
                </a:solidFill>
                <a:latin typeface="Calibri"/>
                <a:ea typeface="Calibri"/>
                <a:cs typeface="Calibri"/>
                <a:sym typeface="Calibri"/>
              </a:rPr>
              <a:t>Coordinator + PyExamine subagent + MLScent subagent.</a:t>
            </a:r>
            <a:endParaRPr b="0" i="0" sz="950" u="none" cap="none" strike="noStrike">
              <a:solidFill>
                <a:schemeClr val="dk1"/>
              </a:solidFill>
              <a:latin typeface="Calibri"/>
              <a:ea typeface="Calibri"/>
              <a:cs typeface="Calibri"/>
              <a:sym typeface="Calibri"/>
            </a:endParaRPr>
          </a:p>
        </p:txBody>
      </p:sp>
      <p:sp>
        <p:nvSpPr>
          <p:cNvPr id="1034" name="Google Shape;1034;p27"/>
          <p:cNvSpPr/>
          <p:nvPr/>
        </p:nvSpPr>
        <p:spPr>
          <a:xfrm>
            <a:off x="502920" y="4572000"/>
            <a:ext cx="8138160" cy="402336"/>
          </a:xfrm>
          <a:prstGeom prst="roundRect">
            <a:avLst>
              <a:gd fmla="val 18182"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27"/>
          <p:cNvSpPr txBox="1"/>
          <p:nvPr/>
        </p:nvSpPr>
        <p:spPr>
          <a:xfrm>
            <a:off x="649224" y="4572000"/>
            <a:ext cx="7845552"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1100"/>
              <a:buFont typeface="Calibri"/>
              <a:buNone/>
            </a:pPr>
            <a:r>
              <a:rPr b="0" i="1" lang="en-US" sz="1100" u="none" cap="none" strike="noStrike">
                <a:solidFill>
                  <a:srgbClr val="E9DFFF"/>
                </a:solidFill>
                <a:latin typeface="Calibri"/>
                <a:ea typeface="Calibri"/>
                <a:cs typeface="Calibri"/>
                <a:sym typeface="Calibri"/>
              </a:rPr>
              <a:t>Every layer up buys you glue and costs you visibility. Pick the lowest layer that makes your loop boring — not the highest one that makes a demo impressive.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040" name="Shape 1040"/>
        <p:cNvGrpSpPr/>
        <p:nvPr/>
      </p:nvGrpSpPr>
      <p:grpSpPr>
        <a:xfrm>
          <a:off x="0" y="0"/>
          <a:ext cx="0" cy="0"/>
          <a:chOff x="0" y="0"/>
          <a:chExt cx="0" cy="0"/>
        </a:xfrm>
      </p:grpSpPr>
      <p:sp>
        <p:nvSpPr>
          <p:cNvPr id="1041" name="Google Shape;1041;p28"/>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§3.2 · THE SAME LOOP, TYPED AND DRAWN</a:t>
            </a:r>
            <a:endParaRPr b="0" i="0" sz="1050" u="none" cap="none" strike="noStrike">
              <a:solidFill>
                <a:schemeClr val="dk1"/>
              </a:solidFill>
              <a:latin typeface="Calibri"/>
              <a:ea typeface="Calibri"/>
              <a:cs typeface="Calibri"/>
              <a:sym typeface="Calibri"/>
            </a:endParaRPr>
          </a:p>
        </p:txBody>
      </p:sp>
      <p:sp>
        <p:nvSpPr>
          <p:cNvPr id="1042" name="Google Shape;1042;p28"/>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LangGraph is an FSM whose boxes can call an LLM</a:t>
            </a:r>
            <a:endParaRPr b="0" i="0" sz="2700" u="none" cap="none" strike="noStrike">
              <a:solidFill>
                <a:schemeClr val="dk1"/>
              </a:solidFill>
              <a:latin typeface="Calibri"/>
              <a:ea typeface="Calibri"/>
              <a:cs typeface="Calibri"/>
              <a:sym typeface="Calibri"/>
            </a:endParaRPr>
          </a:p>
        </p:txBody>
      </p:sp>
      <p:sp>
        <p:nvSpPr>
          <p:cNvPr id="1043" name="Google Shape;1043;p28">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044" name="Google Shape;1044;p28"/>
          <p:cNvSpPr/>
          <p:nvPr/>
        </p:nvSpPr>
        <p:spPr>
          <a:xfrm>
            <a:off x="502920" y="1133856"/>
            <a:ext cx="3703320" cy="1975104"/>
          </a:xfrm>
          <a:prstGeom prst="roundRect">
            <a:avLst>
              <a:gd fmla="val 4167"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28"/>
          <p:cNvSpPr txBox="1"/>
          <p:nvPr/>
        </p:nvSpPr>
        <p:spPr>
          <a:xfrm>
            <a:off x="667512" y="1243584"/>
            <a:ext cx="33832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50"/>
              <a:buFont typeface="Courier New"/>
              <a:buNone/>
            </a:pPr>
            <a:r>
              <a:rPr b="0" i="0" lang="en-US" sz="850" u="none" cap="none" strike="noStrike">
                <a:solidFill>
                  <a:srgbClr val="A78BFA"/>
                </a:solidFill>
                <a:latin typeface="Courier New"/>
                <a:ea typeface="Courier New"/>
                <a:cs typeface="Courier New"/>
                <a:sym typeface="Courier New"/>
              </a:rPr>
              <a:t>the classic FSM: a turnstile</a:t>
            </a:r>
            <a:endParaRPr b="0" i="0" sz="850" u="none" cap="none" strike="noStrike">
              <a:solidFill>
                <a:schemeClr val="dk1"/>
              </a:solidFill>
              <a:latin typeface="Calibri"/>
              <a:ea typeface="Calibri"/>
              <a:cs typeface="Calibri"/>
              <a:sym typeface="Calibri"/>
            </a:endParaRPr>
          </a:p>
        </p:txBody>
      </p:sp>
      <p:sp>
        <p:nvSpPr>
          <p:cNvPr id="1046" name="Google Shape;1046;p28"/>
          <p:cNvSpPr/>
          <p:nvPr/>
        </p:nvSpPr>
        <p:spPr>
          <a:xfrm>
            <a:off x="1005840" y="1837944"/>
            <a:ext cx="1005840" cy="640080"/>
          </a:xfrm>
          <a:prstGeom prst="ellipse">
            <a:avLst/>
          </a:prstGeom>
          <a:solidFill>
            <a:srgbClr val="3D2A5C"/>
          </a:solidFill>
          <a:ln cap="flat" cmpd="sng" w="1905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28"/>
          <p:cNvSpPr txBox="1"/>
          <p:nvPr/>
        </p:nvSpPr>
        <p:spPr>
          <a:xfrm>
            <a:off x="1005840" y="1837944"/>
            <a:ext cx="10058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7185"/>
              </a:buClr>
              <a:buSzPts val="900"/>
              <a:buFont typeface="Courier New"/>
              <a:buNone/>
            </a:pPr>
            <a:r>
              <a:rPr b="1" i="0" lang="en-US" sz="900" u="none" cap="none" strike="noStrike">
                <a:solidFill>
                  <a:srgbClr val="FB7185"/>
                </a:solidFill>
                <a:latin typeface="Courier New"/>
                <a:ea typeface="Courier New"/>
                <a:cs typeface="Courier New"/>
                <a:sym typeface="Courier New"/>
              </a:rPr>
              <a:t>Locked</a:t>
            </a:r>
            <a:endParaRPr b="0" i="0" sz="900" u="none" cap="none" strike="noStrike">
              <a:solidFill>
                <a:schemeClr val="dk1"/>
              </a:solidFill>
              <a:latin typeface="Calibri"/>
              <a:ea typeface="Calibri"/>
              <a:cs typeface="Calibri"/>
              <a:sym typeface="Calibri"/>
            </a:endParaRPr>
          </a:p>
        </p:txBody>
      </p:sp>
      <p:sp>
        <p:nvSpPr>
          <p:cNvPr id="1048" name="Google Shape;1048;p28"/>
          <p:cNvSpPr/>
          <p:nvPr/>
        </p:nvSpPr>
        <p:spPr>
          <a:xfrm>
            <a:off x="2697480" y="1837944"/>
            <a:ext cx="1005840" cy="640080"/>
          </a:xfrm>
          <a:prstGeom prst="ellipse">
            <a:avLst/>
          </a:prstGeom>
          <a:solidFill>
            <a:srgbClr val="3D2A5C"/>
          </a:solidFill>
          <a:ln cap="flat" cmpd="sng" w="1905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28"/>
          <p:cNvSpPr txBox="1"/>
          <p:nvPr/>
        </p:nvSpPr>
        <p:spPr>
          <a:xfrm>
            <a:off x="2697480" y="1837944"/>
            <a:ext cx="10058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900"/>
              <a:buFont typeface="Courier New"/>
              <a:buNone/>
            </a:pPr>
            <a:r>
              <a:rPr b="1" i="0" lang="en-US" sz="900" u="none" cap="none" strike="noStrike">
                <a:solidFill>
                  <a:srgbClr val="5EE9B5"/>
                </a:solidFill>
                <a:latin typeface="Courier New"/>
                <a:ea typeface="Courier New"/>
                <a:cs typeface="Courier New"/>
                <a:sym typeface="Courier New"/>
              </a:rPr>
              <a:t>Unlocked</a:t>
            </a:r>
            <a:endParaRPr b="0" i="0" sz="900" u="none" cap="none" strike="noStrike">
              <a:solidFill>
                <a:schemeClr val="dk1"/>
              </a:solidFill>
              <a:latin typeface="Calibri"/>
              <a:ea typeface="Calibri"/>
              <a:cs typeface="Calibri"/>
              <a:sym typeface="Calibri"/>
            </a:endParaRPr>
          </a:p>
        </p:txBody>
      </p:sp>
      <p:cxnSp>
        <p:nvCxnSpPr>
          <p:cNvPr id="1050" name="Google Shape;1050;p28"/>
          <p:cNvCxnSpPr/>
          <p:nvPr/>
        </p:nvCxnSpPr>
        <p:spPr>
          <a:xfrm>
            <a:off x="2029968" y="2011680"/>
            <a:ext cx="649224" cy="914"/>
          </a:xfrm>
          <a:prstGeom prst="straightConnector1">
            <a:avLst/>
          </a:prstGeom>
          <a:noFill/>
          <a:ln cap="flat" cmpd="sng" w="19050">
            <a:solidFill>
              <a:srgbClr val="5EE9B5"/>
            </a:solidFill>
            <a:prstDash val="solid"/>
            <a:round/>
            <a:headEnd len="sm" w="sm" type="none"/>
            <a:tailEnd len="med" w="med" type="triangle"/>
          </a:ln>
        </p:spPr>
      </p:cxnSp>
      <p:cxnSp>
        <p:nvCxnSpPr>
          <p:cNvPr id="1051" name="Google Shape;1051;p28"/>
          <p:cNvCxnSpPr/>
          <p:nvPr/>
        </p:nvCxnSpPr>
        <p:spPr>
          <a:xfrm flipH="1">
            <a:off x="2029968" y="2304288"/>
            <a:ext cx="649224" cy="914"/>
          </a:xfrm>
          <a:prstGeom prst="straightConnector1">
            <a:avLst/>
          </a:prstGeom>
          <a:noFill/>
          <a:ln cap="flat" cmpd="sng" w="19050">
            <a:solidFill>
              <a:srgbClr val="FB7185"/>
            </a:solidFill>
            <a:prstDash val="solid"/>
            <a:round/>
            <a:headEnd len="sm" w="sm" type="none"/>
            <a:tailEnd len="med" w="med" type="triangle"/>
          </a:ln>
        </p:spPr>
      </p:cxnSp>
      <p:sp>
        <p:nvSpPr>
          <p:cNvPr id="1052" name="Google Shape;1052;p28"/>
          <p:cNvSpPr txBox="1"/>
          <p:nvPr/>
        </p:nvSpPr>
        <p:spPr>
          <a:xfrm>
            <a:off x="1783080" y="1773936"/>
            <a:ext cx="114300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coin</a:t>
            </a:r>
            <a:endParaRPr b="0" i="0" sz="800" u="none" cap="none" strike="noStrike">
              <a:solidFill>
                <a:schemeClr val="dk1"/>
              </a:solidFill>
              <a:latin typeface="Calibri"/>
              <a:ea typeface="Calibri"/>
              <a:cs typeface="Calibri"/>
              <a:sym typeface="Calibri"/>
            </a:endParaRPr>
          </a:p>
        </p:txBody>
      </p:sp>
      <p:sp>
        <p:nvSpPr>
          <p:cNvPr id="1053" name="Google Shape;1053;p28"/>
          <p:cNvSpPr txBox="1"/>
          <p:nvPr/>
        </p:nvSpPr>
        <p:spPr>
          <a:xfrm>
            <a:off x="1783080" y="2377440"/>
            <a:ext cx="114300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7185"/>
              </a:buClr>
              <a:buSzPts val="800"/>
              <a:buFont typeface="Courier New"/>
              <a:buNone/>
            </a:pPr>
            <a:r>
              <a:rPr b="0" i="0" lang="en-US" sz="800" u="none" cap="none" strike="noStrike">
                <a:solidFill>
                  <a:srgbClr val="FB7185"/>
                </a:solidFill>
                <a:latin typeface="Courier New"/>
                <a:ea typeface="Courier New"/>
                <a:cs typeface="Courier New"/>
                <a:sym typeface="Courier New"/>
              </a:rPr>
              <a:t>push</a:t>
            </a:r>
            <a:endParaRPr b="0" i="0" sz="800" u="none" cap="none" strike="noStrike">
              <a:solidFill>
                <a:schemeClr val="dk1"/>
              </a:solidFill>
              <a:latin typeface="Calibri"/>
              <a:ea typeface="Calibri"/>
              <a:cs typeface="Calibri"/>
              <a:sym typeface="Calibri"/>
            </a:endParaRPr>
          </a:p>
        </p:txBody>
      </p:sp>
      <p:sp>
        <p:nvSpPr>
          <p:cNvPr id="1054" name="Google Shape;1054;p28"/>
          <p:cNvSpPr txBox="1"/>
          <p:nvPr/>
        </p:nvSpPr>
        <p:spPr>
          <a:xfrm>
            <a:off x="667512" y="2706624"/>
            <a:ext cx="33832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alibri"/>
              <a:buNone/>
            </a:pPr>
            <a:r>
              <a:rPr b="0" i="1" lang="en-US" sz="900" u="none" cap="none" strike="noStrike">
                <a:solidFill>
                  <a:srgbClr val="E9DFFF"/>
                </a:solidFill>
                <a:latin typeface="Calibri"/>
                <a:ea typeface="Calibri"/>
                <a:cs typeface="Calibri"/>
                <a:sym typeface="Calibri"/>
              </a:rPr>
              <a:t>A state, an event, a next state. Swap in TeamState and node functions — that is LangGraph.</a:t>
            </a:r>
            <a:endParaRPr b="0" i="0" sz="900" u="none" cap="none" strike="noStrike">
              <a:solidFill>
                <a:schemeClr val="dk1"/>
              </a:solidFill>
              <a:latin typeface="Calibri"/>
              <a:ea typeface="Calibri"/>
              <a:cs typeface="Calibri"/>
              <a:sym typeface="Calibri"/>
            </a:endParaRPr>
          </a:p>
        </p:txBody>
      </p:sp>
      <p:sp>
        <p:nvSpPr>
          <p:cNvPr id="1055" name="Google Shape;1055;p28"/>
          <p:cNvSpPr/>
          <p:nvPr/>
        </p:nvSpPr>
        <p:spPr>
          <a:xfrm>
            <a:off x="4389120" y="1133856"/>
            <a:ext cx="4251960" cy="1975104"/>
          </a:xfrm>
          <a:prstGeom prst="roundRect">
            <a:avLst>
              <a:gd fmla="val 4167"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28"/>
          <p:cNvSpPr txBox="1"/>
          <p:nvPr/>
        </p:nvSpPr>
        <p:spPr>
          <a:xfrm>
            <a:off x="4553712" y="1243584"/>
            <a:ext cx="18288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FOUR WORDS</a:t>
            </a:r>
            <a:endParaRPr b="0" i="0" sz="800" u="none" cap="none" strike="noStrike">
              <a:solidFill>
                <a:schemeClr val="dk1"/>
              </a:solidFill>
              <a:latin typeface="Calibri"/>
              <a:ea typeface="Calibri"/>
              <a:cs typeface="Calibri"/>
              <a:sym typeface="Calibri"/>
            </a:endParaRPr>
          </a:p>
        </p:txBody>
      </p:sp>
      <p:sp>
        <p:nvSpPr>
          <p:cNvPr id="1057" name="Google Shape;1057;p28"/>
          <p:cNvSpPr txBox="1"/>
          <p:nvPr/>
        </p:nvSpPr>
        <p:spPr>
          <a:xfrm>
            <a:off x="5806440" y="1243584"/>
            <a:ext cx="13258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IN THIS NOTEBOOK</a:t>
            </a:r>
            <a:endParaRPr b="0" i="0" sz="800" u="none" cap="none" strike="noStrike">
              <a:solidFill>
                <a:schemeClr val="dk1"/>
              </a:solidFill>
              <a:latin typeface="Calibri"/>
              <a:ea typeface="Calibri"/>
              <a:cs typeface="Calibri"/>
              <a:sym typeface="Calibri"/>
            </a:endParaRPr>
          </a:p>
        </p:txBody>
      </p:sp>
      <p:sp>
        <p:nvSpPr>
          <p:cNvPr id="1058" name="Google Shape;1058;p28"/>
          <p:cNvSpPr txBox="1"/>
          <p:nvPr/>
        </p:nvSpPr>
        <p:spPr>
          <a:xfrm>
            <a:off x="7178040" y="1243584"/>
            <a:ext cx="13258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IN PART 2</a:t>
            </a:r>
            <a:endParaRPr b="0" i="0" sz="800" u="none" cap="none" strike="noStrike">
              <a:solidFill>
                <a:schemeClr val="dk1"/>
              </a:solidFill>
              <a:latin typeface="Calibri"/>
              <a:ea typeface="Calibri"/>
              <a:cs typeface="Calibri"/>
              <a:sym typeface="Calibri"/>
            </a:endParaRPr>
          </a:p>
        </p:txBody>
      </p:sp>
      <p:sp>
        <p:nvSpPr>
          <p:cNvPr id="1059" name="Google Shape;1059;p28"/>
          <p:cNvSpPr txBox="1"/>
          <p:nvPr/>
        </p:nvSpPr>
        <p:spPr>
          <a:xfrm>
            <a:off x="4553712" y="1517904"/>
            <a:ext cx="12801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50"/>
              <a:buFont typeface="Calibri"/>
              <a:buNone/>
            </a:pPr>
            <a:r>
              <a:rPr b="1" i="0" lang="en-US" sz="950" u="none" cap="none" strike="noStrike">
                <a:solidFill>
                  <a:srgbClr val="E9DFFF"/>
                </a:solidFill>
                <a:latin typeface="Calibri"/>
                <a:ea typeface="Calibri"/>
                <a:cs typeface="Calibri"/>
                <a:sym typeface="Calibri"/>
              </a:rPr>
              <a:t>State</a:t>
            </a:r>
            <a:endParaRPr b="0" i="0" sz="950" u="none" cap="none" strike="noStrike">
              <a:solidFill>
                <a:schemeClr val="dk1"/>
              </a:solidFill>
              <a:latin typeface="Calibri"/>
              <a:ea typeface="Calibri"/>
              <a:cs typeface="Calibri"/>
              <a:sym typeface="Calibri"/>
            </a:endParaRPr>
          </a:p>
        </p:txBody>
      </p:sp>
      <p:sp>
        <p:nvSpPr>
          <p:cNvPr id="1060" name="Google Shape;1060;p28"/>
          <p:cNvSpPr txBox="1"/>
          <p:nvPr/>
        </p:nvSpPr>
        <p:spPr>
          <a:xfrm>
            <a:off x="5806440" y="1517904"/>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TeamState (TypedDict)</a:t>
            </a:r>
            <a:endParaRPr b="0" i="0" sz="850" u="none" cap="none" strike="noStrike">
              <a:solidFill>
                <a:schemeClr val="dk1"/>
              </a:solidFill>
              <a:latin typeface="Calibri"/>
              <a:ea typeface="Calibri"/>
              <a:cs typeface="Calibri"/>
              <a:sym typeface="Calibri"/>
            </a:endParaRPr>
          </a:p>
        </p:txBody>
      </p:sp>
      <p:sp>
        <p:nvSpPr>
          <p:cNvPr id="1061" name="Google Shape;1061;p28"/>
          <p:cNvSpPr txBox="1"/>
          <p:nvPr/>
        </p:nvSpPr>
        <p:spPr>
          <a:xfrm>
            <a:off x="7178040" y="1517904"/>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WorkflowState dataclass</a:t>
            </a:r>
            <a:endParaRPr b="0" i="0" sz="850" u="none" cap="none" strike="noStrike">
              <a:solidFill>
                <a:schemeClr val="dk1"/>
              </a:solidFill>
              <a:latin typeface="Calibri"/>
              <a:ea typeface="Calibri"/>
              <a:cs typeface="Calibri"/>
              <a:sym typeface="Calibri"/>
            </a:endParaRPr>
          </a:p>
        </p:txBody>
      </p:sp>
      <p:cxnSp>
        <p:nvCxnSpPr>
          <p:cNvPr id="1062" name="Google Shape;1062;p28"/>
          <p:cNvCxnSpPr/>
          <p:nvPr/>
        </p:nvCxnSpPr>
        <p:spPr>
          <a:xfrm>
            <a:off x="4553712" y="1883664"/>
            <a:ext cx="3931920" cy="914"/>
          </a:xfrm>
          <a:prstGeom prst="straightConnector1">
            <a:avLst/>
          </a:prstGeom>
          <a:noFill/>
          <a:ln cap="flat" cmpd="sng" w="9525">
            <a:solidFill>
              <a:srgbClr val="5B4386"/>
            </a:solidFill>
            <a:prstDash val="solid"/>
            <a:round/>
            <a:headEnd len="sm" w="sm" type="none"/>
            <a:tailEnd len="sm" w="sm" type="none"/>
          </a:ln>
        </p:spPr>
      </p:cxnSp>
      <p:sp>
        <p:nvSpPr>
          <p:cNvPr id="1063" name="Google Shape;1063;p28"/>
          <p:cNvSpPr txBox="1"/>
          <p:nvPr/>
        </p:nvSpPr>
        <p:spPr>
          <a:xfrm>
            <a:off x="4553712" y="1901952"/>
            <a:ext cx="12801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50"/>
              <a:buFont typeface="Calibri"/>
              <a:buNone/>
            </a:pPr>
            <a:r>
              <a:rPr b="1" i="0" lang="en-US" sz="950" u="none" cap="none" strike="noStrike">
                <a:solidFill>
                  <a:srgbClr val="E9DFFF"/>
                </a:solidFill>
                <a:latin typeface="Calibri"/>
                <a:ea typeface="Calibri"/>
                <a:cs typeface="Calibri"/>
                <a:sym typeface="Calibri"/>
              </a:rPr>
              <a:t>Node</a:t>
            </a:r>
            <a:endParaRPr b="0" i="0" sz="950" u="none" cap="none" strike="noStrike">
              <a:solidFill>
                <a:schemeClr val="dk1"/>
              </a:solidFill>
              <a:latin typeface="Calibri"/>
              <a:ea typeface="Calibri"/>
              <a:cs typeface="Calibri"/>
              <a:sym typeface="Calibri"/>
            </a:endParaRPr>
          </a:p>
        </p:txBody>
      </p:sp>
      <p:sp>
        <p:nvSpPr>
          <p:cNvPr id="1064" name="Google Shape;1064;p28"/>
          <p:cNvSpPr txBox="1"/>
          <p:nvPr/>
        </p:nvSpPr>
        <p:spPr>
          <a:xfrm>
            <a:off x="5806440" y="1901952"/>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a function state → delta</a:t>
            </a:r>
            <a:endParaRPr b="0" i="0" sz="850" u="none" cap="none" strike="noStrike">
              <a:solidFill>
                <a:schemeClr val="dk1"/>
              </a:solidFill>
              <a:latin typeface="Calibri"/>
              <a:ea typeface="Calibri"/>
              <a:cs typeface="Calibri"/>
              <a:sym typeface="Calibri"/>
            </a:endParaRPr>
          </a:p>
        </p:txBody>
      </p:sp>
      <p:sp>
        <p:nvSpPr>
          <p:cNvPr id="1065" name="Google Shape;1065;p28"/>
          <p:cNvSpPr txBox="1"/>
          <p:nvPr/>
        </p:nvSpPr>
        <p:spPr>
          <a:xfrm>
            <a:off x="7178040" y="1901952"/>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audit / refactor / qa_verify</a:t>
            </a:r>
            <a:endParaRPr b="0" i="0" sz="850" u="none" cap="none" strike="noStrike">
              <a:solidFill>
                <a:schemeClr val="dk1"/>
              </a:solidFill>
              <a:latin typeface="Calibri"/>
              <a:ea typeface="Calibri"/>
              <a:cs typeface="Calibri"/>
              <a:sym typeface="Calibri"/>
            </a:endParaRPr>
          </a:p>
        </p:txBody>
      </p:sp>
      <p:cxnSp>
        <p:nvCxnSpPr>
          <p:cNvPr id="1066" name="Google Shape;1066;p28"/>
          <p:cNvCxnSpPr/>
          <p:nvPr/>
        </p:nvCxnSpPr>
        <p:spPr>
          <a:xfrm>
            <a:off x="4553712" y="2267712"/>
            <a:ext cx="3931920" cy="914"/>
          </a:xfrm>
          <a:prstGeom prst="straightConnector1">
            <a:avLst/>
          </a:prstGeom>
          <a:noFill/>
          <a:ln cap="flat" cmpd="sng" w="9525">
            <a:solidFill>
              <a:srgbClr val="5B4386"/>
            </a:solidFill>
            <a:prstDash val="solid"/>
            <a:round/>
            <a:headEnd len="sm" w="sm" type="none"/>
            <a:tailEnd len="sm" w="sm" type="none"/>
          </a:ln>
        </p:spPr>
      </p:cxnSp>
      <p:sp>
        <p:nvSpPr>
          <p:cNvPr id="1067" name="Google Shape;1067;p28"/>
          <p:cNvSpPr txBox="1"/>
          <p:nvPr/>
        </p:nvSpPr>
        <p:spPr>
          <a:xfrm>
            <a:off x="4553712" y="2286000"/>
            <a:ext cx="12801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50"/>
              <a:buFont typeface="Calibri"/>
              <a:buNone/>
            </a:pPr>
            <a:r>
              <a:rPr b="1" i="0" lang="en-US" sz="950" u="none" cap="none" strike="noStrike">
                <a:solidFill>
                  <a:srgbClr val="E9DFFF"/>
                </a:solidFill>
                <a:latin typeface="Calibri"/>
                <a:ea typeface="Calibri"/>
                <a:cs typeface="Calibri"/>
                <a:sym typeface="Calibri"/>
              </a:rPr>
              <a:t>Edge</a:t>
            </a:r>
            <a:endParaRPr b="0" i="0" sz="950" u="none" cap="none" strike="noStrike">
              <a:solidFill>
                <a:schemeClr val="dk1"/>
              </a:solidFill>
              <a:latin typeface="Calibri"/>
              <a:ea typeface="Calibri"/>
              <a:cs typeface="Calibri"/>
              <a:sym typeface="Calibri"/>
            </a:endParaRPr>
          </a:p>
        </p:txBody>
      </p:sp>
      <p:sp>
        <p:nvSpPr>
          <p:cNvPr id="1068" name="Google Shape;1068;p28"/>
          <p:cNvSpPr txBox="1"/>
          <p:nvPr/>
        </p:nvSpPr>
        <p:spPr>
          <a:xfrm>
            <a:off x="5806440" y="2286000"/>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“after auditor, always refactorer”</a:t>
            </a:r>
            <a:endParaRPr b="0" i="0" sz="850" u="none" cap="none" strike="noStrike">
              <a:solidFill>
                <a:schemeClr val="dk1"/>
              </a:solidFill>
              <a:latin typeface="Calibri"/>
              <a:ea typeface="Calibri"/>
              <a:cs typeface="Calibri"/>
              <a:sym typeface="Calibri"/>
            </a:endParaRPr>
          </a:p>
        </p:txBody>
      </p:sp>
      <p:sp>
        <p:nvSpPr>
          <p:cNvPr id="1069" name="Google Shape;1069;p28"/>
          <p:cNvSpPr txBox="1"/>
          <p:nvPr/>
        </p:nvSpPr>
        <p:spPr>
          <a:xfrm>
            <a:off x="7178040" y="2286000"/>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the next line in run_workflow</a:t>
            </a:r>
            <a:endParaRPr b="0" i="0" sz="850" u="none" cap="none" strike="noStrike">
              <a:solidFill>
                <a:schemeClr val="dk1"/>
              </a:solidFill>
              <a:latin typeface="Calibri"/>
              <a:ea typeface="Calibri"/>
              <a:cs typeface="Calibri"/>
              <a:sym typeface="Calibri"/>
            </a:endParaRPr>
          </a:p>
        </p:txBody>
      </p:sp>
      <p:cxnSp>
        <p:nvCxnSpPr>
          <p:cNvPr id="1070" name="Google Shape;1070;p28"/>
          <p:cNvCxnSpPr/>
          <p:nvPr/>
        </p:nvCxnSpPr>
        <p:spPr>
          <a:xfrm>
            <a:off x="4553712" y="2651760"/>
            <a:ext cx="3931920" cy="914"/>
          </a:xfrm>
          <a:prstGeom prst="straightConnector1">
            <a:avLst/>
          </a:prstGeom>
          <a:noFill/>
          <a:ln cap="flat" cmpd="sng" w="9525">
            <a:solidFill>
              <a:srgbClr val="5B4386"/>
            </a:solidFill>
            <a:prstDash val="solid"/>
            <a:round/>
            <a:headEnd len="sm" w="sm" type="none"/>
            <a:tailEnd len="sm" w="sm" type="none"/>
          </a:ln>
        </p:spPr>
      </p:cxnSp>
      <p:sp>
        <p:nvSpPr>
          <p:cNvPr id="1071" name="Google Shape;1071;p28"/>
          <p:cNvSpPr txBox="1"/>
          <p:nvPr/>
        </p:nvSpPr>
        <p:spPr>
          <a:xfrm>
            <a:off x="4553712" y="2670048"/>
            <a:ext cx="12801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50"/>
              <a:buFont typeface="Calibri"/>
              <a:buNone/>
            </a:pPr>
            <a:r>
              <a:rPr b="1" i="0" lang="en-US" sz="950" u="none" cap="none" strike="noStrike">
                <a:solidFill>
                  <a:srgbClr val="E9DFFF"/>
                </a:solidFill>
                <a:latin typeface="Calibri"/>
                <a:ea typeface="Calibri"/>
                <a:cs typeface="Calibri"/>
                <a:sym typeface="Calibri"/>
              </a:rPr>
              <a:t>Conditional edge</a:t>
            </a:r>
            <a:endParaRPr b="0" i="0" sz="950" u="none" cap="none" strike="noStrike">
              <a:solidFill>
                <a:schemeClr val="dk1"/>
              </a:solidFill>
              <a:latin typeface="Calibri"/>
              <a:ea typeface="Calibri"/>
              <a:cs typeface="Calibri"/>
              <a:sym typeface="Calibri"/>
            </a:endParaRPr>
          </a:p>
        </p:txBody>
      </p:sp>
      <p:sp>
        <p:nvSpPr>
          <p:cNvPr id="1072" name="Google Shape;1072;p28"/>
          <p:cNvSpPr txBox="1"/>
          <p:nvPr/>
        </p:nvSpPr>
        <p:spPr>
          <a:xfrm>
            <a:off x="5806440" y="2670048"/>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ourier New"/>
              <a:buNone/>
            </a:pPr>
            <a:r>
              <a:rPr b="0" i="0" lang="en-US" sz="850" u="none" cap="none" strike="noStrike">
                <a:solidFill>
                  <a:srgbClr val="D8CDEE"/>
                </a:solidFill>
                <a:latin typeface="Courier New"/>
                <a:ea typeface="Courier New"/>
                <a:cs typeface="Courier New"/>
                <a:sym typeface="Courier New"/>
              </a:rPr>
              <a:t>_route → done / retry / give_up</a:t>
            </a:r>
            <a:endParaRPr b="0" i="0" sz="850" u="none" cap="none" strike="noStrike">
              <a:solidFill>
                <a:schemeClr val="dk1"/>
              </a:solidFill>
              <a:latin typeface="Calibri"/>
              <a:ea typeface="Calibri"/>
              <a:cs typeface="Calibri"/>
              <a:sym typeface="Calibri"/>
            </a:endParaRPr>
          </a:p>
        </p:txBody>
      </p:sp>
      <p:sp>
        <p:nvSpPr>
          <p:cNvPr id="1073" name="Google Shape;1073;p28"/>
          <p:cNvSpPr txBox="1"/>
          <p:nvPr/>
        </p:nvSpPr>
        <p:spPr>
          <a:xfrm>
            <a:off x="7178040" y="2670048"/>
            <a:ext cx="13258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50"/>
              <a:buFont typeface="Courier New"/>
              <a:buNone/>
            </a:pPr>
            <a:r>
              <a:rPr b="0" i="0" lang="en-US" sz="850" u="none" cap="none" strike="noStrike">
                <a:solidFill>
                  <a:srgbClr val="BBA9DE"/>
                </a:solidFill>
                <a:latin typeface="Courier New"/>
                <a:ea typeface="Courier New"/>
                <a:cs typeface="Courier New"/>
                <a:sym typeface="Courier New"/>
              </a:rPr>
              <a:t>the if inside the for loop</a:t>
            </a:r>
            <a:endParaRPr b="0" i="0" sz="850" u="none" cap="none" strike="noStrike">
              <a:solidFill>
                <a:schemeClr val="dk1"/>
              </a:solidFill>
              <a:latin typeface="Calibri"/>
              <a:ea typeface="Calibri"/>
              <a:cs typeface="Calibri"/>
              <a:sym typeface="Calibri"/>
            </a:endParaRPr>
          </a:p>
        </p:txBody>
      </p:sp>
      <p:sp>
        <p:nvSpPr>
          <p:cNvPr id="1074" name="Google Shape;1074;p28"/>
          <p:cNvSpPr/>
          <p:nvPr/>
        </p:nvSpPr>
        <p:spPr>
          <a:xfrm>
            <a:off x="502920" y="3255264"/>
            <a:ext cx="4892040" cy="1371600"/>
          </a:xfrm>
          <a:prstGeom prst="roundRect">
            <a:avLst>
              <a:gd fmla="val 4667"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28"/>
          <p:cNvSpPr txBox="1"/>
          <p:nvPr/>
        </p:nvSpPr>
        <p:spPr>
          <a:xfrm>
            <a:off x="630936" y="3355848"/>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g = StateGraph(TeamState)</a:t>
            </a:r>
            <a:endParaRPr b="0" i="0" sz="750" u="none" cap="none" strike="noStrike">
              <a:solidFill>
                <a:schemeClr val="dk1"/>
              </a:solidFill>
              <a:latin typeface="Calibri"/>
              <a:ea typeface="Calibri"/>
              <a:cs typeface="Calibri"/>
              <a:sym typeface="Calibri"/>
            </a:endParaRPr>
          </a:p>
        </p:txBody>
      </p:sp>
      <p:sp>
        <p:nvSpPr>
          <p:cNvPr id="1076" name="Google Shape;1076;p28"/>
          <p:cNvSpPr txBox="1"/>
          <p:nvPr/>
        </p:nvSpPr>
        <p:spPr>
          <a:xfrm>
            <a:off x="630936" y="3509467"/>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g.add_node("auditor", auditor_node)   # + refactorer, qa</a:t>
            </a:r>
            <a:endParaRPr b="0" i="0" sz="750" u="none" cap="none" strike="noStrike">
              <a:solidFill>
                <a:schemeClr val="dk1"/>
              </a:solidFill>
              <a:latin typeface="Calibri"/>
              <a:ea typeface="Calibri"/>
              <a:cs typeface="Calibri"/>
              <a:sym typeface="Calibri"/>
            </a:endParaRPr>
          </a:p>
        </p:txBody>
      </p:sp>
      <p:sp>
        <p:nvSpPr>
          <p:cNvPr id="1077" name="Google Shape;1077;p28"/>
          <p:cNvSpPr txBox="1"/>
          <p:nvPr/>
        </p:nvSpPr>
        <p:spPr>
          <a:xfrm>
            <a:off x="630936" y="3663086"/>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g.add_edge(START, "auditor")</a:t>
            </a:r>
            <a:endParaRPr b="0" i="0" sz="750" u="none" cap="none" strike="noStrike">
              <a:solidFill>
                <a:schemeClr val="dk1"/>
              </a:solidFill>
              <a:latin typeface="Calibri"/>
              <a:ea typeface="Calibri"/>
              <a:cs typeface="Calibri"/>
              <a:sym typeface="Calibri"/>
            </a:endParaRPr>
          </a:p>
        </p:txBody>
      </p:sp>
      <p:sp>
        <p:nvSpPr>
          <p:cNvPr id="1078" name="Google Shape;1078;p28"/>
          <p:cNvSpPr txBox="1"/>
          <p:nvPr/>
        </p:nvSpPr>
        <p:spPr>
          <a:xfrm>
            <a:off x="630936" y="3816706"/>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g.add_edge("auditor", "refactorer")</a:t>
            </a:r>
            <a:endParaRPr b="0" i="0" sz="750" u="none" cap="none" strike="noStrike">
              <a:solidFill>
                <a:schemeClr val="dk1"/>
              </a:solidFill>
              <a:latin typeface="Calibri"/>
              <a:ea typeface="Calibri"/>
              <a:cs typeface="Calibri"/>
              <a:sym typeface="Calibri"/>
            </a:endParaRPr>
          </a:p>
        </p:txBody>
      </p:sp>
      <p:sp>
        <p:nvSpPr>
          <p:cNvPr id="1079" name="Google Shape;1079;p28"/>
          <p:cNvSpPr txBox="1"/>
          <p:nvPr/>
        </p:nvSpPr>
        <p:spPr>
          <a:xfrm>
            <a:off x="630936" y="3970325"/>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g.add_edge("refactorer", "qa")</a:t>
            </a:r>
            <a:endParaRPr b="0" i="0" sz="750" u="none" cap="none" strike="noStrike">
              <a:solidFill>
                <a:schemeClr val="dk1"/>
              </a:solidFill>
              <a:latin typeface="Calibri"/>
              <a:ea typeface="Calibri"/>
              <a:cs typeface="Calibri"/>
              <a:sym typeface="Calibri"/>
            </a:endParaRPr>
          </a:p>
        </p:txBody>
      </p:sp>
      <p:sp>
        <p:nvSpPr>
          <p:cNvPr id="1080" name="Google Shape;1080;p28"/>
          <p:cNvSpPr txBox="1"/>
          <p:nvPr/>
        </p:nvSpPr>
        <p:spPr>
          <a:xfrm>
            <a:off x="630936" y="4123944"/>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g.add_conditional_edges("qa", _route,</a:t>
            </a:r>
            <a:endParaRPr b="0" i="0" sz="750" u="none" cap="none" strike="noStrike">
              <a:solidFill>
                <a:schemeClr val="dk1"/>
              </a:solidFill>
              <a:latin typeface="Calibri"/>
              <a:ea typeface="Calibri"/>
              <a:cs typeface="Calibri"/>
              <a:sym typeface="Calibri"/>
            </a:endParaRPr>
          </a:p>
        </p:txBody>
      </p:sp>
      <p:sp>
        <p:nvSpPr>
          <p:cNvPr id="1081" name="Google Shape;1081;p28"/>
          <p:cNvSpPr txBox="1"/>
          <p:nvPr/>
        </p:nvSpPr>
        <p:spPr>
          <a:xfrm>
            <a:off x="630936" y="4277563"/>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    {"done": END, "retry": "refactorer", "give_up": END})</a:t>
            </a:r>
            <a:endParaRPr b="0" i="0" sz="750" u="none" cap="none" strike="noStrike">
              <a:solidFill>
                <a:schemeClr val="dk1"/>
              </a:solidFill>
              <a:latin typeface="Calibri"/>
              <a:ea typeface="Calibri"/>
              <a:cs typeface="Calibri"/>
              <a:sym typeface="Calibri"/>
            </a:endParaRPr>
          </a:p>
        </p:txBody>
      </p:sp>
      <p:sp>
        <p:nvSpPr>
          <p:cNvPr id="1082" name="Google Shape;1082;p28"/>
          <p:cNvSpPr txBox="1"/>
          <p:nvPr/>
        </p:nvSpPr>
        <p:spPr>
          <a:xfrm>
            <a:off x="630936" y="4431182"/>
            <a:ext cx="4636008" cy="15361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team = g.compile()</a:t>
            </a:r>
            <a:endParaRPr b="0" i="0" sz="750" u="none" cap="none" strike="noStrike">
              <a:solidFill>
                <a:schemeClr val="dk1"/>
              </a:solidFill>
              <a:latin typeface="Calibri"/>
              <a:ea typeface="Calibri"/>
              <a:cs typeface="Calibri"/>
              <a:sym typeface="Calibri"/>
            </a:endParaRPr>
          </a:p>
        </p:txBody>
      </p:sp>
      <p:sp>
        <p:nvSpPr>
          <p:cNvPr id="1083" name="Google Shape;1083;p28"/>
          <p:cNvSpPr/>
          <p:nvPr/>
        </p:nvSpPr>
        <p:spPr>
          <a:xfrm>
            <a:off x="5541264" y="3255264"/>
            <a:ext cx="3099816" cy="1371600"/>
          </a:xfrm>
          <a:prstGeom prst="roundRect">
            <a:avLst>
              <a:gd fmla="val 600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28"/>
          <p:cNvSpPr txBox="1"/>
          <p:nvPr/>
        </p:nvSpPr>
        <p:spPr>
          <a:xfrm>
            <a:off x="5705856" y="3346704"/>
            <a:ext cx="27889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WHAT YOU GAIN — AND LOSE</a:t>
            </a:r>
            <a:endParaRPr b="0" i="0" sz="800" u="none" cap="none" strike="noStrike">
              <a:solidFill>
                <a:schemeClr val="dk1"/>
              </a:solidFill>
              <a:latin typeface="Calibri"/>
              <a:ea typeface="Calibri"/>
              <a:cs typeface="Calibri"/>
              <a:sym typeface="Calibri"/>
            </a:endParaRPr>
          </a:p>
        </p:txBody>
      </p:sp>
      <p:sp>
        <p:nvSpPr>
          <p:cNvPr id="1085" name="Google Shape;1085;p28"/>
          <p:cNvSpPr txBox="1"/>
          <p:nvPr/>
        </p:nvSpPr>
        <p:spPr>
          <a:xfrm>
            <a:off x="5705856" y="3547872"/>
            <a:ext cx="278892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950"/>
              <a:buFont typeface="Calibri"/>
              <a:buNone/>
            </a:pPr>
            <a:r>
              <a:rPr b="1" i="0" lang="en-US" sz="950" u="none" cap="none" strike="noStrike">
                <a:solidFill>
                  <a:srgbClr val="5EE9B5"/>
                </a:solidFill>
                <a:latin typeface="Calibri"/>
                <a:ea typeface="Calibri"/>
                <a:cs typeface="Calibri"/>
                <a:sym typeface="Calibri"/>
              </a:rPr>
              <a:t>Gain:</a:t>
            </a:r>
            <a:r>
              <a:rPr b="0" i="0" lang="en-US" sz="950" u="none" cap="none" strike="noStrike">
                <a:solidFill>
                  <a:srgbClr val="D8CDEE"/>
                </a:solidFill>
                <a:latin typeface="Calibri"/>
                <a:ea typeface="Calibri"/>
                <a:cs typeface="Calibri"/>
                <a:sym typeface="Calibri"/>
              </a:rPr>
              <a:t> typed state, a retry loop you can draw, checkpointing and tracing for free.</a:t>
            </a:r>
            <a:br>
              <a:rPr b="0" i="0" lang="en-US" sz="950" u="none" cap="none" strike="noStrike">
                <a:solidFill>
                  <a:srgbClr val="D8CDEE"/>
                </a:solidFill>
                <a:latin typeface="Calibri"/>
                <a:ea typeface="Calibri"/>
                <a:cs typeface="Calibri"/>
                <a:sym typeface="Calibri"/>
              </a:rPr>
            </a:br>
            <a:br>
              <a:rPr b="0" i="0" lang="en-US" sz="950" u="none" cap="none" strike="noStrike">
                <a:solidFill>
                  <a:srgbClr val="D8CDEE"/>
                </a:solidFill>
                <a:latin typeface="Calibri"/>
                <a:ea typeface="Calibri"/>
                <a:cs typeface="Calibri"/>
                <a:sym typeface="Calibri"/>
              </a:rPr>
            </a:br>
            <a:r>
              <a:rPr b="1" i="0" lang="en-US" sz="950" u="none" cap="none" strike="noStrike">
                <a:solidFill>
                  <a:srgbClr val="FB7185"/>
                </a:solidFill>
                <a:latin typeface="Calibri"/>
                <a:ea typeface="Calibri"/>
                <a:cs typeface="Calibri"/>
                <a:sym typeface="Calibri"/>
              </a:rPr>
              <a:t>Lose:</a:t>
            </a:r>
            <a:r>
              <a:rPr b="0" i="0" lang="en-US" sz="950" u="none" cap="none" strike="noStrike">
                <a:solidFill>
                  <a:srgbClr val="D8CDEE"/>
                </a:solidFill>
                <a:latin typeface="Calibri"/>
                <a:ea typeface="Calibri"/>
                <a:cs typeface="Calibri"/>
                <a:sym typeface="Calibri"/>
              </a:rPr>
              <a:t> the ability to read the whole control flow in one screen. qa_node still calls the exact same qa_verify() you wrote by hand.</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090" name="Shape 1090"/>
        <p:cNvGrpSpPr/>
        <p:nvPr/>
      </p:nvGrpSpPr>
      <p:grpSpPr>
        <a:xfrm>
          <a:off x="0" y="0"/>
          <a:ext cx="0" cy="0"/>
          <a:chOff x="0" y="0"/>
          <a:chExt cx="0" cy="0"/>
        </a:xfrm>
      </p:grpSpPr>
      <p:sp>
        <p:nvSpPr>
          <p:cNvPr id="1091" name="Google Shape;1091;p29"/>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§3.3 · COORDINATOR + TWO SPECIALIST SUBAGENTS</a:t>
            </a:r>
            <a:endParaRPr b="0" i="0" sz="1050" u="none" cap="none" strike="noStrike">
              <a:solidFill>
                <a:schemeClr val="dk1"/>
              </a:solidFill>
              <a:latin typeface="Calibri"/>
              <a:ea typeface="Calibri"/>
              <a:cs typeface="Calibri"/>
              <a:sym typeface="Calibri"/>
            </a:endParaRPr>
          </a:p>
        </p:txBody>
      </p:sp>
      <p:sp>
        <p:nvSpPr>
          <p:cNvPr id="1092" name="Google Shape;1092;p29"/>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Delegation, not a bigger prompt</a:t>
            </a:r>
            <a:endParaRPr b="0" i="0" sz="2700" u="none" cap="none" strike="noStrike">
              <a:solidFill>
                <a:schemeClr val="dk1"/>
              </a:solidFill>
              <a:latin typeface="Calibri"/>
              <a:ea typeface="Calibri"/>
              <a:cs typeface="Calibri"/>
              <a:sym typeface="Calibri"/>
            </a:endParaRPr>
          </a:p>
        </p:txBody>
      </p:sp>
      <p:sp>
        <p:nvSpPr>
          <p:cNvPr id="1093" name="Google Shape;1093;p29">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094" name="Google Shape;1094;p29"/>
          <p:cNvSpPr/>
          <p:nvPr/>
        </p:nvSpPr>
        <p:spPr>
          <a:xfrm>
            <a:off x="502920" y="2011680"/>
            <a:ext cx="1554480" cy="713232"/>
          </a:xfrm>
          <a:prstGeom prst="roundRect">
            <a:avLst>
              <a:gd fmla="val 11538" name="adj"/>
            </a:avLst>
          </a:prstGeom>
          <a:solidFill>
            <a:srgbClr val="34234F"/>
          </a:solidFill>
          <a:ln cap="flat" cmpd="sng" w="12700">
            <a:solidFill>
              <a:srgbClr val="BBA9DE"/>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29"/>
          <p:cNvSpPr txBox="1"/>
          <p:nvPr/>
        </p:nvSpPr>
        <p:spPr>
          <a:xfrm>
            <a:off x="576072" y="2103120"/>
            <a:ext cx="140817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ourier New"/>
              <a:buNone/>
            </a:pPr>
            <a:r>
              <a:rPr b="1" i="0" lang="en-US" sz="850" u="none" cap="none" strike="noStrike">
                <a:solidFill>
                  <a:srgbClr val="BBA9DE"/>
                </a:solidFill>
                <a:latin typeface="Courier New"/>
                <a:ea typeface="Courier New"/>
                <a:cs typeface="Courier New"/>
                <a:sym typeface="Courier New"/>
              </a:rPr>
              <a:t>YOU</a:t>
            </a:r>
            <a:endParaRPr b="0" i="0" sz="850" u="none" cap="none" strike="noStrike">
              <a:solidFill>
                <a:schemeClr val="dk1"/>
              </a:solidFill>
              <a:latin typeface="Calibri"/>
              <a:ea typeface="Calibri"/>
              <a:cs typeface="Calibri"/>
              <a:sym typeface="Calibri"/>
            </a:endParaRPr>
          </a:p>
        </p:txBody>
      </p:sp>
      <p:sp>
        <p:nvSpPr>
          <p:cNvPr id="1096" name="Google Shape;1096;p29"/>
          <p:cNvSpPr txBox="1"/>
          <p:nvPr/>
        </p:nvSpPr>
        <p:spPr>
          <a:xfrm>
            <a:off x="576072" y="2322576"/>
            <a:ext cx="140817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audit PayFlow</a:t>
            </a:r>
            <a:endParaRPr b="0" i="0" sz="8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 the churn job</a:t>
            </a:r>
            <a:endParaRPr b="0" i="0" sz="850" u="none" cap="none" strike="noStrike">
              <a:solidFill>
                <a:schemeClr val="dk1"/>
              </a:solidFill>
              <a:latin typeface="Calibri"/>
              <a:ea typeface="Calibri"/>
              <a:cs typeface="Calibri"/>
              <a:sym typeface="Calibri"/>
            </a:endParaRPr>
          </a:p>
        </p:txBody>
      </p:sp>
      <p:sp>
        <p:nvSpPr>
          <p:cNvPr id="1097" name="Google Shape;1097;p29"/>
          <p:cNvSpPr/>
          <p:nvPr/>
        </p:nvSpPr>
        <p:spPr>
          <a:xfrm>
            <a:off x="2377440" y="2011680"/>
            <a:ext cx="1828800" cy="713232"/>
          </a:xfrm>
          <a:prstGeom prst="roundRect">
            <a:avLst>
              <a:gd fmla="val 11538" name="adj"/>
            </a:avLst>
          </a:prstGeom>
          <a:solidFill>
            <a:srgbClr val="3D2A5C"/>
          </a:solidFill>
          <a:ln cap="flat" cmpd="sng" w="12700">
            <a:solidFill>
              <a:srgbClr val="A78BFA"/>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29"/>
          <p:cNvSpPr txBox="1"/>
          <p:nvPr/>
        </p:nvSpPr>
        <p:spPr>
          <a:xfrm>
            <a:off x="2450592" y="2103120"/>
            <a:ext cx="168249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850"/>
              <a:buFont typeface="Courier New"/>
              <a:buNone/>
            </a:pPr>
            <a:r>
              <a:rPr b="1" i="0" lang="en-US" sz="850" u="none" cap="none" strike="noStrike">
                <a:solidFill>
                  <a:srgbClr val="A78BFA"/>
                </a:solidFill>
                <a:latin typeface="Courier New"/>
                <a:ea typeface="Courier New"/>
                <a:cs typeface="Courier New"/>
                <a:sym typeface="Courier New"/>
              </a:rPr>
              <a:t>Coordinator</a:t>
            </a:r>
            <a:endParaRPr b="0" i="0" sz="850" u="none" cap="none" strike="noStrike">
              <a:solidFill>
                <a:schemeClr val="dk1"/>
              </a:solidFill>
              <a:latin typeface="Calibri"/>
              <a:ea typeface="Calibri"/>
              <a:cs typeface="Calibri"/>
              <a:sym typeface="Calibri"/>
            </a:endParaRPr>
          </a:p>
        </p:txBody>
      </p:sp>
      <p:sp>
        <p:nvSpPr>
          <p:cNvPr id="1099" name="Google Shape;1099;p29"/>
          <p:cNvSpPr txBox="1"/>
          <p:nvPr/>
        </p:nvSpPr>
        <p:spPr>
          <a:xfrm>
            <a:off x="2450592" y="2322576"/>
            <a:ext cx="168249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delegates · never</a:t>
            </a:r>
            <a:endParaRPr b="0" i="0" sz="8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runs a detector itself</a:t>
            </a:r>
            <a:endParaRPr b="0" i="0" sz="850" u="none" cap="none" strike="noStrike">
              <a:solidFill>
                <a:schemeClr val="dk1"/>
              </a:solidFill>
              <a:latin typeface="Calibri"/>
              <a:ea typeface="Calibri"/>
              <a:cs typeface="Calibri"/>
              <a:sym typeface="Calibri"/>
            </a:endParaRPr>
          </a:p>
        </p:txBody>
      </p:sp>
      <p:sp>
        <p:nvSpPr>
          <p:cNvPr id="1100" name="Google Shape;1100;p29"/>
          <p:cNvSpPr/>
          <p:nvPr/>
        </p:nvSpPr>
        <p:spPr>
          <a:xfrm>
            <a:off x="4526280" y="1353312"/>
            <a:ext cx="1828800" cy="621792"/>
          </a:xfrm>
          <a:prstGeom prst="roundRect">
            <a:avLst>
              <a:gd fmla="val 13235" name="adj"/>
            </a:avLst>
          </a:prstGeom>
          <a:solidFill>
            <a:srgbClr val="3D2A5C"/>
          </a:solidFill>
          <a:ln cap="flat" cmpd="sng" w="12700">
            <a:solidFill>
              <a:srgbClr val="5EE9B5"/>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29"/>
          <p:cNvSpPr txBox="1"/>
          <p:nvPr/>
        </p:nvSpPr>
        <p:spPr>
          <a:xfrm>
            <a:off x="4599432" y="1444752"/>
            <a:ext cx="168249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850"/>
              <a:buFont typeface="Courier New"/>
              <a:buNone/>
            </a:pPr>
            <a:r>
              <a:rPr b="1" i="0" lang="en-US" sz="850" u="none" cap="none" strike="noStrike">
                <a:solidFill>
                  <a:srgbClr val="5EE9B5"/>
                </a:solidFill>
                <a:latin typeface="Courier New"/>
                <a:ea typeface="Courier New"/>
                <a:cs typeface="Courier New"/>
                <a:sym typeface="Courier New"/>
              </a:rPr>
              <a:t>task: pyexamine_auditor</a:t>
            </a:r>
            <a:endParaRPr b="0" i="0" sz="850" u="none" cap="none" strike="noStrike">
              <a:solidFill>
                <a:schemeClr val="dk1"/>
              </a:solidFill>
              <a:latin typeface="Calibri"/>
              <a:ea typeface="Calibri"/>
              <a:cs typeface="Calibri"/>
              <a:sym typeface="Calibri"/>
            </a:endParaRPr>
          </a:p>
        </p:txBody>
      </p:sp>
      <p:sp>
        <p:nvSpPr>
          <p:cNvPr id="1102" name="Google Shape;1102;p29"/>
          <p:cNvSpPr txBox="1"/>
          <p:nvPr/>
        </p:nvSpPr>
        <p:spPr>
          <a:xfrm>
            <a:off x="4599432" y="1664208"/>
            <a:ext cx="168249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 8 smells, no refactor</a:t>
            </a:r>
            <a:endParaRPr b="0" i="0" sz="850" u="none" cap="none" strike="noStrike">
              <a:solidFill>
                <a:schemeClr val="dk1"/>
              </a:solidFill>
              <a:latin typeface="Calibri"/>
              <a:ea typeface="Calibri"/>
              <a:cs typeface="Calibri"/>
              <a:sym typeface="Calibri"/>
            </a:endParaRPr>
          </a:p>
        </p:txBody>
      </p:sp>
      <p:sp>
        <p:nvSpPr>
          <p:cNvPr id="1103" name="Google Shape;1103;p29"/>
          <p:cNvSpPr/>
          <p:nvPr/>
        </p:nvSpPr>
        <p:spPr>
          <a:xfrm>
            <a:off x="4526280" y="2670048"/>
            <a:ext cx="1828800" cy="621792"/>
          </a:xfrm>
          <a:prstGeom prst="roundRect">
            <a:avLst>
              <a:gd fmla="val 13235" name="adj"/>
            </a:avLst>
          </a:prstGeom>
          <a:solidFill>
            <a:srgbClr val="3D2A5C"/>
          </a:solidFill>
          <a:ln cap="flat" cmpd="sng" w="12700">
            <a:solidFill>
              <a:srgbClr val="FBBF24"/>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29"/>
          <p:cNvSpPr txBox="1"/>
          <p:nvPr/>
        </p:nvSpPr>
        <p:spPr>
          <a:xfrm>
            <a:off x="4599432" y="2761488"/>
            <a:ext cx="168249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BF24"/>
              </a:buClr>
              <a:buSzPts val="850"/>
              <a:buFont typeface="Courier New"/>
              <a:buNone/>
            </a:pPr>
            <a:r>
              <a:rPr b="1" i="0" lang="en-US" sz="850" u="none" cap="none" strike="noStrike">
                <a:solidFill>
                  <a:srgbClr val="FBBF24"/>
                </a:solidFill>
                <a:latin typeface="Courier New"/>
                <a:ea typeface="Courier New"/>
                <a:cs typeface="Courier New"/>
                <a:sym typeface="Courier New"/>
              </a:rPr>
              <a:t>task: mlscent_auditor</a:t>
            </a:r>
            <a:endParaRPr b="0" i="0" sz="850" u="none" cap="none" strike="noStrike">
              <a:solidFill>
                <a:schemeClr val="dk1"/>
              </a:solidFill>
              <a:latin typeface="Calibri"/>
              <a:ea typeface="Calibri"/>
              <a:cs typeface="Calibri"/>
              <a:sym typeface="Calibri"/>
            </a:endParaRPr>
          </a:p>
        </p:txBody>
      </p:sp>
      <p:sp>
        <p:nvSpPr>
          <p:cNvPr id="1105" name="Google Shape;1105;p29"/>
          <p:cNvSpPr txBox="1"/>
          <p:nvPr/>
        </p:nvSpPr>
        <p:spPr>
          <a:xfrm>
            <a:off x="4599432" y="2980944"/>
            <a:ext cx="168249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seed · leakage · train score</a:t>
            </a:r>
            <a:endParaRPr b="0" i="0" sz="850" u="none" cap="none" strike="noStrike">
              <a:solidFill>
                <a:schemeClr val="dk1"/>
              </a:solidFill>
              <a:latin typeface="Calibri"/>
              <a:ea typeface="Calibri"/>
              <a:cs typeface="Calibri"/>
              <a:sym typeface="Calibri"/>
            </a:endParaRPr>
          </a:p>
        </p:txBody>
      </p:sp>
      <p:sp>
        <p:nvSpPr>
          <p:cNvPr id="1106" name="Google Shape;1106;p29"/>
          <p:cNvSpPr/>
          <p:nvPr/>
        </p:nvSpPr>
        <p:spPr>
          <a:xfrm>
            <a:off x="6675120" y="1353312"/>
            <a:ext cx="1508760" cy="621792"/>
          </a:xfrm>
          <a:prstGeom prst="roundRect">
            <a:avLst>
              <a:gd fmla="val 13235" name="adj"/>
            </a:avLst>
          </a:prstGeom>
          <a:solidFill>
            <a:srgbClr val="1E1230"/>
          </a:solidFill>
          <a:ln cap="flat" cmpd="sng" w="12700">
            <a:solidFill>
              <a:srgbClr val="5EE9B5"/>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29"/>
          <p:cNvSpPr txBox="1"/>
          <p:nvPr/>
        </p:nvSpPr>
        <p:spPr>
          <a:xfrm>
            <a:off x="6748272" y="1444752"/>
            <a:ext cx="136245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850"/>
              <a:buFont typeface="Courier New"/>
              <a:buNone/>
            </a:pPr>
            <a:r>
              <a:rPr b="1" i="0" lang="en-US" sz="850" u="none" cap="none" strike="noStrike">
                <a:solidFill>
                  <a:srgbClr val="5EE9B5"/>
                </a:solidFill>
                <a:latin typeface="Courier New"/>
                <a:ea typeface="Courier New"/>
                <a:cs typeface="Courier New"/>
                <a:sym typeface="Courier New"/>
              </a:rPr>
              <a:t>pyexamine_tool</a:t>
            </a:r>
            <a:endParaRPr b="0" i="0" sz="850" u="none" cap="none" strike="noStrike">
              <a:solidFill>
                <a:schemeClr val="dk1"/>
              </a:solidFill>
              <a:latin typeface="Calibri"/>
              <a:ea typeface="Calibri"/>
              <a:cs typeface="Calibri"/>
              <a:sym typeface="Calibri"/>
            </a:endParaRPr>
          </a:p>
        </p:txBody>
      </p:sp>
      <p:sp>
        <p:nvSpPr>
          <p:cNvPr id="1108" name="Google Shape;1108;p29"/>
          <p:cNvSpPr txBox="1"/>
          <p:nvPr/>
        </p:nvSpPr>
        <p:spPr>
          <a:xfrm>
            <a:off x="6748272" y="1664208"/>
            <a:ext cx="136245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truncated to 2k</a:t>
            </a:r>
            <a:endParaRPr b="0" i="0" sz="850" u="none" cap="none" strike="noStrike">
              <a:solidFill>
                <a:schemeClr val="dk1"/>
              </a:solidFill>
              <a:latin typeface="Calibri"/>
              <a:ea typeface="Calibri"/>
              <a:cs typeface="Calibri"/>
              <a:sym typeface="Calibri"/>
            </a:endParaRPr>
          </a:p>
        </p:txBody>
      </p:sp>
      <p:sp>
        <p:nvSpPr>
          <p:cNvPr id="1109" name="Google Shape;1109;p29"/>
          <p:cNvSpPr/>
          <p:nvPr/>
        </p:nvSpPr>
        <p:spPr>
          <a:xfrm>
            <a:off x="6675120" y="2670048"/>
            <a:ext cx="1508760" cy="621792"/>
          </a:xfrm>
          <a:prstGeom prst="roundRect">
            <a:avLst>
              <a:gd fmla="val 13235" name="adj"/>
            </a:avLst>
          </a:prstGeom>
          <a:solidFill>
            <a:srgbClr val="1E1230"/>
          </a:solidFill>
          <a:ln cap="flat" cmpd="sng" w="12700">
            <a:solidFill>
              <a:srgbClr val="FBBF24"/>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29"/>
          <p:cNvSpPr txBox="1"/>
          <p:nvPr/>
        </p:nvSpPr>
        <p:spPr>
          <a:xfrm>
            <a:off x="6748272" y="2761488"/>
            <a:ext cx="136245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BF24"/>
              </a:buClr>
              <a:buSzPts val="850"/>
              <a:buFont typeface="Courier New"/>
              <a:buNone/>
            </a:pPr>
            <a:r>
              <a:rPr b="1" i="0" lang="en-US" sz="850" u="none" cap="none" strike="noStrike">
                <a:solidFill>
                  <a:srgbClr val="FBBF24"/>
                </a:solidFill>
                <a:latin typeface="Courier New"/>
                <a:ea typeface="Courier New"/>
                <a:cs typeface="Courier New"/>
                <a:sym typeface="Courier New"/>
              </a:rPr>
              <a:t>mlscent_tool</a:t>
            </a:r>
            <a:endParaRPr b="0" i="0" sz="850" u="none" cap="none" strike="noStrike">
              <a:solidFill>
                <a:schemeClr val="dk1"/>
              </a:solidFill>
              <a:latin typeface="Calibri"/>
              <a:ea typeface="Calibri"/>
              <a:cs typeface="Calibri"/>
              <a:sym typeface="Calibri"/>
            </a:endParaRPr>
          </a:p>
        </p:txBody>
      </p:sp>
      <p:sp>
        <p:nvSpPr>
          <p:cNvPr id="1111" name="Google Shape;1111;p29"/>
          <p:cNvSpPr txBox="1"/>
          <p:nvPr/>
        </p:nvSpPr>
        <p:spPr>
          <a:xfrm>
            <a:off x="6748272" y="2980944"/>
            <a:ext cx="136245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truncated to 2k</a:t>
            </a:r>
            <a:endParaRPr b="0" i="0" sz="850" u="none" cap="none" strike="noStrike">
              <a:solidFill>
                <a:schemeClr val="dk1"/>
              </a:solidFill>
              <a:latin typeface="Calibri"/>
              <a:ea typeface="Calibri"/>
              <a:cs typeface="Calibri"/>
              <a:sym typeface="Calibri"/>
            </a:endParaRPr>
          </a:p>
        </p:txBody>
      </p:sp>
      <p:sp>
        <p:nvSpPr>
          <p:cNvPr id="1112" name="Google Shape;1112;p29"/>
          <p:cNvSpPr/>
          <p:nvPr/>
        </p:nvSpPr>
        <p:spPr>
          <a:xfrm>
            <a:off x="2377440" y="3310128"/>
            <a:ext cx="1828800" cy="621792"/>
          </a:xfrm>
          <a:prstGeom prst="roundRect">
            <a:avLst>
              <a:gd fmla="val 13235" name="adj"/>
            </a:avLst>
          </a:prstGeom>
          <a:solidFill>
            <a:srgbClr val="1E1230"/>
          </a:solidFill>
          <a:ln cap="flat" cmpd="sng" w="12700">
            <a:solidFill>
              <a:srgbClr val="E9DFFF"/>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29"/>
          <p:cNvSpPr txBox="1"/>
          <p:nvPr/>
        </p:nvSpPr>
        <p:spPr>
          <a:xfrm>
            <a:off x="2450592" y="3401568"/>
            <a:ext cx="168249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850"/>
              <a:buFont typeface="Courier New"/>
              <a:buNone/>
            </a:pPr>
            <a:r>
              <a:rPr b="1" i="0" lang="en-US" sz="850" u="none" cap="none" strike="noStrike">
                <a:solidFill>
                  <a:srgbClr val="E9DFFF"/>
                </a:solidFill>
                <a:latin typeface="Courier New"/>
                <a:ea typeface="Courier New"/>
                <a:cs typeface="Courier New"/>
                <a:sym typeface="Courier New"/>
              </a:rPr>
              <a:t>COOP_AUDIT.md</a:t>
            </a:r>
            <a:endParaRPr b="0" i="0" sz="850" u="none" cap="none" strike="noStrike">
              <a:solidFill>
                <a:schemeClr val="dk1"/>
              </a:solidFill>
              <a:latin typeface="Calibri"/>
              <a:ea typeface="Calibri"/>
              <a:cs typeface="Calibri"/>
              <a:sym typeface="Calibri"/>
            </a:endParaRPr>
          </a:p>
        </p:txBody>
      </p:sp>
      <p:sp>
        <p:nvSpPr>
          <p:cNvPr id="1114" name="Google Shape;1114;p29"/>
          <p:cNvSpPr txBox="1"/>
          <p:nvPr/>
        </p:nvSpPr>
        <p:spPr>
          <a:xfrm>
            <a:off x="2450592" y="3621024"/>
            <a:ext cx="1682496"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850"/>
              <a:buFont typeface="Calibri"/>
              <a:buNone/>
            </a:pPr>
            <a:r>
              <a:rPr b="0" i="0" lang="en-US" sz="850" u="none" cap="none" strike="noStrike">
                <a:solidFill>
                  <a:srgbClr val="BBA9DE"/>
                </a:solidFill>
                <a:latin typeface="Calibri"/>
                <a:ea typeface="Calibri"/>
                <a:cs typeface="Calibri"/>
                <a:sym typeface="Calibri"/>
              </a:rPr>
              <a:t>max 30 lines</a:t>
            </a:r>
            <a:endParaRPr b="0" i="0" sz="850" u="none" cap="none" strike="noStrike">
              <a:solidFill>
                <a:schemeClr val="dk1"/>
              </a:solidFill>
              <a:latin typeface="Calibri"/>
              <a:ea typeface="Calibri"/>
              <a:cs typeface="Calibri"/>
              <a:sym typeface="Calibri"/>
            </a:endParaRPr>
          </a:p>
        </p:txBody>
      </p:sp>
      <p:cxnSp>
        <p:nvCxnSpPr>
          <p:cNvPr id="1115" name="Google Shape;1115;p29"/>
          <p:cNvCxnSpPr/>
          <p:nvPr/>
        </p:nvCxnSpPr>
        <p:spPr>
          <a:xfrm>
            <a:off x="2075688" y="2368296"/>
            <a:ext cx="283464" cy="914"/>
          </a:xfrm>
          <a:prstGeom prst="straightConnector1">
            <a:avLst/>
          </a:prstGeom>
          <a:noFill/>
          <a:ln cap="flat" cmpd="sng" w="19050">
            <a:solidFill>
              <a:srgbClr val="A78BFA"/>
            </a:solidFill>
            <a:prstDash val="solid"/>
            <a:round/>
            <a:headEnd len="sm" w="sm" type="none"/>
            <a:tailEnd len="med" w="med" type="triangle"/>
          </a:ln>
        </p:spPr>
      </p:cxnSp>
      <p:cxnSp>
        <p:nvCxnSpPr>
          <p:cNvPr id="1116" name="Google Shape;1116;p29"/>
          <p:cNvCxnSpPr/>
          <p:nvPr/>
        </p:nvCxnSpPr>
        <p:spPr>
          <a:xfrm flipH="1" rot="10800000">
            <a:off x="4224528" y="1664208"/>
            <a:ext cx="283464" cy="704088"/>
          </a:xfrm>
          <a:prstGeom prst="straightConnector1">
            <a:avLst/>
          </a:prstGeom>
          <a:noFill/>
          <a:ln cap="flat" cmpd="sng" w="15875">
            <a:solidFill>
              <a:srgbClr val="5EE9B5"/>
            </a:solidFill>
            <a:prstDash val="solid"/>
            <a:round/>
            <a:headEnd len="sm" w="sm" type="none"/>
            <a:tailEnd len="med" w="med" type="triangle"/>
          </a:ln>
        </p:spPr>
      </p:cxnSp>
      <p:cxnSp>
        <p:nvCxnSpPr>
          <p:cNvPr id="1117" name="Google Shape;1117;p29"/>
          <p:cNvCxnSpPr/>
          <p:nvPr/>
        </p:nvCxnSpPr>
        <p:spPr>
          <a:xfrm>
            <a:off x="4224528" y="2368296"/>
            <a:ext cx="283464" cy="612648"/>
          </a:xfrm>
          <a:prstGeom prst="straightConnector1">
            <a:avLst/>
          </a:prstGeom>
          <a:noFill/>
          <a:ln cap="flat" cmpd="sng" w="15875">
            <a:solidFill>
              <a:srgbClr val="FBBF24"/>
            </a:solidFill>
            <a:prstDash val="solid"/>
            <a:round/>
            <a:headEnd len="sm" w="sm" type="none"/>
            <a:tailEnd len="med" w="med" type="triangle"/>
          </a:ln>
        </p:spPr>
      </p:cxnSp>
      <p:cxnSp>
        <p:nvCxnSpPr>
          <p:cNvPr id="1118" name="Google Shape;1118;p29"/>
          <p:cNvCxnSpPr/>
          <p:nvPr/>
        </p:nvCxnSpPr>
        <p:spPr>
          <a:xfrm>
            <a:off x="6373368" y="1664208"/>
            <a:ext cx="283464" cy="914"/>
          </a:xfrm>
          <a:prstGeom prst="straightConnector1">
            <a:avLst/>
          </a:prstGeom>
          <a:noFill/>
          <a:ln cap="flat" cmpd="sng" w="15875">
            <a:solidFill>
              <a:srgbClr val="5EE9B5"/>
            </a:solidFill>
            <a:prstDash val="solid"/>
            <a:round/>
            <a:headEnd len="sm" w="sm" type="none"/>
            <a:tailEnd len="med" w="med" type="triangle"/>
          </a:ln>
        </p:spPr>
      </p:cxnSp>
      <p:cxnSp>
        <p:nvCxnSpPr>
          <p:cNvPr id="1119" name="Google Shape;1119;p29"/>
          <p:cNvCxnSpPr/>
          <p:nvPr/>
        </p:nvCxnSpPr>
        <p:spPr>
          <a:xfrm>
            <a:off x="6373368" y="2980944"/>
            <a:ext cx="283464" cy="914"/>
          </a:xfrm>
          <a:prstGeom prst="straightConnector1">
            <a:avLst/>
          </a:prstGeom>
          <a:noFill/>
          <a:ln cap="flat" cmpd="sng" w="15875">
            <a:solidFill>
              <a:srgbClr val="FBBF24"/>
            </a:solidFill>
            <a:prstDash val="solid"/>
            <a:round/>
            <a:headEnd len="sm" w="sm" type="none"/>
            <a:tailEnd len="med" w="med" type="triangle"/>
          </a:ln>
        </p:spPr>
      </p:cxnSp>
      <p:cxnSp>
        <p:nvCxnSpPr>
          <p:cNvPr id="1120" name="Google Shape;1120;p29"/>
          <p:cNvCxnSpPr/>
          <p:nvPr/>
        </p:nvCxnSpPr>
        <p:spPr>
          <a:xfrm>
            <a:off x="3291840" y="2724912"/>
            <a:ext cx="3658" cy="585216"/>
          </a:xfrm>
          <a:prstGeom prst="straightConnector1">
            <a:avLst/>
          </a:prstGeom>
          <a:noFill/>
          <a:ln cap="flat" cmpd="sng" w="19050">
            <a:solidFill>
              <a:srgbClr val="E9DFFF"/>
            </a:solidFill>
            <a:prstDash val="solid"/>
            <a:round/>
            <a:headEnd len="sm" w="sm" type="none"/>
            <a:tailEnd len="med" w="med" type="triangle"/>
          </a:ln>
        </p:spPr>
      </p:cxnSp>
      <p:sp>
        <p:nvSpPr>
          <p:cNvPr id="1121" name="Google Shape;1121;p29"/>
          <p:cNvSpPr txBox="1"/>
          <p:nvPr/>
        </p:nvSpPr>
        <p:spPr>
          <a:xfrm>
            <a:off x="3374136" y="2852928"/>
            <a:ext cx="11887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writes</a:t>
            </a:r>
            <a:endParaRPr b="0" i="0" sz="750" u="none" cap="none" strike="noStrike">
              <a:solidFill>
                <a:schemeClr val="dk1"/>
              </a:solidFill>
              <a:latin typeface="Calibri"/>
              <a:ea typeface="Calibri"/>
              <a:cs typeface="Calibri"/>
              <a:sym typeface="Calibri"/>
            </a:endParaRPr>
          </a:p>
        </p:txBody>
      </p:sp>
      <p:sp>
        <p:nvSpPr>
          <p:cNvPr id="1122" name="Google Shape;1122;p29"/>
          <p:cNvSpPr/>
          <p:nvPr/>
        </p:nvSpPr>
        <p:spPr>
          <a:xfrm>
            <a:off x="502920" y="3968496"/>
            <a:ext cx="2615184" cy="987552"/>
          </a:xfrm>
          <a:prstGeom prst="roundRect">
            <a:avLst>
              <a:gd fmla="val 8333"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29"/>
          <p:cNvSpPr txBox="1"/>
          <p:nvPr/>
        </p:nvSpPr>
        <p:spPr>
          <a:xfrm>
            <a:off x="649224" y="4069080"/>
            <a:ext cx="2322576"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1" i="0" lang="en-US" sz="1050" u="none" cap="none" strike="noStrike">
                <a:solidFill>
                  <a:srgbClr val="A78BFA"/>
                </a:solidFill>
                <a:latin typeface="Calibri"/>
                <a:ea typeface="Calibri"/>
                <a:cs typeface="Calibri"/>
                <a:sym typeface="Calibri"/>
              </a:rPr>
              <a:t>Built-ins you do not want to hand-roll</a:t>
            </a:r>
            <a:endParaRPr b="0" i="0" sz="1050" u="none" cap="none" strike="noStrike">
              <a:solidFill>
                <a:schemeClr val="dk1"/>
              </a:solidFill>
              <a:latin typeface="Calibri"/>
              <a:ea typeface="Calibri"/>
              <a:cs typeface="Calibri"/>
              <a:sym typeface="Calibri"/>
            </a:endParaRPr>
          </a:p>
        </p:txBody>
      </p:sp>
      <p:sp>
        <p:nvSpPr>
          <p:cNvPr id="1124" name="Google Shape;1124;p29"/>
          <p:cNvSpPr txBox="1"/>
          <p:nvPr/>
        </p:nvSpPr>
        <p:spPr>
          <a:xfrm>
            <a:off x="649224" y="4425696"/>
            <a:ext cx="2322576"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A todo-list planner, filesystem tools (ls / read_file / write_file), and task to spawn specialists. Still LangGraph underneath.</a:t>
            </a:r>
            <a:endParaRPr b="0" i="0" sz="850" u="none" cap="none" strike="noStrike">
              <a:solidFill>
                <a:schemeClr val="dk1"/>
              </a:solidFill>
              <a:latin typeface="Calibri"/>
              <a:ea typeface="Calibri"/>
              <a:cs typeface="Calibri"/>
              <a:sym typeface="Calibri"/>
            </a:endParaRPr>
          </a:p>
        </p:txBody>
      </p:sp>
      <p:sp>
        <p:nvSpPr>
          <p:cNvPr id="1125" name="Google Shape;1125;p29"/>
          <p:cNvSpPr/>
          <p:nvPr/>
        </p:nvSpPr>
        <p:spPr>
          <a:xfrm>
            <a:off x="3264408" y="3968496"/>
            <a:ext cx="2615184" cy="987552"/>
          </a:xfrm>
          <a:prstGeom prst="roundRect">
            <a:avLst>
              <a:gd fmla="val 8333"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29"/>
          <p:cNvSpPr txBox="1"/>
          <p:nvPr/>
        </p:nvSpPr>
        <p:spPr>
          <a:xfrm>
            <a:off x="3410712" y="4069080"/>
            <a:ext cx="2322576"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050"/>
              <a:buFont typeface="Calibri"/>
              <a:buNone/>
            </a:pPr>
            <a:r>
              <a:rPr b="1" i="0" lang="en-US" sz="1050" u="none" cap="none" strike="noStrike">
                <a:solidFill>
                  <a:srgbClr val="FBBF24"/>
                </a:solidFill>
                <a:latin typeface="Calibri"/>
                <a:ea typeface="Calibri"/>
                <a:cs typeface="Calibri"/>
                <a:sym typeface="Calibri"/>
              </a:rPr>
              <a:t>Guardrails, because detectors are chatty</a:t>
            </a:r>
            <a:endParaRPr b="0" i="0" sz="1050" u="none" cap="none" strike="noStrike">
              <a:solidFill>
                <a:schemeClr val="dk1"/>
              </a:solidFill>
              <a:latin typeface="Calibri"/>
              <a:ea typeface="Calibri"/>
              <a:cs typeface="Calibri"/>
              <a:sym typeface="Calibri"/>
            </a:endParaRPr>
          </a:p>
        </p:txBody>
      </p:sp>
      <p:sp>
        <p:nvSpPr>
          <p:cNvPr id="1127" name="Google Shape;1127;p29"/>
          <p:cNvSpPr txBox="1"/>
          <p:nvPr/>
        </p:nvSpPr>
        <p:spPr>
          <a:xfrm>
            <a:off x="3410712" y="4425696"/>
            <a:ext cx="2322576"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Tool stdout capped at ~2000 chars · recursion_limit 12 · “at most 6 tool or task calls” in the system prompt · a 180 s timeout.</a:t>
            </a:r>
            <a:endParaRPr b="0" i="0" sz="850" u="none" cap="none" strike="noStrike">
              <a:solidFill>
                <a:schemeClr val="dk1"/>
              </a:solidFill>
              <a:latin typeface="Calibri"/>
              <a:ea typeface="Calibri"/>
              <a:cs typeface="Calibri"/>
              <a:sym typeface="Calibri"/>
            </a:endParaRPr>
          </a:p>
        </p:txBody>
      </p:sp>
      <p:sp>
        <p:nvSpPr>
          <p:cNvPr id="1128" name="Google Shape;1128;p29"/>
          <p:cNvSpPr/>
          <p:nvPr/>
        </p:nvSpPr>
        <p:spPr>
          <a:xfrm>
            <a:off x="6025896" y="3968496"/>
            <a:ext cx="2615184" cy="987552"/>
          </a:xfrm>
          <a:prstGeom prst="roundRect">
            <a:avLst>
              <a:gd fmla="val 8333"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29"/>
          <p:cNvSpPr txBox="1"/>
          <p:nvPr/>
        </p:nvSpPr>
        <p:spPr>
          <a:xfrm>
            <a:off x="6172200" y="4069080"/>
            <a:ext cx="2322576"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1050"/>
              <a:buFont typeface="Calibri"/>
              <a:buNone/>
            </a:pPr>
            <a:r>
              <a:rPr b="1" i="0" lang="en-US" sz="1050" u="none" cap="none" strike="noStrike">
                <a:solidFill>
                  <a:srgbClr val="FB7185"/>
                </a:solidFill>
                <a:latin typeface="Calibri"/>
                <a:ea typeface="Calibri"/>
                <a:cs typeface="Calibri"/>
                <a:sym typeface="Calibri"/>
              </a:rPr>
              <a:t>It is allowed to fail</a:t>
            </a:r>
            <a:endParaRPr b="0" i="0" sz="1050" u="none" cap="none" strike="noStrike">
              <a:solidFill>
                <a:schemeClr val="dk1"/>
              </a:solidFill>
              <a:latin typeface="Calibri"/>
              <a:ea typeface="Calibri"/>
              <a:cs typeface="Calibri"/>
              <a:sym typeface="Calibri"/>
            </a:endParaRPr>
          </a:p>
        </p:txBody>
      </p:sp>
      <p:sp>
        <p:nvSpPr>
          <p:cNvPr id="1130" name="Google Shape;1130;p29"/>
          <p:cNvSpPr txBox="1"/>
          <p:nvPr/>
        </p:nvSpPr>
        <p:spPr>
          <a:xfrm>
            <a:off x="6172200" y="4425696"/>
            <a:ext cx="2322576"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A provider 502 is caught and printed. Part 4 does not need this cell — say so before you run it, so nobody panics.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135" name="Shape 1135"/>
        <p:cNvGrpSpPr/>
        <p:nvPr/>
      </p:nvGrpSpPr>
      <p:grpSpPr>
        <a:xfrm>
          <a:off x="0" y="0"/>
          <a:ext cx="0" cy="0"/>
          <a:chOff x="0" y="0"/>
          <a:chExt cx="0" cy="0"/>
        </a:xfrm>
      </p:grpSpPr>
      <p:sp>
        <p:nvSpPr>
          <p:cNvPr id="1136" name="Google Shape;1136;p30"/>
          <p:cNvSpPr/>
          <p:nvPr/>
        </p:nvSpPr>
        <p:spPr>
          <a:xfrm>
            <a:off x="502920" y="502920"/>
            <a:ext cx="8138160" cy="4114800"/>
          </a:xfrm>
          <a:prstGeom prst="roundRect">
            <a:avLst>
              <a:gd fmla="val 3111" name="adj"/>
            </a:avLst>
          </a:prstGeom>
          <a:solidFill>
            <a:srgbClr val="34234F"/>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30"/>
          <p:cNvSpPr/>
          <p:nvPr/>
        </p:nvSpPr>
        <p:spPr>
          <a:xfrm>
            <a:off x="960120" y="960120"/>
            <a:ext cx="713232" cy="713232"/>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30"/>
          <p:cNvSpPr txBox="1"/>
          <p:nvPr/>
        </p:nvSpPr>
        <p:spPr>
          <a:xfrm>
            <a:off x="960120" y="960120"/>
            <a:ext cx="713232"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2600"/>
              <a:buFont typeface="Courier New"/>
              <a:buNone/>
            </a:pPr>
            <a:r>
              <a:rPr b="1" i="0" lang="en-US" sz="2600" u="none" cap="none" strike="noStrike">
                <a:solidFill>
                  <a:srgbClr val="2A1B3D"/>
                </a:solidFill>
                <a:latin typeface="Courier New"/>
                <a:ea typeface="Courier New"/>
                <a:cs typeface="Courier New"/>
                <a:sym typeface="Courier New"/>
              </a:rPr>
              <a:t>4</a:t>
            </a:r>
            <a:endParaRPr b="0" i="0" sz="2600" u="none" cap="none" strike="noStrike">
              <a:solidFill>
                <a:schemeClr val="dk1"/>
              </a:solidFill>
              <a:latin typeface="Calibri"/>
              <a:ea typeface="Calibri"/>
              <a:cs typeface="Calibri"/>
              <a:sym typeface="Calibri"/>
            </a:endParaRPr>
          </a:p>
        </p:txBody>
      </p:sp>
      <p:sp>
        <p:nvSpPr>
          <p:cNvPr id="1139" name="Google Shape;1139;p30"/>
          <p:cNvSpPr txBox="1"/>
          <p:nvPr/>
        </p:nvSpPr>
        <p:spPr>
          <a:xfrm>
            <a:off x="1874520" y="987552"/>
            <a:ext cx="5120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100"/>
              <a:buFont typeface="Courier New"/>
              <a:buNone/>
            </a:pPr>
            <a:r>
              <a:rPr b="0" i="0" lang="en-US" sz="1100" u="none" cap="none" strike="noStrike">
                <a:solidFill>
                  <a:srgbClr val="A78BFA"/>
                </a:solidFill>
                <a:latin typeface="Courier New"/>
                <a:ea typeface="Courier New"/>
                <a:cs typeface="Courier New"/>
                <a:sym typeface="Courier New"/>
              </a:rPr>
              <a:t>HANDS-ON · DEBT IS REPORTED IN WORDS</a:t>
            </a:r>
            <a:endParaRPr b="0" i="0" sz="1100" u="none" cap="none" strike="noStrike">
              <a:solidFill>
                <a:schemeClr val="dk1"/>
              </a:solidFill>
              <a:latin typeface="Calibri"/>
              <a:ea typeface="Calibri"/>
              <a:cs typeface="Calibri"/>
              <a:sym typeface="Calibri"/>
            </a:endParaRPr>
          </a:p>
        </p:txBody>
      </p:sp>
      <p:sp>
        <p:nvSpPr>
          <p:cNvPr id="1140" name="Google Shape;1140;p30"/>
          <p:cNvSpPr txBox="1"/>
          <p:nvPr/>
        </p:nvSpPr>
        <p:spPr>
          <a:xfrm>
            <a:off x="1874520" y="1261872"/>
            <a:ext cx="6035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Debt resolution &amp; ship</a:t>
            </a:r>
            <a:endParaRPr b="0" i="0" sz="3200" u="none" cap="none" strike="noStrike">
              <a:solidFill>
                <a:schemeClr val="dk1"/>
              </a:solidFill>
              <a:latin typeface="Calibri"/>
              <a:ea typeface="Calibri"/>
              <a:cs typeface="Calibri"/>
              <a:sym typeface="Calibri"/>
            </a:endParaRPr>
          </a:p>
        </p:txBody>
      </p:sp>
      <p:sp>
        <p:nvSpPr>
          <p:cNvPr id="1141" name="Google Shape;1141;p30"/>
          <p:cNvSpPr txBox="1"/>
          <p:nvPr/>
        </p:nvSpPr>
        <p:spPr>
          <a:xfrm>
            <a:off x="1892808" y="1810512"/>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1142" name="Google Shape;1142;p30"/>
          <p:cNvSpPr txBox="1"/>
          <p:nvPr/>
        </p:nvSpPr>
        <p:spPr>
          <a:xfrm>
            <a:off x="2130552" y="1810512"/>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§4.1  Six real public GitHub issues. Gold labels are our teaching key — the model never sees them.</a:t>
            </a:r>
            <a:endParaRPr b="0" i="0" sz="1100" u="none" cap="none" strike="noStrike">
              <a:solidFill>
                <a:schemeClr val="dk1"/>
              </a:solidFill>
              <a:latin typeface="Calibri"/>
              <a:ea typeface="Calibri"/>
              <a:cs typeface="Calibri"/>
              <a:sym typeface="Calibri"/>
            </a:endParaRPr>
          </a:p>
        </p:txBody>
      </p:sp>
      <p:sp>
        <p:nvSpPr>
          <p:cNvPr id="1143" name="Google Shape;1143;p30"/>
          <p:cNvSpPr txBox="1"/>
          <p:nvPr/>
        </p:nvSpPr>
        <p:spPr>
          <a:xfrm>
            <a:off x="1892808" y="2194560"/>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1144" name="Google Shape;1144;p30"/>
          <p:cNvSpPr txBox="1"/>
          <p:nvPr/>
        </p:nvSpPr>
        <p:spPr>
          <a:xfrm>
            <a:off x="2130552" y="2194560"/>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§4.2  Classifier over a closed set of 8 labels. snap_label() keeps the first token, or falls back to code.</a:t>
            </a:r>
            <a:endParaRPr b="0" i="0" sz="1100" u="none" cap="none" strike="noStrike">
              <a:solidFill>
                <a:schemeClr val="dk1"/>
              </a:solidFill>
              <a:latin typeface="Calibri"/>
              <a:ea typeface="Calibri"/>
              <a:cs typeface="Calibri"/>
              <a:sym typeface="Calibri"/>
            </a:endParaRPr>
          </a:p>
        </p:txBody>
      </p:sp>
      <p:sp>
        <p:nvSpPr>
          <p:cNvPr id="1145" name="Google Shape;1145;p30"/>
          <p:cNvSpPr txBox="1"/>
          <p:nvPr/>
        </p:nvSpPr>
        <p:spPr>
          <a:xfrm>
            <a:off x="1892808" y="2578608"/>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1146" name="Google Shape;1146;p30"/>
          <p:cNvSpPr txBox="1"/>
          <p:nvPr/>
        </p:nvSpPr>
        <p:spPr>
          <a:xfrm>
            <a:off x="2130552" y="2578608"/>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§4.3  Triage agent: JSON interest / principal → priority = interest ÷ principal.</a:t>
            </a:r>
            <a:endParaRPr b="0" i="0" sz="1100" u="none" cap="none" strike="noStrike">
              <a:solidFill>
                <a:schemeClr val="dk1"/>
              </a:solidFill>
              <a:latin typeface="Calibri"/>
              <a:ea typeface="Calibri"/>
              <a:cs typeface="Calibri"/>
              <a:sym typeface="Calibri"/>
            </a:endParaRPr>
          </a:p>
        </p:txBody>
      </p:sp>
      <p:sp>
        <p:nvSpPr>
          <p:cNvPr id="1147" name="Google Shape;1147;p30"/>
          <p:cNvSpPr txBox="1"/>
          <p:nvPr/>
        </p:nvSpPr>
        <p:spPr>
          <a:xfrm>
            <a:off x="1892808" y="2962656"/>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1148" name="Google Shape;1148;p30"/>
          <p:cNvSpPr txBox="1"/>
          <p:nvPr/>
        </p:nvSpPr>
        <p:spPr>
          <a:xfrm>
            <a:off x="2130552" y="2962656"/>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§4.4  Full pipeline: classify + triage + audit + gated refactor → TECH_DEBT_REPORT.md.</a:t>
            </a:r>
            <a:endParaRPr b="0" i="0" sz="1100" u="none" cap="none" strike="noStrike">
              <a:solidFill>
                <a:schemeClr val="dk1"/>
              </a:solidFill>
              <a:latin typeface="Calibri"/>
              <a:ea typeface="Calibri"/>
              <a:cs typeface="Calibri"/>
              <a:sym typeface="Calibri"/>
            </a:endParaRPr>
          </a:p>
        </p:txBody>
      </p:sp>
      <p:sp>
        <p:nvSpPr>
          <p:cNvPr id="1149" name="Google Shape;1149;p30"/>
          <p:cNvSpPr txBox="1"/>
          <p:nvPr/>
        </p:nvSpPr>
        <p:spPr>
          <a:xfrm>
            <a:off x="1892808" y="3346704"/>
            <a:ext cx="201168"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alibri"/>
              <a:buNone/>
            </a:pPr>
            <a:r>
              <a:rPr b="0" i="0" lang="en-US" sz="1050" u="none" cap="none" strike="noStrike">
                <a:solidFill>
                  <a:srgbClr val="A78BFA"/>
                </a:solidFill>
                <a:latin typeface="Calibri"/>
                <a:ea typeface="Calibri"/>
                <a:cs typeface="Calibri"/>
                <a:sym typeface="Calibri"/>
              </a:rPr>
              <a:t>▸</a:t>
            </a:r>
            <a:endParaRPr b="0" i="0" sz="1050" u="none" cap="none" strike="noStrike">
              <a:solidFill>
                <a:schemeClr val="dk1"/>
              </a:solidFill>
              <a:latin typeface="Calibri"/>
              <a:ea typeface="Calibri"/>
              <a:cs typeface="Calibri"/>
              <a:sym typeface="Calibri"/>
            </a:endParaRPr>
          </a:p>
        </p:txBody>
      </p:sp>
      <p:sp>
        <p:nvSpPr>
          <p:cNvPr id="1150" name="Google Shape;1150;p30"/>
          <p:cNvSpPr txBox="1"/>
          <p:nvPr/>
        </p:nvSpPr>
        <p:spPr>
          <a:xfrm>
            <a:off x="2130552" y="3346704"/>
            <a:ext cx="63550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1100"/>
              <a:buFont typeface="Calibri"/>
              <a:buNone/>
            </a:pPr>
            <a:r>
              <a:rPr b="0" i="0" lang="en-US" sz="1100" u="none" cap="none" strike="noStrike">
                <a:solidFill>
                  <a:srgbClr val="D8CDEE"/>
                </a:solidFill>
                <a:latin typeface="Calibri"/>
                <a:ea typeface="Calibri"/>
                <a:cs typeface="Calibri"/>
                <a:sym typeface="Calibri"/>
              </a:rPr>
              <a:t>Then point run_workflow at your own module — and use that repo's tests, not test_checkout.py.</a:t>
            </a:r>
            <a:endParaRPr b="0" i="0" sz="1100" u="none" cap="none" strike="noStrike">
              <a:solidFill>
                <a:schemeClr val="dk1"/>
              </a:solidFill>
              <a:latin typeface="Calibri"/>
              <a:ea typeface="Calibri"/>
              <a:cs typeface="Calibri"/>
              <a:sym typeface="Calibri"/>
            </a:endParaRPr>
          </a:p>
        </p:txBody>
      </p:sp>
      <p:sp>
        <p:nvSpPr>
          <p:cNvPr id="1151" name="Google Shape;1151;p30"/>
          <p:cNvSpPr/>
          <p:nvPr/>
        </p:nvSpPr>
        <p:spPr>
          <a:xfrm>
            <a:off x="1874520" y="4187952"/>
            <a:ext cx="16002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30"/>
          <p:cNvSpPr txBox="1"/>
          <p:nvPr/>
        </p:nvSpPr>
        <p:spPr>
          <a:xfrm>
            <a:off x="1874520" y="4187952"/>
            <a:ext cx="16002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950"/>
              <a:buFont typeface="Courier New"/>
              <a:buNone/>
            </a:pPr>
            <a:r>
              <a:rPr b="0" i="0" lang="en-US" sz="950" u="none" cap="none" strike="noStrike">
                <a:solidFill>
                  <a:srgbClr val="E9DFFF"/>
                </a:solidFill>
                <a:latin typeface="Courier New"/>
                <a:ea typeface="Courier New"/>
                <a:cs typeface="Courier New"/>
                <a:sym typeface="Courier New"/>
              </a:rPr>
              <a:t>2:30 – 2:55</a:t>
            </a:r>
            <a:endParaRPr b="0" i="0" sz="950" u="none" cap="none" strike="noStrike">
              <a:solidFill>
                <a:schemeClr val="dk1"/>
              </a:solidFill>
              <a:latin typeface="Calibri"/>
              <a:ea typeface="Calibri"/>
              <a:cs typeface="Calibri"/>
              <a:sym typeface="Calibri"/>
            </a:endParaRPr>
          </a:p>
        </p:txBody>
      </p:sp>
      <p:sp>
        <p:nvSpPr>
          <p:cNvPr id="1153" name="Google Shape;1153;p30"/>
          <p:cNvSpPr/>
          <p:nvPr/>
        </p:nvSpPr>
        <p:spPr>
          <a:xfrm>
            <a:off x="3593592" y="4187952"/>
            <a:ext cx="2286000" cy="274320"/>
          </a:xfrm>
          <a:prstGeom prst="roundRect">
            <a:avLst>
              <a:gd fmla="val 20000"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30"/>
          <p:cNvSpPr txBox="1"/>
          <p:nvPr/>
        </p:nvSpPr>
        <p:spPr>
          <a:xfrm>
            <a:off x="3593592" y="4187952"/>
            <a:ext cx="2286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950"/>
              <a:buFont typeface="Courier New"/>
              <a:buNone/>
            </a:pPr>
            <a:r>
              <a:rPr b="0" i="0" lang="en-US" sz="950" u="none" cap="none" strike="noStrike">
                <a:solidFill>
                  <a:srgbClr val="5EE9B5"/>
                </a:solidFill>
                <a:latin typeface="Courier New"/>
                <a:ea typeface="Courier New"/>
                <a:cs typeface="Courier New"/>
                <a:sym typeface="Courier New"/>
              </a:rPr>
              <a:t>NOTEBOOK · PART 4</a:t>
            </a:r>
            <a:endParaRPr b="0" i="0" sz="950" u="none" cap="none" strike="noStrike">
              <a:solidFill>
                <a:schemeClr val="dk1"/>
              </a:solidFill>
              <a:latin typeface="Calibri"/>
              <a:ea typeface="Calibri"/>
              <a:cs typeface="Calibri"/>
              <a:sym typeface="Calibri"/>
            </a:endParaRPr>
          </a:p>
        </p:txBody>
      </p:sp>
      <p:sp>
        <p:nvSpPr>
          <p:cNvPr id="1155" name="Google Shape;1155;p30">
            <a:hlinkClick action="ppaction://hlinksldjump" r:id="rId3"/>
          </p:cNvPr>
          <p:cNvSpPr txBox="1"/>
          <p:nvPr/>
        </p:nvSpPr>
        <p:spPr>
          <a:xfrm>
            <a:off x="7406640" y="4206240"/>
            <a:ext cx="96012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160" name="Shape 1160"/>
        <p:cNvGrpSpPr/>
        <p:nvPr/>
      </p:nvGrpSpPr>
      <p:grpSpPr>
        <a:xfrm>
          <a:off x="0" y="0"/>
          <a:ext cx="0" cy="0"/>
          <a:chOff x="0" y="0"/>
          <a:chExt cx="0" cy="0"/>
        </a:xfrm>
      </p:grpSpPr>
      <p:sp>
        <p:nvSpPr>
          <p:cNvPr id="1161" name="Google Shape;1161;p31"/>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§4.1 · PUBLIC TICKETS, NOT INVENTED STORIES</a:t>
            </a:r>
            <a:endParaRPr b="0" i="0" sz="1050" u="none" cap="none" strike="noStrike">
              <a:solidFill>
                <a:schemeClr val="dk1"/>
              </a:solidFill>
              <a:latin typeface="Calibri"/>
              <a:ea typeface="Calibri"/>
              <a:cs typeface="Calibri"/>
              <a:sym typeface="Calibri"/>
            </a:endParaRPr>
          </a:p>
        </p:txBody>
      </p:sp>
      <p:sp>
        <p:nvSpPr>
          <p:cNvPr id="1162" name="Google Shape;1162;p31"/>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Six real GitHub issues — click any row to open it</a:t>
            </a:r>
            <a:endParaRPr b="0" i="0" sz="2700" u="none" cap="none" strike="noStrike">
              <a:solidFill>
                <a:schemeClr val="dk1"/>
              </a:solidFill>
              <a:latin typeface="Calibri"/>
              <a:ea typeface="Calibri"/>
              <a:cs typeface="Calibri"/>
              <a:sym typeface="Calibri"/>
            </a:endParaRPr>
          </a:p>
        </p:txBody>
      </p:sp>
      <p:sp>
        <p:nvSpPr>
          <p:cNvPr id="1163" name="Google Shape;1163;p31">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164" name="Google Shape;1164;p31"/>
          <p:cNvSpPr/>
          <p:nvPr/>
        </p:nvSpPr>
        <p:spPr>
          <a:xfrm>
            <a:off x="502920" y="1133856"/>
            <a:ext cx="8138160" cy="438912"/>
          </a:xfrm>
          <a:prstGeom prst="roundRect">
            <a:avLst>
              <a:gd fmla="val 18750"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p31">
            <a:hlinkClick r:id="rId5"/>
          </p:cNvPr>
          <p:cNvSpPr txBox="1"/>
          <p:nvPr/>
        </p:nvSpPr>
        <p:spPr>
          <a:xfrm>
            <a:off x="649224" y="1133856"/>
            <a:ext cx="173736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ourier New"/>
              <a:buNone/>
            </a:pPr>
            <a:r>
              <a:rPr b="1" i="0" lang="en-US" sz="900" u="sng" cap="none" strike="noStrike">
                <a:solidFill>
                  <a:schemeClr val="hlink"/>
                </a:solidFill>
                <a:latin typeface="Courier New"/>
                <a:ea typeface="Courier New"/>
                <a:cs typeface="Courier New"/>
                <a:sym typeface="Courier New"/>
                <a:hlinkClick r:id="rId6"/>
              </a:rPr>
              <a:t>pallets/flask#5214</a:t>
            </a:r>
            <a:endParaRPr b="0" i="0" sz="900" u="none" cap="none" strike="noStrike">
              <a:solidFill>
                <a:schemeClr val="dk1"/>
              </a:solidFill>
              <a:latin typeface="Calibri"/>
              <a:ea typeface="Calibri"/>
              <a:cs typeface="Calibri"/>
              <a:sym typeface="Calibri"/>
            </a:endParaRPr>
          </a:p>
        </p:txBody>
      </p:sp>
      <p:sp>
        <p:nvSpPr>
          <p:cNvPr id="1166" name="Google Shape;1166;p31"/>
          <p:cNvSpPr/>
          <p:nvPr/>
        </p:nvSpPr>
        <p:spPr>
          <a:xfrm>
            <a:off x="2441448" y="1234440"/>
            <a:ext cx="1170432"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31"/>
          <p:cNvSpPr txBox="1"/>
          <p:nvPr/>
        </p:nvSpPr>
        <p:spPr>
          <a:xfrm>
            <a:off x="2441448" y="1234440"/>
            <a:ext cx="1170432"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documentation</a:t>
            </a:r>
            <a:endParaRPr b="0" i="0" sz="750" u="none" cap="none" strike="noStrike">
              <a:solidFill>
                <a:schemeClr val="dk1"/>
              </a:solidFill>
              <a:latin typeface="Calibri"/>
              <a:ea typeface="Calibri"/>
              <a:cs typeface="Calibri"/>
              <a:sym typeface="Calibri"/>
            </a:endParaRPr>
          </a:p>
        </p:txBody>
      </p:sp>
      <p:sp>
        <p:nvSpPr>
          <p:cNvPr id="1168" name="Google Shape;1168;p31"/>
          <p:cNvSpPr txBox="1"/>
          <p:nvPr/>
        </p:nvSpPr>
        <p:spPr>
          <a:xfrm>
            <a:off x="3721608" y="1133856"/>
            <a:ext cx="4773168"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Application Dispatching docs still call werkzeug.wsgi.peek_path_info / pop_path_info — removed in Werkzeug 2.3. The documented example ImportErrors.</a:t>
            </a:r>
            <a:endParaRPr b="0" i="0" sz="900" u="none" cap="none" strike="noStrike">
              <a:solidFill>
                <a:schemeClr val="dk1"/>
              </a:solidFill>
              <a:latin typeface="Calibri"/>
              <a:ea typeface="Calibri"/>
              <a:cs typeface="Calibri"/>
              <a:sym typeface="Calibri"/>
            </a:endParaRPr>
          </a:p>
        </p:txBody>
      </p:sp>
      <p:sp>
        <p:nvSpPr>
          <p:cNvPr id="1169" name="Google Shape;1169;p31"/>
          <p:cNvSpPr/>
          <p:nvPr/>
        </p:nvSpPr>
        <p:spPr>
          <a:xfrm>
            <a:off x="502920" y="1632204"/>
            <a:ext cx="8138160" cy="438912"/>
          </a:xfrm>
          <a:prstGeom prst="roundRect">
            <a:avLst>
              <a:gd fmla="val 1875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31">
            <a:hlinkClick r:id="rId7"/>
          </p:cNvPr>
          <p:cNvSpPr txBox="1"/>
          <p:nvPr/>
        </p:nvSpPr>
        <p:spPr>
          <a:xfrm>
            <a:off x="649224" y="1632204"/>
            <a:ext cx="173736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ourier New"/>
              <a:buNone/>
            </a:pPr>
            <a:r>
              <a:rPr b="1" i="0" lang="en-US" sz="900" u="sng" cap="none" strike="noStrike">
                <a:solidFill>
                  <a:schemeClr val="hlink"/>
                </a:solidFill>
                <a:latin typeface="Courier New"/>
                <a:ea typeface="Courier New"/>
                <a:cs typeface="Courier New"/>
                <a:sym typeface="Courier New"/>
                <a:hlinkClick r:id="rId8"/>
              </a:rPr>
              <a:t>psf/requests#7016</a:t>
            </a:r>
            <a:endParaRPr b="0" i="0" sz="900" u="none" cap="none" strike="noStrike">
              <a:solidFill>
                <a:schemeClr val="dk1"/>
              </a:solidFill>
              <a:latin typeface="Calibri"/>
              <a:ea typeface="Calibri"/>
              <a:cs typeface="Calibri"/>
              <a:sym typeface="Calibri"/>
            </a:endParaRPr>
          </a:p>
        </p:txBody>
      </p:sp>
      <p:sp>
        <p:nvSpPr>
          <p:cNvPr id="1171" name="Google Shape;1171;p31"/>
          <p:cNvSpPr/>
          <p:nvPr/>
        </p:nvSpPr>
        <p:spPr>
          <a:xfrm>
            <a:off x="2441448" y="1732788"/>
            <a:ext cx="1170432"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31"/>
          <p:cNvSpPr txBox="1"/>
          <p:nvPr/>
        </p:nvSpPr>
        <p:spPr>
          <a:xfrm>
            <a:off x="2441448" y="1732788"/>
            <a:ext cx="1170432"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50"/>
              <a:buFont typeface="Courier New"/>
              <a:buNone/>
            </a:pPr>
            <a:r>
              <a:rPr b="0" i="0" lang="en-US" sz="750" u="none" cap="none" strike="noStrike">
                <a:solidFill>
                  <a:srgbClr val="E9DFFF"/>
                </a:solidFill>
                <a:latin typeface="Courier New"/>
                <a:ea typeface="Courier New"/>
                <a:cs typeface="Courier New"/>
                <a:sym typeface="Courier New"/>
              </a:rPr>
              <a:t>test</a:t>
            </a:r>
            <a:endParaRPr b="0" i="0" sz="750" u="none" cap="none" strike="noStrike">
              <a:solidFill>
                <a:schemeClr val="dk1"/>
              </a:solidFill>
              <a:latin typeface="Calibri"/>
              <a:ea typeface="Calibri"/>
              <a:cs typeface="Calibri"/>
              <a:sym typeface="Calibri"/>
            </a:endParaRPr>
          </a:p>
        </p:txBody>
      </p:sp>
      <p:sp>
        <p:nvSpPr>
          <p:cNvPr id="1173" name="Google Shape;1173;p31"/>
          <p:cNvSpPr txBox="1"/>
          <p:nvPr/>
        </p:nvSpPr>
        <p:spPr>
          <a:xfrm>
            <a:off x="3721608" y="1632204"/>
            <a:ext cx="4773168"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“recursive dependency involving fixture httpbin”. The suite does not run until pytest-httpbin is installed; contributing docs never say so.</a:t>
            </a:r>
            <a:endParaRPr b="0" i="0" sz="900" u="none" cap="none" strike="noStrike">
              <a:solidFill>
                <a:schemeClr val="dk1"/>
              </a:solidFill>
              <a:latin typeface="Calibri"/>
              <a:ea typeface="Calibri"/>
              <a:cs typeface="Calibri"/>
              <a:sym typeface="Calibri"/>
            </a:endParaRPr>
          </a:p>
        </p:txBody>
      </p:sp>
      <p:sp>
        <p:nvSpPr>
          <p:cNvPr id="1174" name="Google Shape;1174;p31"/>
          <p:cNvSpPr/>
          <p:nvPr/>
        </p:nvSpPr>
        <p:spPr>
          <a:xfrm>
            <a:off x="502920" y="2130552"/>
            <a:ext cx="8138160" cy="438912"/>
          </a:xfrm>
          <a:prstGeom prst="roundRect">
            <a:avLst>
              <a:gd fmla="val 18750"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31">
            <a:hlinkClick r:id="rId9"/>
          </p:cNvPr>
          <p:cNvSpPr txBox="1"/>
          <p:nvPr/>
        </p:nvSpPr>
        <p:spPr>
          <a:xfrm>
            <a:off x="649224" y="2130552"/>
            <a:ext cx="173736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ourier New"/>
              <a:buNone/>
            </a:pPr>
            <a:r>
              <a:rPr b="1" i="0" lang="en-US" sz="900" u="sng" cap="none" strike="noStrike">
                <a:solidFill>
                  <a:schemeClr val="hlink"/>
                </a:solidFill>
                <a:latin typeface="Courier New"/>
                <a:ea typeface="Courier New"/>
                <a:cs typeface="Courier New"/>
                <a:sym typeface="Courier New"/>
                <a:hlinkClick r:id="rId10"/>
              </a:rPr>
              <a:t>psf/requests#6637</a:t>
            </a:r>
            <a:endParaRPr b="0" i="0" sz="900" u="none" cap="none" strike="noStrike">
              <a:solidFill>
                <a:schemeClr val="dk1"/>
              </a:solidFill>
              <a:latin typeface="Calibri"/>
              <a:ea typeface="Calibri"/>
              <a:cs typeface="Calibri"/>
              <a:sym typeface="Calibri"/>
            </a:endParaRPr>
          </a:p>
        </p:txBody>
      </p:sp>
      <p:sp>
        <p:nvSpPr>
          <p:cNvPr id="1176" name="Google Shape;1176;p31"/>
          <p:cNvSpPr/>
          <p:nvPr/>
        </p:nvSpPr>
        <p:spPr>
          <a:xfrm>
            <a:off x="2441448" y="2231136"/>
            <a:ext cx="1170432"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p31"/>
          <p:cNvSpPr txBox="1"/>
          <p:nvPr/>
        </p:nvSpPr>
        <p:spPr>
          <a:xfrm>
            <a:off x="2441448" y="2231136"/>
            <a:ext cx="1170432"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dependency</a:t>
            </a:r>
            <a:endParaRPr b="0" i="0" sz="750" u="none" cap="none" strike="noStrike">
              <a:solidFill>
                <a:schemeClr val="dk1"/>
              </a:solidFill>
              <a:latin typeface="Calibri"/>
              <a:ea typeface="Calibri"/>
              <a:cs typeface="Calibri"/>
              <a:sym typeface="Calibri"/>
            </a:endParaRPr>
          </a:p>
        </p:txBody>
      </p:sp>
      <p:sp>
        <p:nvSpPr>
          <p:cNvPr id="1178" name="Google Shape;1178;p31"/>
          <p:cNvSpPr txBox="1"/>
          <p:nvPr/>
        </p:nvSpPr>
        <p:spPr>
          <a:xfrm>
            <a:off x="3721608" y="2130552"/>
            <a:ext cx="4773168"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Dev extra pulls Werkzeug 3, but pytest-httpbin imports parse_authorization_header, removed in Werkzeug 3. Tests only pass pinned.</a:t>
            </a:r>
            <a:endParaRPr b="0" i="0" sz="900" u="none" cap="none" strike="noStrike">
              <a:solidFill>
                <a:schemeClr val="dk1"/>
              </a:solidFill>
              <a:latin typeface="Calibri"/>
              <a:ea typeface="Calibri"/>
              <a:cs typeface="Calibri"/>
              <a:sym typeface="Calibri"/>
            </a:endParaRPr>
          </a:p>
        </p:txBody>
      </p:sp>
      <p:sp>
        <p:nvSpPr>
          <p:cNvPr id="1179" name="Google Shape;1179;p31"/>
          <p:cNvSpPr/>
          <p:nvPr/>
        </p:nvSpPr>
        <p:spPr>
          <a:xfrm>
            <a:off x="502920" y="2628900"/>
            <a:ext cx="8138160" cy="438912"/>
          </a:xfrm>
          <a:prstGeom prst="roundRect">
            <a:avLst>
              <a:gd fmla="val 1875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31">
            <a:hlinkClick r:id="rId11"/>
          </p:cNvPr>
          <p:cNvSpPr txBox="1"/>
          <p:nvPr/>
        </p:nvSpPr>
        <p:spPr>
          <a:xfrm>
            <a:off x="649224" y="2628900"/>
            <a:ext cx="173736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ourier New"/>
              <a:buNone/>
            </a:pPr>
            <a:r>
              <a:rPr b="1" i="0" lang="en-US" sz="900" u="sng" cap="none" strike="noStrike">
                <a:solidFill>
                  <a:schemeClr val="hlink"/>
                </a:solidFill>
                <a:latin typeface="Courier New"/>
                <a:ea typeface="Courier New"/>
                <a:cs typeface="Courier New"/>
                <a:sym typeface="Courier New"/>
                <a:hlinkClick r:id="rId12"/>
              </a:rPr>
              <a:t>encode/httpx#3071</a:t>
            </a:r>
            <a:endParaRPr b="0" i="0" sz="900" u="none" cap="none" strike="noStrike">
              <a:solidFill>
                <a:schemeClr val="dk1"/>
              </a:solidFill>
              <a:latin typeface="Calibri"/>
              <a:ea typeface="Calibri"/>
              <a:cs typeface="Calibri"/>
              <a:sym typeface="Calibri"/>
            </a:endParaRPr>
          </a:p>
        </p:txBody>
      </p:sp>
      <p:sp>
        <p:nvSpPr>
          <p:cNvPr id="1181" name="Google Shape;1181;p31"/>
          <p:cNvSpPr/>
          <p:nvPr/>
        </p:nvSpPr>
        <p:spPr>
          <a:xfrm>
            <a:off x="2441448" y="2729484"/>
            <a:ext cx="1170432"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31"/>
          <p:cNvSpPr txBox="1"/>
          <p:nvPr/>
        </p:nvSpPr>
        <p:spPr>
          <a:xfrm>
            <a:off x="2441448" y="2729484"/>
            <a:ext cx="1170432"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B7185"/>
              </a:buClr>
              <a:buSzPts val="750"/>
              <a:buFont typeface="Courier New"/>
              <a:buNone/>
            </a:pPr>
            <a:r>
              <a:rPr b="0" i="0" lang="en-US" sz="750" u="none" cap="none" strike="noStrike">
                <a:solidFill>
                  <a:srgbClr val="FB7185"/>
                </a:solidFill>
                <a:latin typeface="Courier New"/>
                <a:ea typeface="Courier New"/>
                <a:cs typeface="Courier New"/>
                <a:sym typeface="Courier New"/>
              </a:rPr>
              <a:t>design</a:t>
            </a:r>
            <a:endParaRPr b="0" i="0" sz="750" u="none" cap="none" strike="noStrike">
              <a:solidFill>
                <a:schemeClr val="dk1"/>
              </a:solidFill>
              <a:latin typeface="Calibri"/>
              <a:ea typeface="Calibri"/>
              <a:cs typeface="Calibri"/>
              <a:sym typeface="Calibri"/>
            </a:endParaRPr>
          </a:p>
        </p:txBody>
      </p:sp>
      <p:sp>
        <p:nvSpPr>
          <p:cNvPr id="1183" name="Google Shape;1183;p31"/>
          <p:cNvSpPr txBox="1"/>
          <p:nvPr/>
        </p:nvSpPr>
        <p:spPr>
          <a:xfrm>
            <a:off x="3721608" y="2628900"/>
            <a:ext cx="4773168"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Client / AsyncClient share a large surface and transport stack. HTTP/2 and SOCKS options keep landing in the same classes; changes regress unrelated transports.</a:t>
            </a:r>
            <a:endParaRPr b="0" i="0" sz="900" u="none" cap="none" strike="noStrike">
              <a:solidFill>
                <a:schemeClr val="dk1"/>
              </a:solidFill>
              <a:latin typeface="Calibri"/>
              <a:ea typeface="Calibri"/>
              <a:cs typeface="Calibri"/>
              <a:sym typeface="Calibri"/>
            </a:endParaRPr>
          </a:p>
        </p:txBody>
      </p:sp>
      <p:sp>
        <p:nvSpPr>
          <p:cNvPr id="1184" name="Google Shape;1184;p31"/>
          <p:cNvSpPr/>
          <p:nvPr/>
        </p:nvSpPr>
        <p:spPr>
          <a:xfrm>
            <a:off x="502920" y="3127248"/>
            <a:ext cx="8138160" cy="438912"/>
          </a:xfrm>
          <a:prstGeom prst="roundRect">
            <a:avLst>
              <a:gd fmla="val 18750"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p31">
            <a:hlinkClick r:id="rId13"/>
          </p:cNvPr>
          <p:cNvSpPr txBox="1"/>
          <p:nvPr/>
        </p:nvSpPr>
        <p:spPr>
          <a:xfrm>
            <a:off x="649224" y="3127248"/>
            <a:ext cx="173736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ourier New"/>
              <a:buNone/>
            </a:pPr>
            <a:r>
              <a:rPr b="1" i="0" lang="en-US" sz="900" u="sng" cap="none" strike="noStrike">
                <a:solidFill>
                  <a:schemeClr val="hlink"/>
                </a:solidFill>
                <a:latin typeface="Courier New"/>
                <a:ea typeface="Courier New"/>
                <a:cs typeface="Courier New"/>
                <a:sym typeface="Courier New"/>
                <a:hlinkClick r:id="rId14"/>
              </a:rPr>
              <a:t>pylint-dev/pylint#9670</a:t>
            </a:r>
            <a:endParaRPr b="0" i="0" sz="900" u="none" cap="none" strike="noStrike">
              <a:solidFill>
                <a:schemeClr val="dk1"/>
              </a:solidFill>
              <a:latin typeface="Calibri"/>
              <a:ea typeface="Calibri"/>
              <a:cs typeface="Calibri"/>
              <a:sym typeface="Calibri"/>
            </a:endParaRPr>
          </a:p>
        </p:txBody>
      </p:sp>
      <p:sp>
        <p:nvSpPr>
          <p:cNvPr id="1186" name="Google Shape;1186;p31"/>
          <p:cNvSpPr/>
          <p:nvPr/>
        </p:nvSpPr>
        <p:spPr>
          <a:xfrm>
            <a:off x="2441448" y="3227832"/>
            <a:ext cx="1170432"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31"/>
          <p:cNvSpPr txBox="1"/>
          <p:nvPr/>
        </p:nvSpPr>
        <p:spPr>
          <a:xfrm>
            <a:off x="2441448" y="3227832"/>
            <a:ext cx="1170432"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code</a:t>
            </a:r>
            <a:endParaRPr b="0" i="0" sz="750" u="none" cap="none" strike="noStrike">
              <a:solidFill>
                <a:schemeClr val="dk1"/>
              </a:solidFill>
              <a:latin typeface="Calibri"/>
              <a:ea typeface="Calibri"/>
              <a:cs typeface="Calibri"/>
              <a:sym typeface="Calibri"/>
            </a:endParaRPr>
          </a:p>
        </p:txBody>
      </p:sp>
      <p:sp>
        <p:nvSpPr>
          <p:cNvPr id="1188" name="Google Shape;1188;p31"/>
          <p:cNvSpPr txBox="1"/>
          <p:nvPr/>
        </p:nvSpPr>
        <p:spPr>
          <a:xfrm>
            <a:off x="3721608" y="3127248"/>
            <a:ext cx="4773168"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Checker names and message IDs drifted; several checkers use abbreviations only the original author remembers. Reviewing a new checker costs extra time.</a:t>
            </a:r>
            <a:endParaRPr b="0" i="0" sz="900" u="none" cap="none" strike="noStrike">
              <a:solidFill>
                <a:schemeClr val="dk1"/>
              </a:solidFill>
              <a:latin typeface="Calibri"/>
              <a:ea typeface="Calibri"/>
              <a:cs typeface="Calibri"/>
              <a:sym typeface="Calibri"/>
            </a:endParaRPr>
          </a:p>
        </p:txBody>
      </p:sp>
      <p:sp>
        <p:nvSpPr>
          <p:cNvPr id="1189" name="Google Shape;1189;p31"/>
          <p:cNvSpPr/>
          <p:nvPr/>
        </p:nvSpPr>
        <p:spPr>
          <a:xfrm>
            <a:off x="502920" y="3625596"/>
            <a:ext cx="8138160" cy="438912"/>
          </a:xfrm>
          <a:prstGeom prst="roundRect">
            <a:avLst>
              <a:gd fmla="val 1875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31">
            <a:hlinkClick r:id="rId15"/>
          </p:cNvPr>
          <p:cNvSpPr txBox="1"/>
          <p:nvPr/>
        </p:nvSpPr>
        <p:spPr>
          <a:xfrm>
            <a:off x="649224" y="3625596"/>
            <a:ext cx="173736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00"/>
              <a:buFont typeface="Courier New"/>
              <a:buNone/>
            </a:pPr>
            <a:r>
              <a:rPr b="1" i="0" lang="en-US" sz="900" u="sng" cap="none" strike="noStrike">
                <a:solidFill>
                  <a:schemeClr val="hlink"/>
                </a:solidFill>
                <a:latin typeface="Courier New"/>
                <a:ea typeface="Courier New"/>
                <a:cs typeface="Courier New"/>
                <a:sym typeface="Courier New"/>
                <a:hlinkClick r:id="rId16"/>
              </a:rPr>
              <a:t>django/django#35091</a:t>
            </a:r>
            <a:endParaRPr b="0" i="0" sz="900" u="none" cap="none" strike="noStrike">
              <a:solidFill>
                <a:schemeClr val="dk1"/>
              </a:solidFill>
              <a:latin typeface="Calibri"/>
              <a:ea typeface="Calibri"/>
              <a:cs typeface="Calibri"/>
              <a:sym typeface="Calibri"/>
            </a:endParaRPr>
          </a:p>
        </p:txBody>
      </p:sp>
      <p:sp>
        <p:nvSpPr>
          <p:cNvPr id="1191" name="Google Shape;1191;p31"/>
          <p:cNvSpPr/>
          <p:nvPr/>
        </p:nvSpPr>
        <p:spPr>
          <a:xfrm>
            <a:off x="2441448" y="3726180"/>
            <a:ext cx="1170432"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 name="Google Shape;1192;p31"/>
          <p:cNvSpPr txBox="1"/>
          <p:nvPr/>
        </p:nvSpPr>
        <p:spPr>
          <a:xfrm>
            <a:off x="2441448" y="3726180"/>
            <a:ext cx="1170432"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8CDEE"/>
              </a:buClr>
              <a:buSzPts val="750"/>
              <a:buFont typeface="Courier New"/>
              <a:buNone/>
            </a:pPr>
            <a:r>
              <a:rPr b="0" i="0" lang="en-US" sz="750" u="none" cap="none" strike="noStrike">
                <a:solidFill>
                  <a:srgbClr val="D8CDEE"/>
                </a:solidFill>
                <a:latin typeface="Courier New"/>
                <a:ea typeface="Courier New"/>
                <a:cs typeface="Courier New"/>
                <a:sym typeface="Courier New"/>
              </a:rPr>
              <a:t>build</a:t>
            </a:r>
            <a:endParaRPr b="0" i="0" sz="750" u="none" cap="none" strike="noStrike">
              <a:solidFill>
                <a:schemeClr val="dk1"/>
              </a:solidFill>
              <a:latin typeface="Calibri"/>
              <a:ea typeface="Calibri"/>
              <a:cs typeface="Calibri"/>
              <a:sym typeface="Calibri"/>
            </a:endParaRPr>
          </a:p>
        </p:txBody>
      </p:sp>
      <p:sp>
        <p:nvSpPr>
          <p:cNvPr id="1193" name="Google Shape;1193;p31"/>
          <p:cNvSpPr txBox="1"/>
          <p:nvPr/>
        </p:nvSpPr>
        <p:spPr>
          <a:xfrm>
            <a:off x="3721608" y="3625596"/>
            <a:ext cx="4773168"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Release docs still describe a multi-step manual process around translations and wheels. A missed step delayed the last upload. CI does not gate the checklist.</a:t>
            </a:r>
            <a:endParaRPr b="0" i="0" sz="900" u="none" cap="none" strike="noStrike">
              <a:solidFill>
                <a:schemeClr val="dk1"/>
              </a:solidFill>
              <a:latin typeface="Calibri"/>
              <a:ea typeface="Calibri"/>
              <a:cs typeface="Calibri"/>
              <a:sym typeface="Calibri"/>
            </a:endParaRPr>
          </a:p>
        </p:txBody>
      </p:sp>
      <p:sp>
        <p:nvSpPr>
          <p:cNvPr id="1194" name="Google Shape;1194;p31"/>
          <p:cNvSpPr/>
          <p:nvPr/>
        </p:nvSpPr>
        <p:spPr>
          <a:xfrm>
            <a:off x="502920" y="4169664"/>
            <a:ext cx="8138160" cy="530352"/>
          </a:xfrm>
          <a:prstGeom prst="roundRect">
            <a:avLst>
              <a:gd fmla="val 15517" name="adj"/>
            </a:avLst>
          </a:prstGeom>
          <a:solidFill>
            <a:srgbClr val="1E1230"/>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31"/>
          <p:cNvSpPr txBox="1"/>
          <p:nvPr/>
        </p:nvSpPr>
        <p:spPr>
          <a:xfrm>
            <a:off x="685800" y="4169664"/>
            <a:ext cx="777240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800"/>
              <a:buFont typeface="Courier New"/>
              <a:buNone/>
            </a:pPr>
            <a:r>
              <a:rPr b="0" i="0" lang="en-US" sz="800" u="none" cap="none" strike="noStrike">
                <a:solidFill>
                  <a:srgbClr val="A78BFA"/>
                </a:solidFill>
                <a:latin typeface="Courier New"/>
                <a:ea typeface="Courier New"/>
                <a:cs typeface="Courier New"/>
                <a:sym typeface="Courier New"/>
              </a:rPr>
              <a:t>THE GOLD COLUMN IS THE TEACHING KEY   </a:t>
            </a:r>
            <a:r>
              <a:rPr b="0" i="0" lang="en-US" sz="1000" u="none" cap="none" strike="noStrike">
                <a:solidFill>
                  <a:srgbClr val="D8CDEE"/>
                </a:solidFill>
                <a:latin typeface="Calibri"/>
                <a:ea typeface="Calibri"/>
                <a:cs typeface="Calibri"/>
                <a:sym typeface="Calibri"/>
              </a:rPr>
              <a:t>The model is shown only the issue text. Accuracy on six items is a conversation starter, not a benchmark — the interesting question is which ones it gets wrong and whether a human would agree with the gold label at all.</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200" name="Shape 1200"/>
        <p:cNvGrpSpPr/>
        <p:nvPr/>
      </p:nvGrpSpPr>
      <p:grpSpPr>
        <a:xfrm>
          <a:off x="0" y="0"/>
          <a:ext cx="0" cy="0"/>
          <a:chOff x="0" y="0"/>
          <a:chExt cx="0" cy="0"/>
        </a:xfrm>
      </p:grpSpPr>
      <p:sp>
        <p:nvSpPr>
          <p:cNvPr id="1201" name="Google Shape;1201;p32"/>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§4.2 – §4.3 · CLASSIFY, THEN TRIAGE</a:t>
            </a:r>
            <a:endParaRPr b="0" i="0" sz="1050" u="none" cap="none" strike="noStrike">
              <a:solidFill>
                <a:schemeClr val="dk1"/>
              </a:solidFill>
              <a:latin typeface="Calibri"/>
              <a:ea typeface="Calibri"/>
              <a:cs typeface="Calibri"/>
              <a:sym typeface="Calibri"/>
            </a:endParaRPr>
          </a:p>
        </p:txBody>
      </p:sp>
      <p:sp>
        <p:nvSpPr>
          <p:cNvPr id="1202" name="Google Shape;1202;p32"/>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Two thin agents, two strict contracts</a:t>
            </a:r>
            <a:endParaRPr b="0" i="0" sz="2700" u="none" cap="none" strike="noStrike">
              <a:solidFill>
                <a:schemeClr val="dk1"/>
              </a:solidFill>
              <a:latin typeface="Calibri"/>
              <a:ea typeface="Calibri"/>
              <a:cs typeface="Calibri"/>
              <a:sym typeface="Calibri"/>
            </a:endParaRPr>
          </a:p>
        </p:txBody>
      </p:sp>
      <p:sp>
        <p:nvSpPr>
          <p:cNvPr id="1203" name="Google Shape;1203;p32">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204" name="Google Shape;1204;p32"/>
          <p:cNvSpPr/>
          <p:nvPr/>
        </p:nvSpPr>
        <p:spPr>
          <a:xfrm>
            <a:off x="502920" y="1133856"/>
            <a:ext cx="3977640" cy="2103120"/>
          </a:xfrm>
          <a:prstGeom prst="roundRect">
            <a:avLst>
              <a:gd fmla="val 3913"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 name="Google Shape;1205;p32"/>
          <p:cNvSpPr/>
          <p:nvPr/>
        </p:nvSpPr>
        <p:spPr>
          <a:xfrm>
            <a:off x="667512" y="1280160"/>
            <a:ext cx="329184" cy="329184"/>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32"/>
          <p:cNvSpPr txBox="1"/>
          <p:nvPr/>
        </p:nvSpPr>
        <p:spPr>
          <a:xfrm>
            <a:off x="667512" y="1280160"/>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300"/>
              <a:buFont typeface="Calibri"/>
              <a:buNone/>
            </a:pPr>
            <a:r>
              <a:rPr b="1" i="0" lang="en-US" sz="1300" u="none" cap="none" strike="noStrike">
                <a:solidFill>
                  <a:srgbClr val="2A1B3D"/>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207" name="Google Shape;1207;p32"/>
          <p:cNvSpPr txBox="1"/>
          <p:nvPr/>
        </p:nvSpPr>
        <p:spPr>
          <a:xfrm>
            <a:off x="1088136" y="1298448"/>
            <a:ext cx="2194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Classifier</a:t>
            </a:r>
            <a:endParaRPr b="0" i="0" sz="1500" u="none" cap="none" strike="noStrike">
              <a:solidFill>
                <a:schemeClr val="dk1"/>
              </a:solidFill>
              <a:latin typeface="Calibri"/>
              <a:ea typeface="Calibri"/>
              <a:cs typeface="Calibri"/>
              <a:sym typeface="Calibri"/>
            </a:endParaRPr>
          </a:p>
        </p:txBody>
      </p:sp>
      <p:sp>
        <p:nvSpPr>
          <p:cNvPr id="1208" name="Google Shape;1208;p32"/>
          <p:cNvSpPr txBox="1"/>
          <p:nvPr/>
        </p:nvSpPr>
        <p:spPr>
          <a:xfrm>
            <a:off x="667512" y="1664208"/>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50"/>
              <a:buFont typeface="Courier New"/>
              <a:buNone/>
            </a:pPr>
            <a:r>
              <a:rPr b="0" i="0" lang="en-US" sz="750" u="none" cap="none" strike="noStrike">
                <a:solidFill>
                  <a:srgbClr val="5EE9B5"/>
                </a:solidFill>
                <a:latin typeface="Courier New"/>
                <a:ea typeface="Courier New"/>
                <a:cs typeface="Courier New"/>
                <a:sym typeface="Courier New"/>
              </a:rPr>
              <a:t>ONE WORD, FROM A CLOSED SET OF 8</a:t>
            </a:r>
            <a:endParaRPr b="0" i="0" sz="750" u="none" cap="none" strike="noStrike">
              <a:solidFill>
                <a:schemeClr val="dk1"/>
              </a:solidFill>
              <a:latin typeface="Calibri"/>
              <a:ea typeface="Calibri"/>
              <a:cs typeface="Calibri"/>
              <a:sym typeface="Calibri"/>
            </a:endParaRPr>
          </a:p>
        </p:txBody>
      </p:sp>
      <p:sp>
        <p:nvSpPr>
          <p:cNvPr id="1209" name="Google Shape;1209;p32"/>
          <p:cNvSpPr/>
          <p:nvPr/>
        </p:nvSpPr>
        <p:spPr>
          <a:xfrm>
            <a:off x="667512" y="1865376"/>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32"/>
          <p:cNvSpPr txBox="1"/>
          <p:nvPr/>
        </p:nvSpPr>
        <p:spPr>
          <a:xfrm>
            <a:off x="667512" y="1865376"/>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design</a:t>
            </a:r>
            <a:endParaRPr b="0" i="0" sz="700" u="none" cap="none" strike="noStrike">
              <a:solidFill>
                <a:schemeClr val="dk1"/>
              </a:solidFill>
              <a:latin typeface="Calibri"/>
              <a:ea typeface="Calibri"/>
              <a:cs typeface="Calibri"/>
              <a:sym typeface="Calibri"/>
            </a:endParaRPr>
          </a:p>
        </p:txBody>
      </p:sp>
      <p:sp>
        <p:nvSpPr>
          <p:cNvPr id="1211" name="Google Shape;1211;p32"/>
          <p:cNvSpPr/>
          <p:nvPr/>
        </p:nvSpPr>
        <p:spPr>
          <a:xfrm>
            <a:off x="1600200" y="1865376"/>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32"/>
          <p:cNvSpPr txBox="1"/>
          <p:nvPr/>
        </p:nvSpPr>
        <p:spPr>
          <a:xfrm>
            <a:off x="1600200" y="1865376"/>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code</a:t>
            </a:r>
            <a:endParaRPr b="0" i="0" sz="700" u="none" cap="none" strike="noStrike">
              <a:solidFill>
                <a:schemeClr val="dk1"/>
              </a:solidFill>
              <a:latin typeface="Calibri"/>
              <a:ea typeface="Calibri"/>
              <a:cs typeface="Calibri"/>
              <a:sym typeface="Calibri"/>
            </a:endParaRPr>
          </a:p>
        </p:txBody>
      </p:sp>
      <p:sp>
        <p:nvSpPr>
          <p:cNvPr id="1213" name="Google Shape;1213;p32"/>
          <p:cNvSpPr/>
          <p:nvPr/>
        </p:nvSpPr>
        <p:spPr>
          <a:xfrm>
            <a:off x="2532888" y="1865376"/>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32"/>
          <p:cNvSpPr txBox="1"/>
          <p:nvPr/>
        </p:nvSpPr>
        <p:spPr>
          <a:xfrm>
            <a:off x="2532888" y="1865376"/>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test</a:t>
            </a:r>
            <a:endParaRPr b="0" i="0" sz="700" u="none" cap="none" strike="noStrike">
              <a:solidFill>
                <a:schemeClr val="dk1"/>
              </a:solidFill>
              <a:latin typeface="Calibri"/>
              <a:ea typeface="Calibri"/>
              <a:cs typeface="Calibri"/>
              <a:sym typeface="Calibri"/>
            </a:endParaRPr>
          </a:p>
        </p:txBody>
      </p:sp>
      <p:sp>
        <p:nvSpPr>
          <p:cNvPr id="1215" name="Google Shape;1215;p32"/>
          <p:cNvSpPr/>
          <p:nvPr/>
        </p:nvSpPr>
        <p:spPr>
          <a:xfrm>
            <a:off x="3465576" y="1865376"/>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32"/>
          <p:cNvSpPr txBox="1"/>
          <p:nvPr/>
        </p:nvSpPr>
        <p:spPr>
          <a:xfrm>
            <a:off x="3465576" y="1865376"/>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documentation</a:t>
            </a:r>
            <a:endParaRPr b="0" i="0" sz="700" u="none" cap="none" strike="noStrike">
              <a:solidFill>
                <a:schemeClr val="dk1"/>
              </a:solidFill>
              <a:latin typeface="Calibri"/>
              <a:ea typeface="Calibri"/>
              <a:cs typeface="Calibri"/>
              <a:sym typeface="Calibri"/>
            </a:endParaRPr>
          </a:p>
        </p:txBody>
      </p:sp>
      <p:sp>
        <p:nvSpPr>
          <p:cNvPr id="1217" name="Google Shape;1217;p32"/>
          <p:cNvSpPr/>
          <p:nvPr/>
        </p:nvSpPr>
        <p:spPr>
          <a:xfrm>
            <a:off x="667512" y="2157984"/>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32"/>
          <p:cNvSpPr txBox="1"/>
          <p:nvPr/>
        </p:nvSpPr>
        <p:spPr>
          <a:xfrm>
            <a:off x="667512" y="2157984"/>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dependency</a:t>
            </a:r>
            <a:endParaRPr b="0" i="0" sz="700" u="none" cap="none" strike="noStrike">
              <a:solidFill>
                <a:schemeClr val="dk1"/>
              </a:solidFill>
              <a:latin typeface="Calibri"/>
              <a:ea typeface="Calibri"/>
              <a:cs typeface="Calibri"/>
              <a:sym typeface="Calibri"/>
            </a:endParaRPr>
          </a:p>
        </p:txBody>
      </p:sp>
      <p:sp>
        <p:nvSpPr>
          <p:cNvPr id="1219" name="Google Shape;1219;p32"/>
          <p:cNvSpPr/>
          <p:nvPr/>
        </p:nvSpPr>
        <p:spPr>
          <a:xfrm>
            <a:off x="1600200" y="2157984"/>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32"/>
          <p:cNvSpPr txBox="1"/>
          <p:nvPr/>
        </p:nvSpPr>
        <p:spPr>
          <a:xfrm>
            <a:off x="1600200" y="2157984"/>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build</a:t>
            </a:r>
            <a:endParaRPr b="0" i="0" sz="700" u="none" cap="none" strike="noStrike">
              <a:solidFill>
                <a:schemeClr val="dk1"/>
              </a:solidFill>
              <a:latin typeface="Calibri"/>
              <a:ea typeface="Calibri"/>
              <a:cs typeface="Calibri"/>
              <a:sym typeface="Calibri"/>
            </a:endParaRPr>
          </a:p>
        </p:txBody>
      </p:sp>
      <p:sp>
        <p:nvSpPr>
          <p:cNvPr id="1221" name="Google Shape;1221;p32"/>
          <p:cNvSpPr/>
          <p:nvPr/>
        </p:nvSpPr>
        <p:spPr>
          <a:xfrm>
            <a:off x="2532888" y="2157984"/>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32"/>
          <p:cNvSpPr txBox="1"/>
          <p:nvPr/>
        </p:nvSpPr>
        <p:spPr>
          <a:xfrm>
            <a:off x="2532888" y="2157984"/>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defect</a:t>
            </a:r>
            <a:endParaRPr b="0" i="0" sz="700" u="none" cap="none" strike="noStrike">
              <a:solidFill>
                <a:schemeClr val="dk1"/>
              </a:solidFill>
              <a:latin typeface="Calibri"/>
              <a:ea typeface="Calibri"/>
              <a:cs typeface="Calibri"/>
              <a:sym typeface="Calibri"/>
            </a:endParaRPr>
          </a:p>
        </p:txBody>
      </p:sp>
      <p:sp>
        <p:nvSpPr>
          <p:cNvPr id="1223" name="Google Shape;1223;p32"/>
          <p:cNvSpPr/>
          <p:nvPr/>
        </p:nvSpPr>
        <p:spPr>
          <a:xfrm>
            <a:off x="3465576" y="2157984"/>
            <a:ext cx="877824" cy="237744"/>
          </a:xfrm>
          <a:prstGeom prst="roundRect">
            <a:avLst>
              <a:gd fmla="val 23077" name="adj"/>
            </a:avLst>
          </a:prstGeom>
          <a:solidFill>
            <a:srgbClr val="1E1230"/>
          </a:solidFill>
          <a:ln cap="flat" cmpd="sng" w="9525">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32"/>
          <p:cNvSpPr txBox="1"/>
          <p:nvPr/>
        </p:nvSpPr>
        <p:spPr>
          <a:xfrm>
            <a:off x="3465576" y="2157984"/>
            <a:ext cx="87782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requirement</a:t>
            </a:r>
            <a:endParaRPr b="0" i="0" sz="700" u="none" cap="none" strike="noStrike">
              <a:solidFill>
                <a:schemeClr val="dk1"/>
              </a:solidFill>
              <a:latin typeface="Calibri"/>
              <a:ea typeface="Calibri"/>
              <a:cs typeface="Calibri"/>
              <a:sym typeface="Calibri"/>
            </a:endParaRPr>
          </a:p>
        </p:txBody>
      </p:sp>
      <p:sp>
        <p:nvSpPr>
          <p:cNvPr id="1225" name="Google Shape;1225;p32"/>
          <p:cNvSpPr txBox="1"/>
          <p:nvPr/>
        </p:nvSpPr>
        <p:spPr>
          <a:xfrm>
            <a:off x="667512" y="2468880"/>
            <a:ext cx="36576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50"/>
              <a:buFont typeface="Courier New"/>
              <a:buNone/>
            </a:pPr>
            <a:r>
              <a:rPr b="1" i="0" lang="en-US" sz="950" u="none" cap="none" strike="noStrike">
                <a:solidFill>
                  <a:srgbClr val="E9DFFF"/>
                </a:solidFill>
                <a:latin typeface="Courier New"/>
                <a:ea typeface="Courier New"/>
                <a:cs typeface="Courier New"/>
                <a:sym typeface="Courier New"/>
              </a:rPr>
              <a:t>snap_label()</a:t>
            </a:r>
            <a:r>
              <a:rPr b="0" i="0" lang="en-US" sz="950" u="none" cap="none" strike="noStrike">
                <a:solidFill>
                  <a:srgbClr val="D8CDEE"/>
                </a:solidFill>
                <a:latin typeface="Calibri"/>
                <a:ea typeface="Calibri"/>
                <a:cs typeface="Calibri"/>
                <a:sym typeface="Calibri"/>
              </a:rPr>
              <a:t> keeps the reply's first token if it is in the set. Anything else — including an empty reply — becomes </a:t>
            </a:r>
            <a:r>
              <a:rPr b="0" i="0" lang="en-US" sz="950" u="none" cap="none" strike="noStrike">
                <a:solidFill>
                  <a:srgbClr val="FBBF24"/>
                </a:solidFill>
                <a:latin typeface="Courier New"/>
                <a:ea typeface="Courier New"/>
                <a:cs typeface="Courier New"/>
                <a:sym typeface="Courier New"/>
              </a:rPr>
              <a:t>code</a:t>
            </a:r>
            <a:r>
              <a:rPr b="0" i="0" lang="en-US" sz="950" u="none" cap="none" strike="noStrike">
                <a:solidFill>
                  <a:srgbClr val="D8CDEE"/>
                </a:solidFill>
                <a:latin typeface="Calibri"/>
                <a:ea typeface="Calibri"/>
                <a:cs typeface="Calibri"/>
                <a:sym typeface="Calibri"/>
              </a:rPr>
              <a:t>.</a:t>
            </a:r>
            <a:br>
              <a:rPr b="0" i="0" lang="en-US" sz="950" u="none" cap="none" strike="noStrike">
                <a:solidFill>
                  <a:srgbClr val="D8CDEE"/>
                </a:solidFill>
                <a:latin typeface="Calibri"/>
                <a:ea typeface="Calibri"/>
                <a:cs typeface="Calibri"/>
                <a:sym typeface="Calibri"/>
              </a:rPr>
            </a:br>
            <a:br>
              <a:rPr b="0" i="0" lang="en-US" sz="950" u="none" cap="none" strike="noStrike">
                <a:solidFill>
                  <a:srgbClr val="D8CDEE"/>
                </a:solidFill>
                <a:latin typeface="Calibri"/>
                <a:ea typeface="Calibri"/>
                <a:cs typeface="Calibri"/>
                <a:sym typeface="Calibri"/>
              </a:rPr>
            </a:br>
            <a:r>
              <a:rPr b="0" i="1" lang="en-US" sz="950" u="none" cap="none" strike="noStrike">
                <a:solidFill>
                  <a:srgbClr val="5EE9B5"/>
                </a:solidFill>
                <a:latin typeface="Calibri"/>
                <a:ea typeface="Calibri"/>
                <a:cs typeface="Calibri"/>
                <a:sym typeface="Calibri"/>
              </a:rPr>
              <a:t>“documentation debt.”</a:t>
            </a:r>
            <a:r>
              <a:rPr b="0" i="0" lang="en-US" sz="950" u="none" cap="none" strike="noStrike">
                <a:solidFill>
                  <a:srgbClr val="D8CDEE"/>
                </a:solidFill>
                <a:latin typeface="Calibri"/>
                <a:ea typeface="Calibri"/>
                <a:cs typeface="Calibri"/>
                <a:sym typeface="Calibri"/>
              </a:rPr>
              <a:t> → first token documentation → hit.</a:t>
            </a:r>
            <a:br>
              <a:rPr b="0" i="0" lang="en-US" sz="950" u="none" cap="none" strike="noStrike">
                <a:solidFill>
                  <a:srgbClr val="D8CDEE"/>
                </a:solidFill>
                <a:latin typeface="Calibri"/>
                <a:ea typeface="Calibri"/>
                <a:cs typeface="Calibri"/>
                <a:sym typeface="Calibri"/>
              </a:rPr>
            </a:br>
            <a:r>
              <a:rPr b="0" i="1" lang="en-US" sz="950" u="none" cap="none" strike="noStrike">
                <a:solidFill>
                  <a:srgbClr val="FB7185"/>
                </a:solidFill>
                <a:latin typeface="Calibri"/>
                <a:ea typeface="Calibri"/>
                <a:cs typeface="Calibri"/>
                <a:sym typeface="Calibri"/>
              </a:rPr>
              <a:t>“this is really a docs issue”</a:t>
            </a:r>
            <a:r>
              <a:rPr b="0" i="0" lang="en-US" sz="950" u="none" cap="none" strike="noStrike">
                <a:solidFill>
                  <a:srgbClr val="D8CDEE"/>
                </a:solidFill>
                <a:latin typeface="Calibri"/>
                <a:ea typeface="Calibri"/>
                <a:cs typeface="Calibri"/>
                <a:sym typeface="Calibri"/>
              </a:rPr>
              <a:t> → first token this → snapped to code.</a:t>
            </a:r>
            <a:endParaRPr b="0" i="0" sz="950" u="none" cap="none" strike="noStrike">
              <a:solidFill>
                <a:schemeClr val="dk1"/>
              </a:solidFill>
              <a:latin typeface="Calibri"/>
              <a:ea typeface="Calibri"/>
              <a:cs typeface="Calibri"/>
              <a:sym typeface="Calibri"/>
            </a:endParaRPr>
          </a:p>
        </p:txBody>
      </p:sp>
      <p:sp>
        <p:nvSpPr>
          <p:cNvPr id="1226" name="Google Shape;1226;p32"/>
          <p:cNvSpPr/>
          <p:nvPr/>
        </p:nvSpPr>
        <p:spPr>
          <a:xfrm>
            <a:off x="4663440" y="1133856"/>
            <a:ext cx="3977640" cy="2103120"/>
          </a:xfrm>
          <a:prstGeom prst="roundRect">
            <a:avLst>
              <a:gd fmla="val 3913"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32"/>
          <p:cNvSpPr/>
          <p:nvPr/>
        </p:nvSpPr>
        <p:spPr>
          <a:xfrm>
            <a:off x="4828032" y="1280160"/>
            <a:ext cx="329184" cy="329184"/>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32"/>
          <p:cNvSpPr txBox="1"/>
          <p:nvPr/>
        </p:nvSpPr>
        <p:spPr>
          <a:xfrm>
            <a:off x="4828032" y="1280160"/>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300"/>
              <a:buFont typeface="Calibri"/>
              <a:buNone/>
            </a:pPr>
            <a:r>
              <a:rPr b="1" i="0" lang="en-US" sz="1300" u="none" cap="none" strike="noStrike">
                <a:solidFill>
                  <a:srgbClr val="2A1B3D"/>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229" name="Google Shape;1229;p32"/>
          <p:cNvSpPr txBox="1"/>
          <p:nvPr/>
        </p:nvSpPr>
        <p:spPr>
          <a:xfrm>
            <a:off x="5248656" y="1298448"/>
            <a:ext cx="2194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mbria"/>
              <a:buNone/>
            </a:pPr>
            <a:r>
              <a:rPr b="1" i="0" lang="en-US" sz="1500" u="none" cap="none" strike="noStrike">
                <a:solidFill>
                  <a:srgbClr val="FFFFFF"/>
                </a:solidFill>
                <a:latin typeface="Cambria"/>
                <a:ea typeface="Cambria"/>
                <a:cs typeface="Cambria"/>
                <a:sym typeface="Cambria"/>
              </a:rPr>
              <a:t>Triage</a:t>
            </a:r>
            <a:endParaRPr b="0" i="0" sz="1500" u="none" cap="none" strike="noStrike">
              <a:solidFill>
                <a:schemeClr val="dk1"/>
              </a:solidFill>
              <a:latin typeface="Calibri"/>
              <a:ea typeface="Calibri"/>
              <a:cs typeface="Calibri"/>
              <a:sym typeface="Calibri"/>
            </a:endParaRPr>
          </a:p>
        </p:txBody>
      </p:sp>
      <p:sp>
        <p:nvSpPr>
          <p:cNvPr id="1230" name="Google Shape;1230;p32"/>
          <p:cNvSpPr txBox="1"/>
          <p:nvPr/>
        </p:nvSpPr>
        <p:spPr>
          <a:xfrm>
            <a:off x="4828032" y="1664208"/>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750"/>
              <a:buFont typeface="Courier New"/>
              <a:buNone/>
            </a:pPr>
            <a:r>
              <a:rPr b="0" i="0" lang="en-US" sz="750" u="none" cap="none" strike="noStrike">
                <a:solidFill>
                  <a:srgbClr val="FBBF24"/>
                </a:solidFill>
                <a:latin typeface="Courier New"/>
                <a:ea typeface="Courier New"/>
                <a:cs typeface="Courier New"/>
                <a:sym typeface="Courier New"/>
              </a:rPr>
              <a:t>JSON, THEN COERCED — NEVER TRUSTED RAW</a:t>
            </a:r>
            <a:endParaRPr b="0" i="0" sz="750" u="none" cap="none" strike="noStrike">
              <a:solidFill>
                <a:schemeClr val="dk1"/>
              </a:solidFill>
              <a:latin typeface="Calibri"/>
              <a:ea typeface="Calibri"/>
              <a:cs typeface="Calibri"/>
              <a:sym typeface="Calibri"/>
            </a:endParaRPr>
          </a:p>
        </p:txBody>
      </p:sp>
      <p:sp>
        <p:nvSpPr>
          <p:cNvPr id="1231" name="Google Shape;1231;p32"/>
          <p:cNvSpPr/>
          <p:nvPr/>
        </p:nvSpPr>
        <p:spPr>
          <a:xfrm>
            <a:off x="4828032" y="1865376"/>
            <a:ext cx="3657600" cy="1280160"/>
          </a:xfrm>
          <a:prstGeom prst="roundRect">
            <a:avLst>
              <a:gd fmla="val 5000"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32"/>
          <p:cNvSpPr txBox="1"/>
          <p:nvPr/>
        </p:nvSpPr>
        <p:spPr>
          <a:xfrm>
            <a:off x="4956048" y="1965960"/>
            <a:ext cx="3401568" cy="1691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{"interest": 1-10, "principal": 1-10,</a:t>
            </a:r>
            <a:endParaRPr b="0" i="0" sz="800" u="none" cap="none" strike="noStrike">
              <a:solidFill>
                <a:schemeClr val="dk1"/>
              </a:solidFill>
              <a:latin typeface="Calibri"/>
              <a:ea typeface="Calibri"/>
              <a:cs typeface="Calibri"/>
              <a:sym typeface="Calibri"/>
            </a:endParaRPr>
          </a:p>
        </p:txBody>
      </p:sp>
      <p:sp>
        <p:nvSpPr>
          <p:cNvPr id="1233" name="Google Shape;1233;p32"/>
          <p:cNvSpPr txBox="1"/>
          <p:nvPr/>
        </p:nvSpPr>
        <p:spPr>
          <a:xfrm>
            <a:off x="4956048" y="2135124"/>
            <a:ext cx="3401568" cy="1691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 "rationale": "..."}</a:t>
            </a:r>
            <a:endParaRPr b="0" i="0" sz="800" u="none" cap="none" strike="noStrike">
              <a:solidFill>
                <a:schemeClr val="dk1"/>
              </a:solidFill>
              <a:latin typeface="Calibri"/>
              <a:ea typeface="Calibri"/>
              <a:cs typeface="Calibri"/>
              <a:sym typeface="Calibri"/>
            </a:endParaRPr>
          </a:p>
        </p:txBody>
      </p:sp>
      <p:sp>
        <p:nvSpPr>
          <p:cNvPr id="1234" name="Google Shape;1234;p32"/>
          <p:cNvSpPr txBox="1"/>
          <p:nvPr/>
        </p:nvSpPr>
        <p:spPr>
          <a:xfrm>
            <a:off x="4956048" y="2304288"/>
            <a:ext cx="3401568" cy="1691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p:txBody>
      </p:sp>
      <p:sp>
        <p:nvSpPr>
          <p:cNvPr id="1235" name="Google Shape;1235;p32"/>
          <p:cNvSpPr txBox="1"/>
          <p:nvPr/>
        </p:nvSpPr>
        <p:spPr>
          <a:xfrm>
            <a:off x="4956048" y="2473452"/>
            <a:ext cx="3401568" cy="1691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interest  = float(row.get("interest", 5))</a:t>
            </a:r>
            <a:endParaRPr b="0" i="0" sz="800" u="none" cap="none" strike="noStrike">
              <a:solidFill>
                <a:schemeClr val="dk1"/>
              </a:solidFill>
              <a:latin typeface="Calibri"/>
              <a:ea typeface="Calibri"/>
              <a:cs typeface="Calibri"/>
              <a:sym typeface="Calibri"/>
            </a:endParaRPr>
          </a:p>
        </p:txBody>
      </p:sp>
      <p:sp>
        <p:nvSpPr>
          <p:cNvPr id="1236" name="Google Shape;1236;p32"/>
          <p:cNvSpPr txBox="1"/>
          <p:nvPr/>
        </p:nvSpPr>
        <p:spPr>
          <a:xfrm>
            <a:off x="4956048" y="2642616"/>
            <a:ext cx="3401568" cy="1691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principal = max(float(...), 1)   # no /0</a:t>
            </a:r>
            <a:endParaRPr b="0" i="0" sz="800" u="none" cap="none" strike="noStrike">
              <a:solidFill>
                <a:schemeClr val="dk1"/>
              </a:solidFill>
              <a:latin typeface="Calibri"/>
              <a:ea typeface="Calibri"/>
              <a:cs typeface="Calibri"/>
              <a:sym typeface="Calibri"/>
            </a:endParaRPr>
          </a:p>
        </p:txBody>
      </p:sp>
      <p:sp>
        <p:nvSpPr>
          <p:cNvPr id="1237" name="Google Shape;1237;p32"/>
          <p:cNvSpPr txBox="1"/>
          <p:nvPr/>
        </p:nvSpPr>
        <p:spPr>
          <a:xfrm>
            <a:off x="4956048" y="2811780"/>
            <a:ext cx="3401568" cy="1691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00"/>
              <a:buFont typeface="Courier New"/>
              <a:buNone/>
            </a:pPr>
            <a:r>
              <a:rPr b="0" i="0" lang="en-US" sz="800" u="none" cap="none" strike="noStrike">
                <a:solidFill>
                  <a:srgbClr val="FBBF24"/>
                </a:solidFill>
                <a:latin typeface="Courier New"/>
                <a:ea typeface="Courier New"/>
                <a:cs typeface="Courier New"/>
                <a:sym typeface="Courier New"/>
              </a:rPr>
              <a:t>priority  = round(interest / principal, 2)</a:t>
            </a:r>
            <a:endParaRPr b="0" i="0" sz="800" u="none" cap="none" strike="noStrike">
              <a:solidFill>
                <a:schemeClr val="dk1"/>
              </a:solidFill>
              <a:latin typeface="Calibri"/>
              <a:ea typeface="Calibri"/>
              <a:cs typeface="Calibri"/>
              <a:sym typeface="Calibri"/>
            </a:endParaRPr>
          </a:p>
        </p:txBody>
      </p:sp>
      <p:sp>
        <p:nvSpPr>
          <p:cNvPr id="1238" name="Google Shape;1238;p32"/>
          <p:cNvSpPr txBox="1"/>
          <p:nvPr/>
        </p:nvSpPr>
        <p:spPr>
          <a:xfrm>
            <a:off x="4956048" y="2980944"/>
            <a:ext cx="3401568" cy="1691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except (TypeError, ValueError): 5.0, 5.0</a:t>
            </a:r>
            <a:endParaRPr b="0" i="0" sz="800" u="none" cap="none" strike="noStrike">
              <a:solidFill>
                <a:schemeClr val="dk1"/>
              </a:solidFill>
              <a:latin typeface="Calibri"/>
              <a:ea typeface="Calibri"/>
              <a:cs typeface="Calibri"/>
              <a:sym typeface="Calibri"/>
            </a:endParaRPr>
          </a:p>
        </p:txBody>
      </p:sp>
      <p:sp>
        <p:nvSpPr>
          <p:cNvPr id="1239" name="Google Shape;1239;p32"/>
          <p:cNvSpPr/>
          <p:nvPr/>
        </p:nvSpPr>
        <p:spPr>
          <a:xfrm>
            <a:off x="502920" y="3383280"/>
            <a:ext cx="8138160" cy="1060704"/>
          </a:xfrm>
          <a:prstGeom prst="roundRect">
            <a:avLst>
              <a:gd fmla="val 7759"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32"/>
          <p:cNvSpPr txBox="1"/>
          <p:nvPr/>
        </p:nvSpPr>
        <p:spPr>
          <a:xfrm>
            <a:off x="667512" y="3474720"/>
            <a:ext cx="21031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issue</a:t>
            </a:r>
            <a:endParaRPr b="0" i="0" sz="750" u="none" cap="none" strike="noStrike">
              <a:solidFill>
                <a:schemeClr val="dk1"/>
              </a:solidFill>
              <a:latin typeface="Calibri"/>
              <a:ea typeface="Calibri"/>
              <a:cs typeface="Calibri"/>
              <a:sym typeface="Calibri"/>
            </a:endParaRPr>
          </a:p>
        </p:txBody>
      </p:sp>
      <p:sp>
        <p:nvSpPr>
          <p:cNvPr id="1241" name="Google Shape;1241;p32"/>
          <p:cNvSpPr txBox="1"/>
          <p:nvPr/>
        </p:nvSpPr>
        <p:spPr>
          <a:xfrm>
            <a:off x="2770632" y="3474720"/>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type</a:t>
            </a:r>
            <a:endParaRPr b="0" i="0" sz="750" u="none" cap="none" strike="noStrike">
              <a:solidFill>
                <a:schemeClr val="dk1"/>
              </a:solidFill>
              <a:latin typeface="Calibri"/>
              <a:ea typeface="Calibri"/>
              <a:cs typeface="Calibri"/>
              <a:sym typeface="Calibri"/>
            </a:endParaRPr>
          </a:p>
        </p:txBody>
      </p:sp>
      <p:sp>
        <p:nvSpPr>
          <p:cNvPr id="1242" name="Google Shape;1242;p32"/>
          <p:cNvSpPr txBox="1"/>
          <p:nvPr/>
        </p:nvSpPr>
        <p:spPr>
          <a:xfrm>
            <a:off x="4187952" y="3474720"/>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interest</a:t>
            </a:r>
            <a:endParaRPr b="0" i="0" sz="750" u="none" cap="none" strike="noStrike">
              <a:solidFill>
                <a:schemeClr val="dk1"/>
              </a:solidFill>
              <a:latin typeface="Calibri"/>
              <a:ea typeface="Calibri"/>
              <a:cs typeface="Calibri"/>
              <a:sym typeface="Calibri"/>
            </a:endParaRPr>
          </a:p>
        </p:txBody>
      </p:sp>
      <p:sp>
        <p:nvSpPr>
          <p:cNvPr id="1243" name="Google Shape;1243;p32"/>
          <p:cNvSpPr txBox="1"/>
          <p:nvPr/>
        </p:nvSpPr>
        <p:spPr>
          <a:xfrm>
            <a:off x="5056632" y="3474720"/>
            <a:ext cx="9144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principal</a:t>
            </a:r>
            <a:endParaRPr b="0" i="0" sz="750" u="none" cap="none" strike="noStrike">
              <a:solidFill>
                <a:schemeClr val="dk1"/>
              </a:solidFill>
              <a:latin typeface="Calibri"/>
              <a:ea typeface="Calibri"/>
              <a:cs typeface="Calibri"/>
              <a:sym typeface="Calibri"/>
            </a:endParaRPr>
          </a:p>
        </p:txBody>
      </p:sp>
      <p:sp>
        <p:nvSpPr>
          <p:cNvPr id="1244" name="Google Shape;1244;p32"/>
          <p:cNvSpPr txBox="1"/>
          <p:nvPr/>
        </p:nvSpPr>
        <p:spPr>
          <a:xfrm>
            <a:off x="5971032" y="3474720"/>
            <a:ext cx="8686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priority</a:t>
            </a:r>
            <a:endParaRPr b="0" i="0" sz="750" u="none" cap="none" strike="noStrike">
              <a:solidFill>
                <a:schemeClr val="dk1"/>
              </a:solidFill>
              <a:latin typeface="Calibri"/>
              <a:ea typeface="Calibri"/>
              <a:cs typeface="Calibri"/>
              <a:sym typeface="Calibri"/>
            </a:endParaRPr>
          </a:p>
        </p:txBody>
      </p:sp>
      <p:sp>
        <p:nvSpPr>
          <p:cNvPr id="1245" name="Google Shape;1245;p32"/>
          <p:cNvSpPr txBox="1"/>
          <p:nvPr/>
        </p:nvSpPr>
        <p:spPr>
          <a:xfrm>
            <a:off x="667512" y="3657600"/>
            <a:ext cx="21031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00"/>
              <a:buFont typeface="Courier New"/>
              <a:buNone/>
            </a:pPr>
            <a:r>
              <a:rPr b="0" i="0" lang="en-US" sz="800" u="none" cap="none" strike="noStrike">
                <a:solidFill>
                  <a:srgbClr val="E9DFFF"/>
                </a:solidFill>
                <a:latin typeface="Courier New"/>
                <a:ea typeface="Courier New"/>
                <a:cs typeface="Courier New"/>
                <a:sym typeface="Courier New"/>
              </a:rPr>
              <a:t>pallets/flask#5214</a:t>
            </a:r>
            <a:endParaRPr b="0" i="0" sz="800" u="none" cap="none" strike="noStrike">
              <a:solidFill>
                <a:schemeClr val="dk1"/>
              </a:solidFill>
              <a:latin typeface="Calibri"/>
              <a:ea typeface="Calibri"/>
              <a:cs typeface="Calibri"/>
              <a:sym typeface="Calibri"/>
            </a:endParaRPr>
          </a:p>
        </p:txBody>
      </p:sp>
      <p:sp>
        <p:nvSpPr>
          <p:cNvPr id="1246" name="Google Shape;1246;p32"/>
          <p:cNvSpPr txBox="1"/>
          <p:nvPr/>
        </p:nvSpPr>
        <p:spPr>
          <a:xfrm>
            <a:off x="2770632" y="3657600"/>
            <a:ext cx="14173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documentation</a:t>
            </a:r>
            <a:endParaRPr b="0" i="0" sz="800" u="none" cap="none" strike="noStrike">
              <a:solidFill>
                <a:schemeClr val="dk1"/>
              </a:solidFill>
              <a:latin typeface="Calibri"/>
              <a:ea typeface="Calibri"/>
              <a:cs typeface="Calibri"/>
              <a:sym typeface="Calibri"/>
            </a:endParaRPr>
          </a:p>
        </p:txBody>
      </p:sp>
      <p:sp>
        <p:nvSpPr>
          <p:cNvPr id="1247" name="Google Shape;1247;p32"/>
          <p:cNvSpPr txBox="1"/>
          <p:nvPr/>
        </p:nvSpPr>
        <p:spPr>
          <a:xfrm>
            <a:off x="4187952" y="365760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8</a:t>
            </a:r>
            <a:endParaRPr b="0" i="0" sz="800" u="none" cap="none" strike="noStrike">
              <a:solidFill>
                <a:schemeClr val="dk1"/>
              </a:solidFill>
              <a:latin typeface="Calibri"/>
              <a:ea typeface="Calibri"/>
              <a:cs typeface="Calibri"/>
              <a:sym typeface="Calibri"/>
            </a:endParaRPr>
          </a:p>
        </p:txBody>
      </p:sp>
      <p:sp>
        <p:nvSpPr>
          <p:cNvPr id="1248" name="Google Shape;1248;p32"/>
          <p:cNvSpPr txBox="1"/>
          <p:nvPr/>
        </p:nvSpPr>
        <p:spPr>
          <a:xfrm>
            <a:off x="5056632" y="3657600"/>
            <a:ext cx="9144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2</a:t>
            </a:r>
            <a:endParaRPr b="0" i="0" sz="800" u="none" cap="none" strike="noStrike">
              <a:solidFill>
                <a:schemeClr val="dk1"/>
              </a:solidFill>
              <a:latin typeface="Calibri"/>
              <a:ea typeface="Calibri"/>
              <a:cs typeface="Calibri"/>
              <a:sym typeface="Calibri"/>
            </a:endParaRPr>
          </a:p>
        </p:txBody>
      </p:sp>
      <p:sp>
        <p:nvSpPr>
          <p:cNvPr id="1249" name="Google Shape;1249;p32"/>
          <p:cNvSpPr txBox="1"/>
          <p:nvPr/>
        </p:nvSpPr>
        <p:spPr>
          <a:xfrm>
            <a:off x="5971032" y="365760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1" i="0" lang="en-US" sz="800" u="none" cap="none" strike="noStrike">
                <a:solidFill>
                  <a:srgbClr val="5EE9B5"/>
                </a:solidFill>
                <a:latin typeface="Courier New"/>
                <a:ea typeface="Courier New"/>
                <a:cs typeface="Courier New"/>
                <a:sym typeface="Courier New"/>
              </a:rPr>
              <a:t>4.00</a:t>
            </a:r>
            <a:endParaRPr b="0" i="0" sz="800" u="none" cap="none" strike="noStrike">
              <a:solidFill>
                <a:schemeClr val="dk1"/>
              </a:solidFill>
              <a:latin typeface="Calibri"/>
              <a:ea typeface="Calibri"/>
              <a:cs typeface="Calibri"/>
              <a:sym typeface="Calibri"/>
            </a:endParaRPr>
          </a:p>
        </p:txBody>
      </p:sp>
      <p:sp>
        <p:nvSpPr>
          <p:cNvPr id="1250" name="Google Shape;1250;p32"/>
          <p:cNvSpPr txBox="1"/>
          <p:nvPr/>
        </p:nvSpPr>
        <p:spPr>
          <a:xfrm>
            <a:off x="667512" y="3840480"/>
            <a:ext cx="21031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00"/>
              <a:buFont typeface="Courier New"/>
              <a:buNone/>
            </a:pPr>
            <a:r>
              <a:rPr b="0" i="0" lang="en-US" sz="800" u="none" cap="none" strike="noStrike">
                <a:solidFill>
                  <a:srgbClr val="E9DFFF"/>
                </a:solidFill>
                <a:latin typeface="Courier New"/>
                <a:ea typeface="Courier New"/>
                <a:cs typeface="Courier New"/>
                <a:sym typeface="Courier New"/>
              </a:rPr>
              <a:t>psf/requests#7016</a:t>
            </a:r>
            <a:endParaRPr b="0" i="0" sz="800" u="none" cap="none" strike="noStrike">
              <a:solidFill>
                <a:schemeClr val="dk1"/>
              </a:solidFill>
              <a:latin typeface="Calibri"/>
              <a:ea typeface="Calibri"/>
              <a:cs typeface="Calibri"/>
              <a:sym typeface="Calibri"/>
            </a:endParaRPr>
          </a:p>
        </p:txBody>
      </p:sp>
      <p:sp>
        <p:nvSpPr>
          <p:cNvPr id="1251" name="Google Shape;1251;p32"/>
          <p:cNvSpPr txBox="1"/>
          <p:nvPr/>
        </p:nvSpPr>
        <p:spPr>
          <a:xfrm>
            <a:off x="2770632" y="3840480"/>
            <a:ext cx="14173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test</a:t>
            </a:r>
            <a:endParaRPr b="0" i="0" sz="800" u="none" cap="none" strike="noStrike">
              <a:solidFill>
                <a:schemeClr val="dk1"/>
              </a:solidFill>
              <a:latin typeface="Calibri"/>
              <a:ea typeface="Calibri"/>
              <a:cs typeface="Calibri"/>
              <a:sym typeface="Calibri"/>
            </a:endParaRPr>
          </a:p>
        </p:txBody>
      </p:sp>
      <p:sp>
        <p:nvSpPr>
          <p:cNvPr id="1252" name="Google Shape;1252;p32"/>
          <p:cNvSpPr txBox="1"/>
          <p:nvPr/>
        </p:nvSpPr>
        <p:spPr>
          <a:xfrm>
            <a:off x="4187952" y="384048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7</a:t>
            </a:r>
            <a:endParaRPr b="0" i="0" sz="800" u="none" cap="none" strike="noStrike">
              <a:solidFill>
                <a:schemeClr val="dk1"/>
              </a:solidFill>
              <a:latin typeface="Calibri"/>
              <a:ea typeface="Calibri"/>
              <a:cs typeface="Calibri"/>
              <a:sym typeface="Calibri"/>
            </a:endParaRPr>
          </a:p>
        </p:txBody>
      </p:sp>
      <p:sp>
        <p:nvSpPr>
          <p:cNvPr id="1253" name="Google Shape;1253;p32"/>
          <p:cNvSpPr txBox="1"/>
          <p:nvPr/>
        </p:nvSpPr>
        <p:spPr>
          <a:xfrm>
            <a:off x="5056632" y="3840480"/>
            <a:ext cx="9144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3</a:t>
            </a:r>
            <a:endParaRPr b="0" i="0" sz="800" u="none" cap="none" strike="noStrike">
              <a:solidFill>
                <a:schemeClr val="dk1"/>
              </a:solidFill>
              <a:latin typeface="Calibri"/>
              <a:ea typeface="Calibri"/>
              <a:cs typeface="Calibri"/>
              <a:sym typeface="Calibri"/>
            </a:endParaRPr>
          </a:p>
        </p:txBody>
      </p:sp>
      <p:sp>
        <p:nvSpPr>
          <p:cNvPr id="1254" name="Google Shape;1254;p32"/>
          <p:cNvSpPr txBox="1"/>
          <p:nvPr/>
        </p:nvSpPr>
        <p:spPr>
          <a:xfrm>
            <a:off x="5971032" y="384048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1" i="0" lang="en-US" sz="800" u="none" cap="none" strike="noStrike">
                <a:solidFill>
                  <a:srgbClr val="5EE9B5"/>
                </a:solidFill>
                <a:latin typeface="Courier New"/>
                <a:ea typeface="Courier New"/>
                <a:cs typeface="Courier New"/>
                <a:sym typeface="Courier New"/>
              </a:rPr>
              <a:t>2.33</a:t>
            </a:r>
            <a:endParaRPr b="0" i="0" sz="800" u="none" cap="none" strike="noStrike">
              <a:solidFill>
                <a:schemeClr val="dk1"/>
              </a:solidFill>
              <a:latin typeface="Calibri"/>
              <a:ea typeface="Calibri"/>
              <a:cs typeface="Calibri"/>
              <a:sym typeface="Calibri"/>
            </a:endParaRPr>
          </a:p>
        </p:txBody>
      </p:sp>
      <p:sp>
        <p:nvSpPr>
          <p:cNvPr id="1255" name="Google Shape;1255;p32"/>
          <p:cNvSpPr txBox="1"/>
          <p:nvPr/>
        </p:nvSpPr>
        <p:spPr>
          <a:xfrm>
            <a:off x="667512" y="4023360"/>
            <a:ext cx="21031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00"/>
              <a:buFont typeface="Courier New"/>
              <a:buNone/>
            </a:pPr>
            <a:r>
              <a:rPr b="0" i="0" lang="en-US" sz="800" u="none" cap="none" strike="noStrike">
                <a:solidFill>
                  <a:srgbClr val="E9DFFF"/>
                </a:solidFill>
                <a:latin typeface="Courier New"/>
                <a:ea typeface="Courier New"/>
                <a:cs typeface="Courier New"/>
                <a:sym typeface="Courier New"/>
              </a:rPr>
              <a:t>django/django#35091</a:t>
            </a:r>
            <a:endParaRPr b="0" i="0" sz="800" u="none" cap="none" strike="noStrike">
              <a:solidFill>
                <a:schemeClr val="dk1"/>
              </a:solidFill>
              <a:latin typeface="Calibri"/>
              <a:ea typeface="Calibri"/>
              <a:cs typeface="Calibri"/>
              <a:sym typeface="Calibri"/>
            </a:endParaRPr>
          </a:p>
        </p:txBody>
      </p:sp>
      <p:sp>
        <p:nvSpPr>
          <p:cNvPr id="1256" name="Google Shape;1256;p32"/>
          <p:cNvSpPr txBox="1"/>
          <p:nvPr/>
        </p:nvSpPr>
        <p:spPr>
          <a:xfrm>
            <a:off x="2770632" y="4023360"/>
            <a:ext cx="14173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build</a:t>
            </a:r>
            <a:endParaRPr b="0" i="0" sz="800" u="none" cap="none" strike="noStrike">
              <a:solidFill>
                <a:schemeClr val="dk1"/>
              </a:solidFill>
              <a:latin typeface="Calibri"/>
              <a:ea typeface="Calibri"/>
              <a:cs typeface="Calibri"/>
              <a:sym typeface="Calibri"/>
            </a:endParaRPr>
          </a:p>
        </p:txBody>
      </p:sp>
      <p:sp>
        <p:nvSpPr>
          <p:cNvPr id="1257" name="Google Shape;1257;p32"/>
          <p:cNvSpPr txBox="1"/>
          <p:nvPr/>
        </p:nvSpPr>
        <p:spPr>
          <a:xfrm>
            <a:off x="4187952" y="402336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6</a:t>
            </a:r>
            <a:endParaRPr b="0" i="0" sz="800" u="none" cap="none" strike="noStrike">
              <a:solidFill>
                <a:schemeClr val="dk1"/>
              </a:solidFill>
              <a:latin typeface="Calibri"/>
              <a:ea typeface="Calibri"/>
              <a:cs typeface="Calibri"/>
              <a:sym typeface="Calibri"/>
            </a:endParaRPr>
          </a:p>
        </p:txBody>
      </p:sp>
      <p:sp>
        <p:nvSpPr>
          <p:cNvPr id="1258" name="Google Shape;1258;p32"/>
          <p:cNvSpPr txBox="1"/>
          <p:nvPr/>
        </p:nvSpPr>
        <p:spPr>
          <a:xfrm>
            <a:off x="5056632" y="4023360"/>
            <a:ext cx="9144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4</a:t>
            </a:r>
            <a:endParaRPr b="0" i="0" sz="800" u="none" cap="none" strike="noStrike">
              <a:solidFill>
                <a:schemeClr val="dk1"/>
              </a:solidFill>
              <a:latin typeface="Calibri"/>
              <a:ea typeface="Calibri"/>
              <a:cs typeface="Calibri"/>
              <a:sym typeface="Calibri"/>
            </a:endParaRPr>
          </a:p>
        </p:txBody>
      </p:sp>
      <p:sp>
        <p:nvSpPr>
          <p:cNvPr id="1259" name="Google Shape;1259;p32"/>
          <p:cNvSpPr txBox="1"/>
          <p:nvPr/>
        </p:nvSpPr>
        <p:spPr>
          <a:xfrm>
            <a:off x="5971032" y="402336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800"/>
              <a:buFont typeface="Courier New"/>
              <a:buNone/>
            </a:pPr>
            <a:r>
              <a:rPr b="1" i="0" lang="en-US" sz="800" u="none" cap="none" strike="noStrike">
                <a:solidFill>
                  <a:srgbClr val="FBBF24"/>
                </a:solidFill>
                <a:latin typeface="Courier New"/>
                <a:ea typeface="Courier New"/>
                <a:cs typeface="Courier New"/>
                <a:sym typeface="Courier New"/>
              </a:rPr>
              <a:t>1.50</a:t>
            </a:r>
            <a:endParaRPr b="0" i="0" sz="800" u="none" cap="none" strike="noStrike">
              <a:solidFill>
                <a:schemeClr val="dk1"/>
              </a:solidFill>
              <a:latin typeface="Calibri"/>
              <a:ea typeface="Calibri"/>
              <a:cs typeface="Calibri"/>
              <a:sym typeface="Calibri"/>
            </a:endParaRPr>
          </a:p>
        </p:txBody>
      </p:sp>
      <p:sp>
        <p:nvSpPr>
          <p:cNvPr id="1260" name="Google Shape;1260;p32"/>
          <p:cNvSpPr txBox="1"/>
          <p:nvPr/>
        </p:nvSpPr>
        <p:spPr>
          <a:xfrm>
            <a:off x="667512" y="4206240"/>
            <a:ext cx="21031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00"/>
              <a:buFont typeface="Courier New"/>
              <a:buNone/>
            </a:pPr>
            <a:r>
              <a:rPr b="0" i="0" lang="en-US" sz="800" u="none" cap="none" strike="noStrike">
                <a:solidFill>
                  <a:srgbClr val="E9DFFF"/>
                </a:solidFill>
                <a:latin typeface="Courier New"/>
                <a:ea typeface="Courier New"/>
                <a:cs typeface="Courier New"/>
                <a:sym typeface="Courier New"/>
              </a:rPr>
              <a:t>encode/httpx#3071</a:t>
            </a:r>
            <a:endParaRPr b="0" i="0" sz="800" u="none" cap="none" strike="noStrike">
              <a:solidFill>
                <a:schemeClr val="dk1"/>
              </a:solidFill>
              <a:latin typeface="Calibri"/>
              <a:ea typeface="Calibri"/>
              <a:cs typeface="Calibri"/>
              <a:sym typeface="Calibri"/>
            </a:endParaRPr>
          </a:p>
        </p:txBody>
      </p:sp>
      <p:sp>
        <p:nvSpPr>
          <p:cNvPr id="1261" name="Google Shape;1261;p32"/>
          <p:cNvSpPr txBox="1"/>
          <p:nvPr/>
        </p:nvSpPr>
        <p:spPr>
          <a:xfrm>
            <a:off x="2770632" y="4206240"/>
            <a:ext cx="14173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800"/>
              <a:buFont typeface="Courier New"/>
              <a:buNone/>
            </a:pPr>
            <a:r>
              <a:rPr b="0" i="0" lang="en-US" sz="800" u="none" cap="none" strike="noStrike">
                <a:solidFill>
                  <a:srgbClr val="BBA9DE"/>
                </a:solidFill>
                <a:latin typeface="Courier New"/>
                <a:ea typeface="Courier New"/>
                <a:cs typeface="Courier New"/>
                <a:sym typeface="Courier New"/>
              </a:rPr>
              <a:t>design</a:t>
            </a:r>
            <a:endParaRPr b="0" i="0" sz="800" u="none" cap="none" strike="noStrike">
              <a:solidFill>
                <a:schemeClr val="dk1"/>
              </a:solidFill>
              <a:latin typeface="Calibri"/>
              <a:ea typeface="Calibri"/>
              <a:cs typeface="Calibri"/>
              <a:sym typeface="Calibri"/>
            </a:endParaRPr>
          </a:p>
        </p:txBody>
      </p:sp>
      <p:sp>
        <p:nvSpPr>
          <p:cNvPr id="1262" name="Google Shape;1262;p32"/>
          <p:cNvSpPr txBox="1"/>
          <p:nvPr/>
        </p:nvSpPr>
        <p:spPr>
          <a:xfrm>
            <a:off x="4187952" y="420624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6</a:t>
            </a:r>
            <a:endParaRPr b="0" i="0" sz="800" u="none" cap="none" strike="noStrike">
              <a:solidFill>
                <a:schemeClr val="dk1"/>
              </a:solidFill>
              <a:latin typeface="Calibri"/>
              <a:ea typeface="Calibri"/>
              <a:cs typeface="Calibri"/>
              <a:sym typeface="Calibri"/>
            </a:endParaRPr>
          </a:p>
        </p:txBody>
      </p:sp>
      <p:sp>
        <p:nvSpPr>
          <p:cNvPr id="1263" name="Google Shape;1263;p32"/>
          <p:cNvSpPr txBox="1"/>
          <p:nvPr/>
        </p:nvSpPr>
        <p:spPr>
          <a:xfrm>
            <a:off x="5056632" y="4206240"/>
            <a:ext cx="9144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00"/>
              <a:buFont typeface="Courier New"/>
              <a:buNone/>
            </a:pPr>
            <a:r>
              <a:rPr b="0" i="0" lang="en-US" sz="800" u="none" cap="none" strike="noStrike">
                <a:solidFill>
                  <a:srgbClr val="D8CDEE"/>
                </a:solidFill>
                <a:latin typeface="Courier New"/>
                <a:ea typeface="Courier New"/>
                <a:cs typeface="Courier New"/>
                <a:sym typeface="Courier New"/>
              </a:rPr>
              <a:t>9</a:t>
            </a:r>
            <a:endParaRPr b="0" i="0" sz="800" u="none" cap="none" strike="noStrike">
              <a:solidFill>
                <a:schemeClr val="dk1"/>
              </a:solidFill>
              <a:latin typeface="Calibri"/>
              <a:ea typeface="Calibri"/>
              <a:cs typeface="Calibri"/>
              <a:sym typeface="Calibri"/>
            </a:endParaRPr>
          </a:p>
        </p:txBody>
      </p:sp>
      <p:sp>
        <p:nvSpPr>
          <p:cNvPr id="1264" name="Google Shape;1264;p32"/>
          <p:cNvSpPr txBox="1"/>
          <p:nvPr/>
        </p:nvSpPr>
        <p:spPr>
          <a:xfrm>
            <a:off x="5971032" y="4206240"/>
            <a:ext cx="868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800"/>
              <a:buFont typeface="Courier New"/>
              <a:buNone/>
            </a:pPr>
            <a:r>
              <a:rPr b="1" i="0" lang="en-US" sz="800" u="none" cap="none" strike="noStrike">
                <a:solidFill>
                  <a:srgbClr val="FB7185"/>
                </a:solidFill>
                <a:latin typeface="Courier New"/>
                <a:ea typeface="Courier New"/>
                <a:cs typeface="Courier New"/>
                <a:sym typeface="Courier New"/>
              </a:rPr>
              <a:t>0.67</a:t>
            </a:r>
            <a:endParaRPr b="0" i="0" sz="800" u="none" cap="none" strike="noStrike">
              <a:solidFill>
                <a:schemeClr val="dk1"/>
              </a:solidFill>
              <a:latin typeface="Calibri"/>
              <a:ea typeface="Calibri"/>
              <a:cs typeface="Calibri"/>
              <a:sym typeface="Calibri"/>
            </a:endParaRPr>
          </a:p>
        </p:txBody>
      </p:sp>
      <p:sp>
        <p:nvSpPr>
          <p:cNvPr id="1265" name="Google Shape;1265;p32"/>
          <p:cNvSpPr txBox="1"/>
          <p:nvPr/>
        </p:nvSpPr>
        <p:spPr>
          <a:xfrm>
            <a:off x="7040880" y="3657600"/>
            <a:ext cx="14630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00"/>
              <a:buFont typeface="Calibri"/>
              <a:buNone/>
            </a:pPr>
            <a:r>
              <a:rPr b="0" i="1" lang="en-US" sz="800" u="none" cap="none" strike="noStrike">
                <a:solidFill>
                  <a:srgbClr val="E9DFFF"/>
                </a:solidFill>
                <a:latin typeface="Calibri"/>
                <a:ea typeface="Calibri"/>
                <a:cs typeface="Calibri"/>
                <a:sym typeface="Calibri"/>
              </a:rPr>
              <a:t>sorted by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9DFFF"/>
              </a:buClr>
              <a:buSzPts val="800"/>
              <a:buFont typeface="Calibri"/>
              <a:buNone/>
            </a:pPr>
            <a:r>
              <a:rPr b="0" i="1" lang="en-US" sz="800" u="none" cap="none" strike="noStrike">
                <a:solidFill>
                  <a:srgbClr val="E9DFFF"/>
                </a:solidFill>
                <a:latin typeface="Calibri"/>
                <a:ea typeface="Calibri"/>
                <a:cs typeface="Calibri"/>
                <a:sym typeface="Calibri"/>
              </a:rPr>
              <a:t>-priority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9DFFF"/>
              </a:buClr>
              <a:buSzPts val="800"/>
              <a:buFont typeface="Calibri"/>
              <a:buNone/>
            </a:pPr>
            <a:r>
              <a:rPr b="0" i="1" lang="en-US" sz="800" u="none" cap="none" strike="noStrike">
                <a:solidFill>
                  <a:srgbClr val="E9DFFF"/>
                </a:solidFill>
                <a:latin typeface="Calibri"/>
                <a:ea typeface="Calibri"/>
                <a:cs typeface="Calibri"/>
                <a:sym typeface="Calibri"/>
              </a:rPr>
              <a:t>your backlog</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9DFFF"/>
              </a:buClr>
              <a:buSzPts val="800"/>
              <a:buFont typeface="Calibri"/>
              <a:buNone/>
            </a:pPr>
            <a:r>
              <a:rPr b="0" i="1" lang="en-US" sz="800" u="none" cap="none" strike="noStrike">
                <a:solidFill>
                  <a:srgbClr val="E9DFFF"/>
                </a:solidFill>
                <a:latin typeface="Calibri"/>
                <a:ea typeface="Calibri"/>
                <a:cs typeface="Calibri"/>
                <a:sym typeface="Calibri"/>
              </a:rPr>
              <a:t>for Monday</a:t>
            </a:r>
            <a:endParaRPr b="0" i="0" sz="800" u="none" cap="none" strike="noStrike">
              <a:solidFill>
                <a:schemeClr val="dk1"/>
              </a:solidFill>
              <a:latin typeface="Calibri"/>
              <a:ea typeface="Calibri"/>
              <a:cs typeface="Calibri"/>
              <a:sym typeface="Calibri"/>
            </a:endParaRPr>
          </a:p>
        </p:txBody>
      </p:sp>
      <p:sp>
        <p:nvSpPr>
          <p:cNvPr id="1266" name="Google Shape;1266;p32"/>
          <p:cNvSpPr/>
          <p:nvPr/>
        </p:nvSpPr>
        <p:spPr>
          <a:xfrm>
            <a:off x="502920" y="4517136"/>
            <a:ext cx="8138160" cy="402336"/>
          </a:xfrm>
          <a:prstGeom prst="roundRect">
            <a:avLst>
              <a:gd fmla="val 18182"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32"/>
          <p:cNvSpPr txBox="1"/>
          <p:nvPr/>
        </p:nvSpPr>
        <p:spPr>
          <a:xfrm>
            <a:off x="649224" y="4517136"/>
            <a:ext cx="7845552"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1100"/>
              <a:buFont typeface="Calibri"/>
              <a:buNone/>
            </a:pPr>
            <a:r>
              <a:rPr b="0" i="1" lang="en-US" sz="1100" u="none" cap="none" strike="noStrike">
                <a:solidFill>
                  <a:srgbClr val="FBBF24"/>
                </a:solidFill>
                <a:latin typeface="Calibri"/>
                <a:ea typeface="Calibri"/>
                <a:cs typeface="Calibri"/>
                <a:sym typeface="Calibri"/>
              </a:rPr>
              <a:t>Illustrative scores — an LLM estimates both numbers, and it will not give you the same ones twice. Would you let it plan your sprint?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272" name="Shape 1272"/>
        <p:cNvGrpSpPr/>
        <p:nvPr/>
      </p:nvGrpSpPr>
      <p:grpSpPr>
        <a:xfrm>
          <a:off x="0" y="0"/>
          <a:ext cx="0" cy="0"/>
          <a:chOff x="0" y="0"/>
          <a:chExt cx="0" cy="0"/>
        </a:xfrm>
      </p:grpSpPr>
      <p:sp>
        <p:nvSpPr>
          <p:cNvPr id="1273" name="Google Shape;1273;p33"/>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§4.4 · THE CAPSTONE</a:t>
            </a:r>
            <a:endParaRPr b="0" i="0" sz="1050" u="none" cap="none" strike="noStrike">
              <a:solidFill>
                <a:schemeClr val="dk1"/>
              </a:solidFill>
              <a:latin typeface="Calibri"/>
              <a:ea typeface="Calibri"/>
              <a:cs typeface="Calibri"/>
              <a:sym typeface="Calibri"/>
            </a:endParaRPr>
          </a:p>
        </p:txBody>
      </p:sp>
      <p:sp>
        <p:nvSpPr>
          <p:cNvPr id="1274" name="Google Shape;1274;p33"/>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Backlog in, verified patch out, one file on disk</a:t>
            </a:r>
            <a:endParaRPr b="0" i="0" sz="2700" u="none" cap="none" strike="noStrike">
              <a:solidFill>
                <a:schemeClr val="dk1"/>
              </a:solidFill>
              <a:latin typeface="Calibri"/>
              <a:ea typeface="Calibri"/>
              <a:cs typeface="Calibri"/>
              <a:sym typeface="Calibri"/>
            </a:endParaRPr>
          </a:p>
        </p:txBody>
      </p:sp>
      <p:sp>
        <p:nvSpPr>
          <p:cNvPr id="1275" name="Google Shape;1275;p33">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276" name="Google Shape;1276;p33"/>
          <p:cNvSpPr/>
          <p:nvPr/>
        </p:nvSpPr>
        <p:spPr>
          <a:xfrm>
            <a:off x="502920" y="1133856"/>
            <a:ext cx="1924812" cy="1042416"/>
          </a:xfrm>
          <a:prstGeom prst="roundRect">
            <a:avLst>
              <a:gd fmla="val 789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33"/>
          <p:cNvSpPr/>
          <p:nvPr/>
        </p:nvSpPr>
        <p:spPr>
          <a:xfrm>
            <a:off x="630936" y="1261872"/>
            <a:ext cx="274320" cy="274320"/>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33"/>
          <p:cNvSpPr txBox="1"/>
          <p:nvPr/>
        </p:nvSpPr>
        <p:spPr>
          <a:xfrm>
            <a:off x="630936" y="126187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1</a:t>
            </a:r>
            <a:endParaRPr b="0" i="0" sz="1000" u="none" cap="none" strike="noStrike">
              <a:solidFill>
                <a:schemeClr val="dk1"/>
              </a:solidFill>
              <a:latin typeface="Calibri"/>
              <a:ea typeface="Calibri"/>
              <a:cs typeface="Calibri"/>
              <a:sym typeface="Calibri"/>
            </a:endParaRPr>
          </a:p>
        </p:txBody>
      </p:sp>
      <p:sp>
        <p:nvSpPr>
          <p:cNvPr id="1279" name="Google Shape;1279;p33"/>
          <p:cNvSpPr txBox="1"/>
          <p:nvPr/>
        </p:nvSpPr>
        <p:spPr>
          <a:xfrm>
            <a:off x="978408" y="1243584"/>
            <a:ext cx="1321308"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950"/>
              <a:buFont typeface="Courier New"/>
              <a:buNone/>
            </a:pPr>
            <a:r>
              <a:rPr b="1" i="0" lang="en-US" sz="950" u="none" cap="none" strike="noStrike">
                <a:solidFill>
                  <a:srgbClr val="5EE9B5"/>
                </a:solidFill>
                <a:latin typeface="Courier New"/>
                <a:ea typeface="Courier New"/>
                <a:cs typeface="Courier New"/>
                <a:sym typeface="Courier New"/>
              </a:rPr>
              <a:t>classify + triage</a:t>
            </a:r>
            <a:endParaRPr b="0" i="0" sz="950" u="none" cap="none" strike="noStrike">
              <a:solidFill>
                <a:schemeClr val="dk1"/>
              </a:solidFill>
              <a:latin typeface="Calibri"/>
              <a:ea typeface="Calibri"/>
              <a:cs typeface="Calibri"/>
              <a:sym typeface="Calibri"/>
            </a:endParaRPr>
          </a:p>
        </p:txBody>
      </p:sp>
      <p:sp>
        <p:nvSpPr>
          <p:cNvPr id="1280" name="Google Shape;1280;p33"/>
          <p:cNvSpPr txBox="1"/>
          <p:nvPr/>
        </p:nvSpPr>
        <p:spPr>
          <a:xfrm>
            <a:off x="630936" y="1591056"/>
            <a:ext cx="16687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every issue → type, interest, principal, priority. Sorted descending.</a:t>
            </a:r>
            <a:endParaRPr b="0" i="0" sz="900" u="none" cap="none" strike="noStrike">
              <a:solidFill>
                <a:schemeClr val="dk1"/>
              </a:solidFill>
              <a:latin typeface="Calibri"/>
              <a:ea typeface="Calibri"/>
              <a:cs typeface="Calibri"/>
              <a:sym typeface="Calibri"/>
            </a:endParaRPr>
          </a:p>
        </p:txBody>
      </p:sp>
      <p:cxnSp>
        <p:nvCxnSpPr>
          <p:cNvPr id="1281" name="Google Shape;1281;p33"/>
          <p:cNvCxnSpPr/>
          <p:nvPr/>
        </p:nvCxnSpPr>
        <p:spPr>
          <a:xfrm>
            <a:off x="2446020" y="1655064"/>
            <a:ext cx="109728" cy="914"/>
          </a:xfrm>
          <a:prstGeom prst="straightConnector1">
            <a:avLst/>
          </a:prstGeom>
          <a:noFill/>
          <a:ln cap="flat" cmpd="sng" w="19050">
            <a:solidFill>
              <a:srgbClr val="A78BFA"/>
            </a:solidFill>
            <a:prstDash val="solid"/>
            <a:round/>
            <a:headEnd len="sm" w="sm" type="none"/>
            <a:tailEnd len="med" w="med" type="triangle"/>
          </a:ln>
        </p:spPr>
      </p:cxnSp>
      <p:sp>
        <p:nvSpPr>
          <p:cNvPr id="1282" name="Google Shape;1282;p33"/>
          <p:cNvSpPr/>
          <p:nvPr/>
        </p:nvSpPr>
        <p:spPr>
          <a:xfrm>
            <a:off x="2574036" y="1133856"/>
            <a:ext cx="1924812" cy="1042416"/>
          </a:xfrm>
          <a:prstGeom prst="roundRect">
            <a:avLst>
              <a:gd fmla="val 789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33"/>
          <p:cNvSpPr/>
          <p:nvPr/>
        </p:nvSpPr>
        <p:spPr>
          <a:xfrm>
            <a:off x="2702052" y="1261872"/>
            <a:ext cx="274320" cy="274320"/>
          </a:xfrm>
          <a:prstGeom prst="ellipse">
            <a:avLst/>
          </a:prstGeom>
          <a:solidFill>
            <a:srgbClr val="E9DFFF"/>
          </a:solidFill>
          <a:ln cap="flat" cmpd="sng" w="12700">
            <a:solidFill>
              <a:srgbClr val="E9D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33"/>
          <p:cNvSpPr txBox="1"/>
          <p:nvPr/>
        </p:nvSpPr>
        <p:spPr>
          <a:xfrm>
            <a:off x="2702052" y="126187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2</a:t>
            </a:r>
            <a:endParaRPr b="0" i="0" sz="1000" u="none" cap="none" strike="noStrike">
              <a:solidFill>
                <a:schemeClr val="dk1"/>
              </a:solidFill>
              <a:latin typeface="Calibri"/>
              <a:ea typeface="Calibri"/>
              <a:cs typeface="Calibri"/>
              <a:sym typeface="Calibri"/>
            </a:endParaRPr>
          </a:p>
        </p:txBody>
      </p:sp>
      <p:sp>
        <p:nvSpPr>
          <p:cNvPr id="1285" name="Google Shape;1285;p33"/>
          <p:cNvSpPr txBox="1"/>
          <p:nvPr/>
        </p:nvSpPr>
        <p:spPr>
          <a:xfrm>
            <a:off x="3049524" y="1243584"/>
            <a:ext cx="1321308"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950"/>
              <a:buFont typeface="Courier New"/>
              <a:buNone/>
            </a:pPr>
            <a:r>
              <a:rPr b="1" i="0" lang="en-US" sz="950" u="none" cap="none" strike="noStrike">
                <a:solidFill>
                  <a:srgbClr val="E9DFFF"/>
                </a:solidFill>
                <a:latin typeface="Courier New"/>
                <a:ea typeface="Courier New"/>
                <a:cs typeface="Courier New"/>
                <a:sym typeface="Courier New"/>
              </a:rPr>
              <a:t>audit</a:t>
            </a:r>
            <a:endParaRPr b="0" i="0" sz="950" u="none" cap="none" strike="noStrike">
              <a:solidFill>
                <a:schemeClr val="dk1"/>
              </a:solidFill>
              <a:latin typeface="Calibri"/>
              <a:ea typeface="Calibri"/>
              <a:cs typeface="Calibri"/>
              <a:sym typeface="Calibri"/>
            </a:endParaRPr>
          </a:p>
        </p:txBody>
      </p:sp>
      <p:sp>
        <p:nvSpPr>
          <p:cNvPr id="1286" name="Google Shape;1286;p33"/>
          <p:cNvSpPr txBox="1"/>
          <p:nvPr/>
        </p:nvSpPr>
        <p:spPr>
          <a:xfrm>
            <a:off x="2702052" y="1591056"/>
            <a:ext cx="16687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tools first, then the LLM names the smells in checkout.py.</a:t>
            </a:r>
            <a:endParaRPr b="0" i="0" sz="900" u="none" cap="none" strike="noStrike">
              <a:solidFill>
                <a:schemeClr val="dk1"/>
              </a:solidFill>
              <a:latin typeface="Calibri"/>
              <a:ea typeface="Calibri"/>
              <a:cs typeface="Calibri"/>
              <a:sym typeface="Calibri"/>
            </a:endParaRPr>
          </a:p>
        </p:txBody>
      </p:sp>
      <p:cxnSp>
        <p:nvCxnSpPr>
          <p:cNvPr id="1287" name="Google Shape;1287;p33"/>
          <p:cNvCxnSpPr/>
          <p:nvPr/>
        </p:nvCxnSpPr>
        <p:spPr>
          <a:xfrm>
            <a:off x="4517136" y="1655064"/>
            <a:ext cx="109728" cy="914"/>
          </a:xfrm>
          <a:prstGeom prst="straightConnector1">
            <a:avLst/>
          </a:prstGeom>
          <a:noFill/>
          <a:ln cap="flat" cmpd="sng" w="19050">
            <a:solidFill>
              <a:srgbClr val="A78BFA"/>
            </a:solidFill>
            <a:prstDash val="solid"/>
            <a:round/>
            <a:headEnd len="sm" w="sm" type="none"/>
            <a:tailEnd len="med" w="med" type="triangle"/>
          </a:ln>
        </p:spPr>
      </p:cxnSp>
      <p:sp>
        <p:nvSpPr>
          <p:cNvPr id="1288" name="Google Shape;1288;p33"/>
          <p:cNvSpPr/>
          <p:nvPr/>
        </p:nvSpPr>
        <p:spPr>
          <a:xfrm>
            <a:off x="4645152" y="1133856"/>
            <a:ext cx="1924812" cy="1042416"/>
          </a:xfrm>
          <a:prstGeom prst="roundRect">
            <a:avLst>
              <a:gd fmla="val 789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33"/>
          <p:cNvSpPr/>
          <p:nvPr/>
        </p:nvSpPr>
        <p:spPr>
          <a:xfrm>
            <a:off x="4773168" y="1261872"/>
            <a:ext cx="274320" cy="274320"/>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33"/>
          <p:cNvSpPr txBox="1"/>
          <p:nvPr/>
        </p:nvSpPr>
        <p:spPr>
          <a:xfrm>
            <a:off x="4773168" y="126187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3</a:t>
            </a:r>
            <a:endParaRPr b="0" i="0" sz="1000" u="none" cap="none" strike="noStrike">
              <a:solidFill>
                <a:schemeClr val="dk1"/>
              </a:solidFill>
              <a:latin typeface="Calibri"/>
              <a:ea typeface="Calibri"/>
              <a:cs typeface="Calibri"/>
              <a:sym typeface="Calibri"/>
            </a:endParaRPr>
          </a:p>
        </p:txBody>
      </p:sp>
      <p:sp>
        <p:nvSpPr>
          <p:cNvPr id="1291" name="Google Shape;1291;p33"/>
          <p:cNvSpPr txBox="1"/>
          <p:nvPr/>
        </p:nvSpPr>
        <p:spPr>
          <a:xfrm>
            <a:off x="5120640" y="1243584"/>
            <a:ext cx="1321308"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BF24"/>
              </a:buClr>
              <a:buSzPts val="950"/>
              <a:buFont typeface="Courier New"/>
              <a:buNone/>
            </a:pPr>
            <a:r>
              <a:rPr b="1" i="0" lang="en-US" sz="950" u="none" cap="none" strike="noStrike">
                <a:solidFill>
                  <a:srgbClr val="FBBF24"/>
                </a:solidFill>
                <a:latin typeface="Courier New"/>
                <a:ea typeface="Courier New"/>
                <a:cs typeface="Courier New"/>
                <a:sym typeface="Courier New"/>
              </a:rPr>
              <a:t>refactor + QA</a:t>
            </a:r>
            <a:endParaRPr b="0" i="0" sz="950" u="none" cap="none" strike="noStrike">
              <a:solidFill>
                <a:schemeClr val="dk1"/>
              </a:solidFill>
              <a:latin typeface="Calibri"/>
              <a:ea typeface="Calibri"/>
              <a:cs typeface="Calibri"/>
              <a:sym typeface="Calibri"/>
            </a:endParaRPr>
          </a:p>
        </p:txBody>
      </p:sp>
      <p:sp>
        <p:nvSpPr>
          <p:cNvPr id="1292" name="Google Shape;1292;p33"/>
          <p:cNvSpPr txBox="1"/>
          <p:nvPr/>
        </p:nvSpPr>
        <p:spPr>
          <a:xfrm>
            <a:off x="4773168" y="1591056"/>
            <a:ext cx="16687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run_workflow() with max_iterations=2 — the three gates decide.</a:t>
            </a:r>
            <a:endParaRPr b="0" i="0" sz="900" u="none" cap="none" strike="noStrike">
              <a:solidFill>
                <a:schemeClr val="dk1"/>
              </a:solidFill>
              <a:latin typeface="Calibri"/>
              <a:ea typeface="Calibri"/>
              <a:cs typeface="Calibri"/>
              <a:sym typeface="Calibri"/>
            </a:endParaRPr>
          </a:p>
        </p:txBody>
      </p:sp>
      <p:cxnSp>
        <p:nvCxnSpPr>
          <p:cNvPr id="1293" name="Google Shape;1293;p33"/>
          <p:cNvCxnSpPr/>
          <p:nvPr/>
        </p:nvCxnSpPr>
        <p:spPr>
          <a:xfrm>
            <a:off x="6588252" y="1655064"/>
            <a:ext cx="109728" cy="914"/>
          </a:xfrm>
          <a:prstGeom prst="straightConnector1">
            <a:avLst/>
          </a:prstGeom>
          <a:noFill/>
          <a:ln cap="flat" cmpd="sng" w="19050">
            <a:solidFill>
              <a:srgbClr val="A78BFA"/>
            </a:solidFill>
            <a:prstDash val="solid"/>
            <a:round/>
            <a:headEnd len="sm" w="sm" type="none"/>
            <a:tailEnd len="med" w="med" type="triangle"/>
          </a:ln>
        </p:spPr>
      </p:cxnSp>
      <p:sp>
        <p:nvSpPr>
          <p:cNvPr id="1294" name="Google Shape;1294;p33"/>
          <p:cNvSpPr/>
          <p:nvPr/>
        </p:nvSpPr>
        <p:spPr>
          <a:xfrm>
            <a:off x="6716268" y="1133856"/>
            <a:ext cx="1924812" cy="1042416"/>
          </a:xfrm>
          <a:prstGeom prst="roundRect">
            <a:avLst>
              <a:gd fmla="val 7895"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33"/>
          <p:cNvSpPr/>
          <p:nvPr/>
        </p:nvSpPr>
        <p:spPr>
          <a:xfrm>
            <a:off x="6844284" y="1261872"/>
            <a:ext cx="274320" cy="274320"/>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33"/>
          <p:cNvSpPr txBox="1"/>
          <p:nvPr/>
        </p:nvSpPr>
        <p:spPr>
          <a:xfrm>
            <a:off x="6844284" y="126187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000"/>
              <a:buFont typeface="Courier New"/>
              <a:buNone/>
            </a:pPr>
            <a:r>
              <a:rPr b="1" i="0" lang="en-US" sz="1000" u="none" cap="none" strike="noStrike">
                <a:solidFill>
                  <a:srgbClr val="2A1B3D"/>
                </a:solidFill>
                <a:latin typeface="Courier New"/>
                <a:ea typeface="Courier New"/>
                <a:cs typeface="Courier New"/>
                <a:sym typeface="Courier New"/>
              </a:rPr>
              <a:t>4</a:t>
            </a:r>
            <a:endParaRPr b="0" i="0" sz="1000" u="none" cap="none" strike="noStrike">
              <a:solidFill>
                <a:schemeClr val="dk1"/>
              </a:solidFill>
              <a:latin typeface="Calibri"/>
              <a:ea typeface="Calibri"/>
              <a:cs typeface="Calibri"/>
              <a:sym typeface="Calibri"/>
            </a:endParaRPr>
          </a:p>
        </p:txBody>
      </p:sp>
      <p:sp>
        <p:nvSpPr>
          <p:cNvPr id="1297" name="Google Shape;1297;p33"/>
          <p:cNvSpPr txBox="1"/>
          <p:nvPr/>
        </p:nvSpPr>
        <p:spPr>
          <a:xfrm>
            <a:off x="7191756" y="1243584"/>
            <a:ext cx="1321308"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950"/>
              <a:buFont typeface="Courier New"/>
              <a:buNone/>
            </a:pPr>
            <a:r>
              <a:rPr b="1" i="0" lang="en-US" sz="950" u="none" cap="none" strike="noStrike">
                <a:solidFill>
                  <a:srgbClr val="A78BFA"/>
                </a:solidFill>
                <a:latin typeface="Courier New"/>
                <a:ea typeface="Courier New"/>
                <a:cs typeface="Courier New"/>
                <a:sym typeface="Courier New"/>
              </a:rPr>
              <a:t>write the report</a:t>
            </a:r>
            <a:endParaRPr b="0" i="0" sz="950" u="none" cap="none" strike="noStrike">
              <a:solidFill>
                <a:schemeClr val="dk1"/>
              </a:solidFill>
              <a:latin typeface="Calibri"/>
              <a:ea typeface="Calibri"/>
              <a:cs typeface="Calibri"/>
              <a:sym typeface="Calibri"/>
            </a:endParaRPr>
          </a:p>
        </p:txBody>
      </p:sp>
      <p:sp>
        <p:nvSpPr>
          <p:cNvPr id="1298" name="Google Shape;1298;p33"/>
          <p:cNvSpPr txBox="1"/>
          <p:nvPr/>
        </p:nvSpPr>
        <p:spPr>
          <a:xfrm>
            <a:off x="6844284" y="1591056"/>
            <a:ext cx="16687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backlog + code findings + accepted/held → TECH_DEBT_REPORT.md.</a:t>
            </a:r>
            <a:endParaRPr b="0" i="0" sz="900" u="none" cap="none" strike="noStrike">
              <a:solidFill>
                <a:schemeClr val="dk1"/>
              </a:solidFill>
              <a:latin typeface="Calibri"/>
              <a:ea typeface="Calibri"/>
              <a:cs typeface="Calibri"/>
              <a:sym typeface="Calibri"/>
            </a:endParaRPr>
          </a:p>
        </p:txBody>
      </p:sp>
      <p:sp>
        <p:nvSpPr>
          <p:cNvPr id="1299" name="Google Shape;1299;p33"/>
          <p:cNvSpPr/>
          <p:nvPr/>
        </p:nvSpPr>
        <p:spPr>
          <a:xfrm>
            <a:off x="502920" y="2322576"/>
            <a:ext cx="4709160" cy="1810512"/>
          </a:xfrm>
          <a:prstGeom prst="roundRect">
            <a:avLst>
              <a:gd fmla="val 3535"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33"/>
          <p:cNvSpPr txBox="1"/>
          <p:nvPr/>
        </p:nvSpPr>
        <p:spPr>
          <a:xfrm>
            <a:off x="630936" y="2423160"/>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 Technical Debt Report</a:t>
            </a:r>
            <a:endParaRPr b="0" i="0" sz="700" u="none" cap="none" strike="noStrike">
              <a:solidFill>
                <a:schemeClr val="dk1"/>
              </a:solidFill>
              <a:latin typeface="Calibri"/>
              <a:ea typeface="Calibri"/>
              <a:cs typeface="Calibri"/>
              <a:sym typeface="Calibri"/>
            </a:endParaRPr>
          </a:p>
        </p:txBody>
      </p:sp>
      <p:sp>
        <p:nvSpPr>
          <p:cNvPr id="1301" name="Google Shape;1301;p33"/>
          <p:cNvSpPr txBox="1"/>
          <p:nvPr/>
        </p:nvSpPr>
        <p:spPr>
          <a:xfrm>
            <a:off x="630936" y="2543861"/>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700"/>
              <a:buFont typeface="Courier New"/>
              <a:buNone/>
            </a:pPr>
            <a:r>
              <a:rPr b="0" i="0" lang="en-US" sz="700" u="none" cap="none" strike="noStrike">
                <a:solidFill>
                  <a:srgbClr val="BBA9DE"/>
                </a:solidFill>
                <a:latin typeface="Courier New"/>
                <a:ea typeface="Courier New"/>
                <a:cs typeface="Courier New"/>
                <a:sym typeface="Courier New"/>
              </a:rPr>
              <a:t>model: openai/gpt-5.6-luna</a:t>
            </a:r>
            <a:endParaRPr b="0" i="0" sz="700" u="none" cap="none" strike="noStrike">
              <a:solidFill>
                <a:schemeClr val="dk1"/>
              </a:solidFill>
              <a:latin typeface="Calibri"/>
              <a:ea typeface="Calibri"/>
              <a:cs typeface="Calibri"/>
              <a:sym typeface="Calibri"/>
            </a:endParaRPr>
          </a:p>
        </p:txBody>
      </p:sp>
      <p:sp>
        <p:nvSpPr>
          <p:cNvPr id="1302" name="Google Shape;1302;p33"/>
          <p:cNvSpPr txBox="1"/>
          <p:nvPr/>
        </p:nvSpPr>
        <p:spPr>
          <a:xfrm>
            <a:off x="630936" y="2664562"/>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700"/>
              <a:buFont typeface="Calibri"/>
              <a:buNone/>
            </a:pPr>
            <a:r>
              <a:t/>
            </a:r>
            <a:endParaRPr b="0" i="0" sz="700" u="none" cap="none" strike="noStrike">
              <a:solidFill>
                <a:schemeClr val="dk1"/>
              </a:solidFill>
              <a:latin typeface="Calibri"/>
              <a:ea typeface="Calibri"/>
              <a:cs typeface="Calibri"/>
              <a:sym typeface="Calibri"/>
            </a:endParaRPr>
          </a:p>
        </p:txBody>
      </p:sp>
      <p:sp>
        <p:nvSpPr>
          <p:cNvPr id="1303" name="Google Shape;1303;p33"/>
          <p:cNvSpPr txBox="1"/>
          <p:nvPr/>
        </p:nvSpPr>
        <p:spPr>
          <a:xfrm>
            <a:off x="630936" y="2785262"/>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 Backlog</a:t>
            </a:r>
            <a:endParaRPr b="0" i="0" sz="700" u="none" cap="none" strike="noStrike">
              <a:solidFill>
                <a:schemeClr val="dk1"/>
              </a:solidFill>
              <a:latin typeface="Calibri"/>
              <a:ea typeface="Calibri"/>
              <a:cs typeface="Calibri"/>
              <a:sym typeface="Calibri"/>
            </a:endParaRPr>
          </a:p>
        </p:txBody>
      </p:sp>
      <p:sp>
        <p:nvSpPr>
          <p:cNvPr id="1304" name="Google Shape;1304;p33"/>
          <p:cNvSpPr txBox="1"/>
          <p:nvPr/>
        </p:nvSpPr>
        <p:spPr>
          <a:xfrm>
            <a:off x="630936" y="2905963"/>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00"/>
              <a:buFont typeface="Courier New"/>
              <a:buNone/>
            </a:pPr>
            <a:r>
              <a:rPr b="0" i="0" lang="en-US" sz="700" u="none" cap="none" strike="noStrike">
                <a:solidFill>
                  <a:srgbClr val="D8CDEE"/>
                </a:solidFill>
                <a:latin typeface="Courier New"/>
                <a:ea typeface="Courier New"/>
                <a:cs typeface="Courier New"/>
                <a:sym typeface="Courier New"/>
              </a:rPr>
              <a:t>- [pallets/flask#5214] documentation · priority 4.0</a:t>
            </a:r>
            <a:endParaRPr b="0" i="0" sz="700" u="none" cap="none" strike="noStrike">
              <a:solidFill>
                <a:schemeClr val="dk1"/>
              </a:solidFill>
              <a:latin typeface="Calibri"/>
              <a:ea typeface="Calibri"/>
              <a:cs typeface="Calibri"/>
              <a:sym typeface="Calibri"/>
            </a:endParaRPr>
          </a:p>
        </p:txBody>
      </p:sp>
      <p:sp>
        <p:nvSpPr>
          <p:cNvPr id="1305" name="Google Shape;1305;p33"/>
          <p:cNvSpPr txBox="1"/>
          <p:nvPr/>
        </p:nvSpPr>
        <p:spPr>
          <a:xfrm>
            <a:off x="630936" y="3026664"/>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00"/>
              <a:buFont typeface="Courier New"/>
              <a:buNone/>
            </a:pPr>
            <a:r>
              <a:rPr b="0" i="0" lang="en-US" sz="700" u="none" cap="none" strike="noStrike">
                <a:solidFill>
                  <a:srgbClr val="D8CDEE"/>
                </a:solidFill>
                <a:latin typeface="Courier New"/>
                <a:ea typeface="Courier New"/>
                <a:cs typeface="Courier New"/>
                <a:sym typeface="Courier New"/>
              </a:rPr>
              <a:t>- [psf/requests#7016]  test · priority 2.33</a:t>
            </a:r>
            <a:endParaRPr b="0" i="0" sz="700" u="none" cap="none" strike="noStrike">
              <a:solidFill>
                <a:schemeClr val="dk1"/>
              </a:solidFill>
              <a:latin typeface="Calibri"/>
              <a:ea typeface="Calibri"/>
              <a:cs typeface="Calibri"/>
              <a:sym typeface="Calibri"/>
            </a:endParaRPr>
          </a:p>
        </p:txBody>
      </p:sp>
      <p:sp>
        <p:nvSpPr>
          <p:cNvPr id="1306" name="Google Shape;1306;p33"/>
          <p:cNvSpPr txBox="1"/>
          <p:nvPr/>
        </p:nvSpPr>
        <p:spPr>
          <a:xfrm>
            <a:off x="630936" y="3147365"/>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700"/>
              <a:buFont typeface="Calibri"/>
              <a:buNone/>
            </a:pPr>
            <a:r>
              <a:t/>
            </a:r>
            <a:endParaRPr b="0" i="0" sz="700" u="none" cap="none" strike="noStrike">
              <a:solidFill>
                <a:schemeClr val="dk1"/>
              </a:solidFill>
              <a:latin typeface="Calibri"/>
              <a:ea typeface="Calibri"/>
              <a:cs typeface="Calibri"/>
              <a:sym typeface="Calibri"/>
            </a:endParaRPr>
          </a:p>
        </p:txBody>
      </p:sp>
      <p:sp>
        <p:nvSpPr>
          <p:cNvPr id="1307" name="Google Shape;1307;p33"/>
          <p:cNvSpPr txBox="1"/>
          <p:nvPr/>
        </p:nvSpPr>
        <p:spPr>
          <a:xfrm>
            <a:off x="630936" y="3268066"/>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 Code findings</a:t>
            </a:r>
            <a:endParaRPr b="0" i="0" sz="700" u="none" cap="none" strike="noStrike">
              <a:solidFill>
                <a:schemeClr val="dk1"/>
              </a:solidFill>
              <a:latin typeface="Calibri"/>
              <a:ea typeface="Calibri"/>
              <a:cs typeface="Calibri"/>
              <a:sym typeface="Calibri"/>
            </a:endParaRPr>
          </a:p>
        </p:txBody>
      </p:sp>
      <p:sp>
        <p:nvSpPr>
          <p:cNvPr id="1308" name="Google Shape;1308;p33"/>
          <p:cNvSpPr txBox="1"/>
          <p:nvPr/>
        </p:nvSpPr>
        <p:spPr>
          <a:xfrm>
            <a:off x="630936" y="3388766"/>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00"/>
              <a:buFont typeface="Courier New"/>
              <a:buNone/>
            </a:pPr>
            <a:r>
              <a:rPr b="0" i="0" lang="en-US" sz="700" u="none" cap="none" strike="noStrike">
                <a:solidFill>
                  <a:srgbClr val="D8CDEE"/>
                </a:solidFill>
                <a:latin typeface="Courier New"/>
                <a:ea typeface="Courier New"/>
                <a:cs typeface="Courier New"/>
                <a:sym typeface="Courier New"/>
              </a:rPr>
              <a:t>- **Long Method** (fulfill_order): validation +</a:t>
            </a:r>
            <a:endParaRPr b="0" i="0" sz="700" u="none" cap="none" strike="noStrike">
              <a:solidFill>
                <a:schemeClr val="dk1"/>
              </a:solidFill>
              <a:latin typeface="Calibri"/>
              <a:ea typeface="Calibri"/>
              <a:cs typeface="Calibri"/>
              <a:sym typeface="Calibri"/>
            </a:endParaRPr>
          </a:p>
        </p:txBody>
      </p:sp>
      <p:sp>
        <p:nvSpPr>
          <p:cNvPr id="1309" name="Google Shape;1309;p33"/>
          <p:cNvSpPr txBox="1"/>
          <p:nvPr/>
        </p:nvSpPr>
        <p:spPr>
          <a:xfrm>
            <a:off x="630936" y="3509467"/>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700"/>
              <a:buFont typeface="Courier New"/>
              <a:buNone/>
            </a:pPr>
            <a:r>
              <a:rPr b="0" i="0" lang="en-US" sz="700" u="none" cap="none" strike="noStrike">
                <a:solidFill>
                  <a:srgbClr val="D8CDEE"/>
                </a:solidFill>
                <a:latin typeface="Courier New"/>
                <a:ea typeface="Courier New"/>
                <a:cs typeface="Courier New"/>
                <a:sym typeface="Courier New"/>
              </a:rPr>
              <a:t>  inventory + charge + mail in one method</a:t>
            </a:r>
            <a:endParaRPr b="0" i="0" sz="700" u="none" cap="none" strike="noStrike">
              <a:solidFill>
                <a:schemeClr val="dk1"/>
              </a:solidFill>
              <a:latin typeface="Calibri"/>
              <a:ea typeface="Calibri"/>
              <a:cs typeface="Calibri"/>
              <a:sym typeface="Calibri"/>
            </a:endParaRPr>
          </a:p>
        </p:txBody>
      </p:sp>
      <p:sp>
        <p:nvSpPr>
          <p:cNvPr id="1310" name="Google Shape;1310;p33"/>
          <p:cNvSpPr txBox="1"/>
          <p:nvPr/>
        </p:nvSpPr>
        <p:spPr>
          <a:xfrm>
            <a:off x="630936" y="3630168"/>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700"/>
              <a:buFont typeface="Calibri"/>
              <a:buNone/>
            </a:pPr>
            <a:r>
              <a:t/>
            </a:r>
            <a:endParaRPr b="0" i="0" sz="700" u="none" cap="none" strike="noStrike">
              <a:solidFill>
                <a:schemeClr val="dk1"/>
              </a:solidFill>
              <a:latin typeface="Calibri"/>
              <a:ea typeface="Calibri"/>
              <a:cs typeface="Calibri"/>
              <a:sym typeface="Calibri"/>
            </a:endParaRPr>
          </a:p>
        </p:txBody>
      </p:sp>
      <p:sp>
        <p:nvSpPr>
          <p:cNvPr id="1311" name="Google Shape;1311;p33"/>
          <p:cNvSpPr txBox="1"/>
          <p:nvPr/>
        </p:nvSpPr>
        <p:spPr>
          <a:xfrm>
            <a:off x="630936" y="3750869"/>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700"/>
              <a:buFont typeface="Courier New"/>
              <a:buNone/>
            </a:pPr>
            <a:r>
              <a:rPr b="0" i="0" lang="en-US" sz="700" u="none" cap="none" strike="noStrike">
                <a:solidFill>
                  <a:srgbClr val="E9DFFF"/>
                </a:solidFill>
                <a:latin typeface="Courier New"/>
                <a:ea typeface="Courier New"/>
                <a:cs typeface="Courier New"/>
                <a:sym typeface="Courier New"/>
              </a:rPr>
              <a:t>## Refactor</a:t>
            </a:r>
            <a:endParaRPr b="0" i="0" sz="700" u="none" cap="none" strike="noStrike">
              <a:solidFill>
                <a:schemeClr val="dk1"/>
              </a:solidFill>
              <a:latin typeface="Calibri"/>
              <a:ea typeface="Calibri"/>
              <a:cs typeface="Calibri"/>
              <a:sym typeface="Calibri"/>
            </a:endParaRPr>
          </a:p>
        </p:txBody>
      </p:sp>
      <p:sp>
        <p:nvSpPr>
          <p:cNvPr id="1312" name="Google Shape;1312;p33"/>
          <p:cNvSpPr txBox="1"/>
          <p:nvPr/>
        </p:nvSpPr>
        <p:spPr>
          <a:xfrm>
            <a:off x="630936" y="3871570"/>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00"/>
              <a:buFont typeface="Courier New"/>
              <a:buNone/>
            </a:pPr>
            <a:r>
              <a:rPr b="0" i="0" lang="en-US" sz="700" u="none" cap="none" strike="noStrike">
                <a:solidFill>
                  <a:srgbClr val="5EE9B5"/>
                </a:solidFill>
                <a:latin typeface="Courier New"/>
                <a:ea typeface="Courier New"/>
                <a:cs typeface="Courier New"/>
                <a:sym typeface="Courier New"/>
              </a:rPr>
              <a:t>- accepted=True after 2 iteration(s)</a:t>
            </a:r>
            <a:endParaRPr b="0" i="0" sz="700" u="none" cap="none" strike="noStrike">
              <a:solidFill>
                <a:schemeClr val="dk1"/>
              </a:solidFill>
              <a:latin typeface="Calibri"/>
              <a:ea typeface="Calibri"/>
              <a:cs typeface="Calibri"/>
              <a:sym typeface="Calibri"/>
            </a:endParaRPr>
          </a:p>
        </p:txBody>
      </p:sp>
      <p:sp>
        <p:nvSpPr>
          <p:cNvPr id="1313" name="Google Shape;1313;p33"/>
          <p:cNvSpPr txBox="1"/>
          <p:nvPr/>
        </p:nvSpPr>
        <p:spPr>
          <a:xfrm>
            <a:off x="630936" y="3992270"/>
            <a:ext cx="4453128" cy="12070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700"/>
              <a:buFont typeface="Courier New"/>
              <a:buNone/>
            </a:pPr>
            <a:r>
              <a:rPr b="0" i="0" lang="en-US" sz="700" u="none" cap="none" strike="noStrike">
                <a:solidFill>
                  <a:srgbClr val="5EE9B5"/>
                </a:solidFill>
                <a:latin typeface="Courier New"/>
                <a:ea typeface="Courier New"/>
                <a:cs typeface="Courier New"/>
                <a:sym typeface="Courier New"/>
              </a:rPr>
              <a:t>- wrote checkout_refactored.py</a:t>
            </a:r>
            <a:endParaRPr b="0" i="0" sz="700" u="none" cap="none" strike="noStrike">
              <a:solidFill>
                <a:schemeClr val="dk1"/>
              </a:solidFill>
              <a:latin typeface="Calibri"/>
              <a:ea typeface="Calibri"/>
              <a:cs typeface="Calibri"/>
              <a:sym typeface="Calibri"/>
            </a:endParaRPr>
          </a:p>
        </p:txBody>
      </p:sp>
      <p:sp>
        <p:nvSpPr>
          <p:cNvPr id="1314" name="Google Shape;1314;p33"/>
          <p:cNvSpPr/>
          <p:nvPr/>
        </p:nvSpPr>
        <p:spPr>
          <a:xfrm>
            <a:off x="5358384" y="2322576"/>
            <a:ext cx="3282696" cy="859536"/>
          </a:xfrm>
          <a:prstGeom prst="roundRect">
            <a:avLst>
              <a:gd fmla="val 9574"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 name="Google Shape;1315;p33"/>
          <p:cNvSpPr txBox="1"/>
          <p:nvPr/>
        </p:nvSpPr>
        <p:spPr>
          <a:xfrm>
            <a:off x="5522976" y="2395728"/>
            <a:ext cx="29718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E9B5"/>
              </a:buClr>
              <a:buSzPts val="800"/>
              <a:buFont typeface="Courier New"/>
              <a:buNone/>
            </a:pPr>
            <a:r>
              <a:rPr b="0" i="0" lang="en-US" sz="800" u="none" cap="none" strike="noStrike">
                <a:solidFill>
                  <a:srgbClr val="5EE9B5"/>
                </a:solidFill>
                <a:latin typeface="Courier New"/>
                <a:ea typeface="Courier New"/>
                <a:cs typeface="Courier New"/>
                <a:sym typeface="Courier New"/>
              </a:rPr>
              <a:t>TAKE IT HOME</a:t>
            </a:r>
            <a:endParaRPr b="0" i="0" sz="800" u="none" cap="none" strike="noStrike">
              <a:solidFill>
                <a:schemeClr val="dk1"/>
              </a:solidFill>
              <a:latin typeface="Calibri"/>
              <a:ea typeface="Calibri"/>
              <a:cs typeface="Calibri"/>
              <a:sym typeface="Calibri"/>
            </a:endParaRPr>
          </a:p>
        </p:txBody>
      </p:sp>
      <p:sp>
        <p:nvSpPr>
          <p:cNvPr id="1316" name="Google Shape;1316;p33"/>
          <p:cNvSpPr txBox="1"/>
          <p:nvPr/>
        </p:nvSpPr>
        <p:spPr>
          <a:xfrm>
            <a:off x="5522976" y="2578608"/>
            <a:ext cx="2971800" cy="310896"/>
          </a:xfrm>
          <a:prstGeom prst="rect">
            <a:avLst/>
          </a:prstGeom>
          <a:noFill/>
          <a:ln>
            <a:noFill/>
          </a:ln>
        </p:spPr>
        <p:txBody>
          <a:bodyPr anchorCtr="0" anchor="ctr" bIns="0" lIns="0" spcFirstLastPara="1" rIns="0" wrap="square" tIns="0">
            <a:noAutofit/>
          </a:bodyPr>
          <a:lstStyle/>
          <a:p>
            <a:pPr indent="0" lvl="0" marL="0" marR="0" rtl="0" algn="l">
              <a:lnSpc>
                <a:spcPct val="137500"/>
              </a:lnSpc>
              <a:spcBef>
                <a:spcPts val="0"/>
              </a:spcBef>
              <a:spcAft>
                <a:spcPts val="0"/>
              </a:spcAft>
              <a:buClr>
                <a:srgbClr val="E9DFFF"/>
              </a:buClr>
              <a:buSzPts val="800"/>
              <a:buFont typeface="Courier New"/>
              <a:buNone/>
            </a:pPr>
            <a:r>
              <a:rPr b="0" i="0" lang="en-US" sz="800" u="none" cap="none" strike="noStrike">
                <a:solidFill>
                  <a:srgbClr val="E9DFFF"/>
                </a:solidFill>
                <a:latin typeface="Courier New"/>
                <a:ea typeface="Courier New"/>
                <a:cs typeface="Courier New"/>
                <a:sym typeface="Courier New"/>
              </a:rPr>
              <a:t>pip install -e ./debtbuster</a:t>
            </a:r>
            <a:endParaRPr b="0" i="0" sz="800" u="none" cap="none" strike="noStrike">
              <a:solidFill>
                <a:schemeClr val="dk1"/>
              </a:solidFill>
              <a:latin typeface="Calibri"/>
              <a:ea typeface="Calibri"/>
              <a:cs typeface="Calibri"/>
              <a:sym typeface="Calibri"/>
            </a:endParaRPr>
          </a:p>
          <a:p>
            <a:pPr indent="0" lvl="0" marL="0" marR="0" rtl="0" algn="l">
              <a:lnSpc>
                <a:spcPct val="137500"/>
              </a:lnSpc>
              <a:spcBef>
                <a:spcPts val="0"/>
              </a:spcBef>
              <a:spcAft>
                <a:spcPts val="0"/>
              </a:spcAft>
              <a:buClr>
                <a:srgbClr val="E9DFFF"/>
              </a:buClr>
              <a:buSzPts val="800"/>
              <a:buFont typeface="Courier New"/>
              <a:buNone/>
            </a:pPr>
            <a:r>
              <a:rPr b="0" i="0" lang="en-US" sz="800" u="none" cap="none" strike="noStrike">
                <a:solidFill>
                  <a:srgbClr val="E9DFFF"/>
                </a:solidFill>
                <a:latin typeface="Courier New"/>
                <a:ea typeface="Courier New"/>
                <a:cs typeface="Courier New"/>
                <a:sym typeface="Courier New"/>
              </a:rPr>
              <a:t>debtbuster fix path.py --tests tests.py</a:t>
            </a:r>
            <a:endParaRPr b="0" i="0" sz="800" u="none" cap="none" strike="noStrike">
              <a:solidFill>
                <a:schemeClr val="dk1"/>
              </a:solidFill>
              <a:latin typeface="Calibri"/>
              <a:ea typeface="Calibri"/>
              <a:cs typeface="Calibri"/>
              <a:sym typeface="Calibri"/>
            </a:endParaRPr>
          </a:p>
        </p:txBody>
      </p:sp>
      <p:sp>
        <p:nvSpPr>
          <p:cNvPr id="1317" name="Google Shape;1317;p33"/>
          <p:cNvSpPr txBox="1"/>
          <p:nvPr/>
        </p:nvSpPr>
        <p:spPr>
          <a:xfrm>
            <a:off x="5522976" y="2889504"/>
            <a:ext cx="2971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Six files, exactly one of which can hallucinate. Exit code 1 when the gate rejects.</a:t>
            </a:r>
            <a:endParaRPr b="0" i="0" sz="850" u="none" cap="none" strike="noStrike">
              <a:solidFill>
                <a:schemeClr val="dk1"/>
              </a:solidFill>
              <a:latin typeface="Calibri"/>
              <a:ea typeface="Calibri"/>
              <a:cs typeface="Calibri"/>
              <a:sym typeface="Calibri"/>
            </a:endParaRPr>
          </a:p>
        </p:txBody>
      </p:sp>
      <p:sp>
        <p:nvSpPr>
          <p:cNvPr id="1318" name="Google Shape;1318;p33"/>
          <p:cNvSpPr/>
          <p:nvPr/>
        </p:nvSpPr>
        <p:spPr>
          <a:xfrm>
            <a:off x="5358384" y="3273552"/>
            <a:ext cx="3282696" cy="859536"/>
          </a:xfrm>
          <a:prstGeom prst="roundRect">
            <a:avLst>
              <a:gd fmla="val 9574" name="adj"/>
            </a:avLst>
          </a:prstGeom>
          <a:solidFill>
            <a:srgbClr val="1E1230"/>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33"/>
          <p:cNvSpPr txBox="1"/>
          <p:nvPr/>
        </p:nvSpPr>
        <p:spPr>
          <a:xfrm>
            <a:off x="5522976" y="3364992"/>
            <a:ext cx="29718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B7185"/>
              </a:buClr>
              <a:buSzPts val="750"/>
              <a:buFont typeface="Courier New"/>
              <a:buNone/>
            </a:pPr>
            <a:r>
              <a:rPr b="0" i="0" lang="en-US" sz="750" u="none" cap="none" strike="noStrike">
                <a:solidFill>
                  <a:srgbClr val="FB7185"/>
                </a:solidFill>
                <a:latin typeface="Courier New"/>
                <a:ea typeface="Courier New"/>
                <a:cs typeface="Courier New"/>
                <a:sym typeface="Courier New"/>
              </a:rPr>
              <a:t>THE ONE THING PEOPLE GET WRONG</a:t>
            </a:r>
            <a:endParaRPr b="0" i="0" sz="750" u="none" cap="none" strike="noStrike">
              <a:solidFill>
                <a:schemeClr val="dk1"/>
              </a:solidFill>
              <a:latin typeface="Calibri"/>
              <a:ea typeface="Calibri"/>
              <a:cs typeface="Calibri"/>
              <a:sym typeface="Calibri"/>
            </a:endParaRPr>
          </a:p>
        </p:txBody>
      </p:sp>
      <p:sp>
        <p:nvSpPr>
          <p:cNvPr id="1320" name="Google Shape;1320;p33"/>
          <p:cNvSpPr txBox="1"/>
          <p:nvPr/>
        </p:nvSpPr>
        <p:spPr>
          <a:xfrm>
            <a:off x="5522976" y="3566160"/>
            <a:ext cx="297180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900"/>
              <a:buFont typeface="Calibri"/>
              <a:buNone/>
            </a:pPr>
            <a:r>
              <a:rPr b="0" i="0" lang="en-US" sz="900" u="none" cap="none" strike="noStrike">
                <a:solidFill>
                  <a:srgbClr val="D8CDEE"/>
                </a:solidFill>
                <a:latin typeface="Calibri"/>
                <a:ea typeface="Calibri"/>
                <a:cs typeface="Calibri"/>
                <a:sym typeface="Calibri"/>
              </a:rPr>
              <a:t>Point run_workflow at your own module and it will happily use test_checkout.py. Use YOUR repo's tests — the gate is only as good as the contract behind it.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B3D"/>
        </a:solidFill>
      </p:bgPr>
    </p:bg>
    <p:spTree>
      <p:nvGrpSpPr>
        <p:cNvPr id="1325" name="Shape 1325"/>
        <p:cNvGrpSpPr/>
        <p:nvPr/>
      </p:nvGrpSpPr>
      <p:grpSpPr>
        <a:xfrm>
          <a:off x="0" y="0"/>
          <a:ext cx="0" cy="0"/>
          <a:chOff x="0" y="0"/>
          <a:chExt cx="0" cy="0"/>
        </a:xfrm>
      </p:grpSpPr>
      <p:sp>
        <p:nvSpPr>
          <p:cNvPr id="1326" name="Google Shape;1326;p34"/>
          <p:cNvSpPr txBox="1"/>
          <p:nvPr/>
        </p:nvSpPr>
        <p:spPr>
          <a:xfrm>
            <a:off x="502920" y="274320"/>
            <a:ext cx="81381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1050"/>
              <a:buFont typeface="Courier New"/>
              <a:buNone/>
            </a:pPr>
            <a:r>
              <a:rPr b="0" i="0" lang="en-US" sz="1050" u="none" cap="none" strike="noStrike">
                <a:solidFill>
                  <a:srgbClr val="A78BFA"/>
                </a:solidFill>
                <a:latin typeface="Courier New"/>
                <a:ea typeface="Courier New"/>
                <a:cs typeface="Courier New"/>
                <a:sym typeface="Courier New"/>
              </a:rPr>
              <a:t>WRAP-UP</a:t>
            </a:r>
            <a:endParaRPr b="0" i="0" sz="1050" u="none" cap="none" strike="noStrike">
              <a:solidFill>
                <a:schemeClr val="dk1"/>
              </a:solidFill>
              <a:latin typeface="Calibri"/>
              <a:ea typeface="Calibri"/>
              <a:cs typeface="Calibri"/>
              <a:sym typeface="Calibri"/>
            </a:endParaRPr>
          </a:p>
        </p:txBody>
      </p:sp>
      <p:sp>
        <p:nvSpPr>
          <p:cNvPr id="1327" name="Google Shape;1327;p34"/>
          <p:cNvSpPr txBox="1"/>
          <p:nvPr/>
        </p:nvSpPr>
        <p:spPr>
          <a:xfrm>
            <a:off x="502920" y="530352"/>
            <a:ext cx="81381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700"/>
              <a:buFont typeface="Cambria"/>
              <a:buNone/>
            </a:pPr>
            <a:r>
              <a:rPr b="1" i="0" lang="en-US" sz="2700" u="none" cap="none" strike="noStrike">
                <a:solidFill>
                  <a:srgbClr val="FFFFFF"/>
                </a:solidFill>
                <a:latin typeface="Cambria"/>
                <a:ea typeface="Cambria"/>
                <a:cs typeface="Cambria"/>
                <a:sym typeface="Cambria"/>
              </a:rPr>
              <a:t>What you built today</a:t>
            </a:r>
            <a:endParaRPr b="0" i="0" sz="2700" u="none" cap="none" strike="noStrike">
              <a:solidFill>
                <a:schemeClr val="dk1"/>
              </a:solidFill>
              <a:latin typeface="Calibri"/>
              <a:ea typeface="Calibri"/>
              <a:cs typeface="Calibri"/>
              <a:sym typeface="Calibri"/>
            </a:endParaRPr>
          </a:p>
        </p:txBody>
      </p:sp>
      <p:sp>
        <p:nvSpPr>
          <p:cNvPr id="1328" name="Google Shape;1328;p34">
            <a:hlinkClick action="ppaction://hlinksldjump" r:id="rId3"/>
          </p:cNvPr>
          <p:cNvSpPr txBox="1"/>
          <p:nvPr/>
        </p:nvSpPr>
        <p:spPr>
          <a:xfrm>
            <a:off x="7635240" y="274320"/>
            <a:ext cx="10058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BA9DE"/>
              </a:buClr>
              <a:buSzPts val="850"/>
              <a:buFont typeface="Courier New"/>
              <a:buNone/>
            </a:pPr>
            <a:r>
              <a:rPr b="0" i="0" lang="en-US" sz="850" u="sng" cap="none" strike="noStrike">
                <a:solidFill>
                  <a:schemeClr val="hlink"/>
                </a:solidFill>
                <a:latin typeface="Courier New"/>
                <a:ea typeface="Courier New"/>
                <a:cs typeface="Courier New"/>
                <a:sym typeface="Courier New"/>
                <a:hlinkClick action="ppaction://hlinksldjump" r:id="rId4"/>
              </a:rPr>
              <a:t>AGENDA  ↑</a:t>
            </a:r>
            <a:endParaRPr b="0" i="0" sz="850" u="none" cap="none" strike="noStrike">
              <a:solidFill>
                <a:schemeClr val="dk1"/>
              </a:solidFill>
              <a:latin typeface="Calibri"/>
              <a:ea typeface="Calibri"/>
              <a:cs typeface="Calibri"/>
              <a:sym typeface="Calibri"/>
            </a:endParaRPr>
          </a:p>
        </p:txBody>
      </p:sp>
      <p:sp>
        <p:nvSpPr>
          <p:cNvPr id="1329" name="Google Shape;1329;p34"/>
          <p:cNvSpPr/>
          <p:nvPr/>
        </p:nvSpPr>
        <p:spPr>
          <a:xfrm>
            <a:off x="502920" y="1133856"/>
            <a:ext cx="4709160" cy="402336"/>
          </a:xfrm>
          <a:prstGeom prst="roundRect">
            <a:avLst>
              <a:gd fmla="val 20455"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34"/>
          <p:cNvSpPr/>
          <p:nvPr/>
        </p:nvSpPr>
        <p:spPr>
          <a:xfrm>
            <a:off x="612648" y="1216152"/>
            <a:ext cx="237744" cy="237744"/>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34"/>
          <p:cNvSpPr txBox="1"/>
          <p:nvPr/>
        </p:nvSpPr>
        <p:spPr>
          <a:xfrm>
            <a:off x="612648" y="1216152"/>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1</a:t>
            </a:r>
            <a:endParaRPr b="0" i="0" sz="900" u="none" cap="none" strike="noStrike">
              <a:solidFill>
                <a:schemeClr val="dk1"/>
              </a:solidFill>
              <a:latin typeface="Calibri"/>
              <a:ea typeface="Calibri"/>
              <a:cs typeface="Calibri"/>
              <a:sym typeface="Calibri"/>
            </a:endParaRPr>
          </a:p>
        </p:txBody>
      </p:sp>
      <p:sp>
        <p:nvSpPr>
          <p:cNvPr id="1332" name="Google Shape;1332;p34"/>
          <p:cNvSpPr txBox="1"/>
          <p:nvPr/>
        </p:nvSpPr>
        <p:spPr>
          <a:xfrm>
            <a:off x="941832" y="1133856"/>
            <a:ext cx="41605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0" i="0" lang="en-US" sz="1100" u="none" cap="none" strike="noStrike">
                <a:solidFill>
                  <a:srgbClr val="FFFFFF"/>
                </a:solidFill>
                <a:latin typeface="Calibri"/>
                <a:ea typeface="Calibri"/>
                <a:cs typeface="Calibri"/>
                <a:sym typeface="Calibri"/>
              </a:rPr>
              <a:t>Tools measure. The LLM interprets. A gate decides.</a:t>
            </a:r>
            <a:endParaRPr b="0" i="0" sz="1100" u="none" cap="none" strike="noStrike">
              <a:solidFill>
                <a:schemeClr val="dk1"/>
              </a:solidFill>
              <a:latin typeface="Calibri"/>
              <a:ea typeface="Calibri"/>
              <a:cs typeface="Calibri"/>
              <a:sym typeface="Calibri"/>
            </a:endParaRPr>
          </a:p>
        </p:txBody>
      </p:sp>
      <p:sp>
        <p:nvSpPr>
          <p:cNvPr id="1333" name="Google Shape;1333;p34"/>
          <p:cNvSpPr/>
          <p:nvPr/>
        </p:nvSpPr>
        <p:spPr>
          <a:xfrm>
            <a:off x="502920" y="1591056"/>
            <a:ext cx="4709160" cy="402336"/>
          </a:xfrm>
          <a:prstGeom prst="roundRect">
            <a:avLst>
              <a:gd fmla="val 20455"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34"/>
          <p:cNvSpPr/>
          <p:nvPr/>
        </p:nvSpPr>
        <p:spPr>
          <a:xfrm>
            <a:off x="612648" y="1673352"/>
            <a:ext cx="237744" cy="237744"/>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 name="Google Shape;1335;p34"/>
          <p:cNvSpPr txBox="1"/>
          <p:nvPr/>
        </p:nvSpPr>
        <p:spPr>
          <a:xfrm>
            <a:off x="612648" y="1673352"/>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2</a:t>
            </a:r>
            <a:endParaRPr b="0" i="0" sz="900" u="none" cap="none" strike="noStrike">
              <a:solidFill>
                <a:schemeClr val="dk1"/>
              </a:solidFill>
              <a:latin typeface="Calibri"/>
              <a:ea typeface="Calibri"/>
              <a:cs typeface="Calibri"/>
              <a:sym typeface="Calibri"/>
            </a:endParaRPr>
          </a:p>
        </p:txBody>
      </p:sp>
      <p:sp>
        <p:nvSpPr>
          <p:cNvPr id="1336" name="Google Shape;1336;p34"/>
          <p:cNvSpPr txBox="1"/>
          <p:nvPr/>
        </p:nvSpPr>
        <p:spPr>
          <a:xfrm>
            <a:off x="941832" y="1591056"/>
            <a:ext cx="41605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0" i="0" lang="en-US" sz="1100" u="none" cap="none" strike="noStrike">
                <a:solidFill>
                  <a:srgbClr val="FFFFFF"/>
                </a:solidFill>
                <a:latin typeface="Calibri"/>
                <a:ea typeface="Calibri"/>
                <a:cs typeface="Calibri"/>
                <a:sym typeface="Calibri"/>
              </a:rPr>
              <a:t>The thing that can hallucinate must not certify that it did not.</a:t>
            </a:r>
            <a:endParaRPr b="0" i="0" sz="1100" u="none" cap="none" strike="noStrike">
              <a:solidFill>
                <a:schemeClr val="dk1"/>
              </a:solidFill>
              <a:latin typeface="Calibri"/>
              <a:ea typeface="Calibri"/>
              <a:cs typeface="Calibri"/>
              <a:sym typeface="Calibri"/>
            </a:endParaRPr>
          </a:p>
        </p:txBody>
      </p:sp>
      <p:sp>
        <p:nvSpPr>
          <p:cNvPr id="1337" name="Google Shape;1337;p34"/>
          <p:cNvSpPr/>
          <p:nvPr/>
        </p:nvSpPr>
        <p:spPr>
          <a:xfrm>
            <a:off x="502920" y="2048256"/>
            <a:ext cx="4709160" cy="402336"/>
          </a:xfrm>
          <a:prstGeom prst="roundRect">
            <a:avLst>
              <a:gd fmla="val 20455" name="adj"/>
            </a:avLst>
          </a:prstGeom>
          <a:solidFill>
            <a:srgbClr val="3D2A5C"/>
          </a:solidFill>
          <a:ln cap="flat" cmpd="sng" w="12700">
            <a:solidFill>
              <a:srgbClr val="3D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34"/>
          <p:cNvSpPr/>
          <p:nvPr/>
        </p:nvSpPr>
        <p:spPr>
          <a:xfrm>
            <a:off x="612648" y="2130552"/>
            <a:ext cx="237744" cy="237744"/>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34"/>
          <p:cNvSpPr txBox="1"/>
          <p:nvPr/>
        </p:nvSpPr>
        <p:spPr>
          <a:xfrm>
            <a:off x="612648" y="2130552"/>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900"/>
              <a:buFont typeface="Courier New"/>
              <a:buNone/>
            </a:pPr>
            <a:r>
              <a:rPr b="1" i="0" lang="en-US" sz="900" u="none" cap="none" strike="noStrike">
                <a:solidFill>
                  <a:srgbClr val="2A1B3D"/>
                </a:solidFill>
                <a:latin typeface="Courier New"/>
                <a:ea typeface="Courier New"/>
                <a:cs typeface="Courier New"/>
                <a:sym typeface="Courier New"/>
              </a:rPr>
              <a:t>3</a:t>
            </a:r>
            <a:endParaRPr b="0" i="0" sz="900" u="none" cap="none" strike="noStrike">
              <a:solidFill>
                <a:schemeClr val="dk1"/>
              </a:solidFill>
              <a:latin typeface="Calibri"/>
              <a:ea typeface="Calibri"/>
              <a:cs typeface="Calibri"/>
              <a:sym typeface="Calibri"/>
            </a:endParaRPr>
          </a:p>
        </p:txBody>
      </p:sp>
      <p:sp>
        <p:nvSpPr>
          <p:cNvPr id="1340" name="Google Shape;1340;p34"/>
          <p:cNvSpPr txBox="1"/>
          <p:nvPr/>
        </p:nvSpPr>
        <p:spPr>
          <a:xfrm>
            <a:off x="941832" y="2048256"/>
            <a:ext cx="41605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0" i="0" lang="en-US" sz="1100" u="none" cap="none" strike="noStrike">
                <a:solidFill>
                  <a:srgbClr val="FFFFFF"/>
                </a:solidFill>
                <a:latin typeface="Calibri"/>
                <a:ea typeface="Calibri"/>
                <a:cs typeface="Calibri"/>
                <a:sym typeface="Calibri"/>
              </a:rPr>
              <a:t>Capability grows through tools and verification — not bigger models.</a:t>
            </a:r>
            <a:endParaRPr b="0" i="0" sz="1100" u="none" cap="none" strike="noStrike">
              <a:solidFill>
                <a:schemeClr val="dk1"/>
              </a:solidFill>
              <a:latin typeface="Calibri"/>
              <a:ea typeface="Calibri"/>
              <a:cs typeface="Calibri"/>
              <a:sym typeface="Calibri"/>
            </a:endParaRPr>
          </a:p>
        </p:txBody>
      </p:sp>
      <p:sp>
        <p:nvSpPr>
          <p:cNvPr id="1341" name="Google Shape;1341;p34"/>
          <p:cNvSpPr/>
          <p:nvPr/>
        </p:nvSpPr>
        <p:spPr>
          <a:xfrm>
            <a:off x="5358384" y="1133856"/>
            <a:ext cx="3282696" cy="1316736"/>
          </a:xfrm>
          <a:prstGeom prst="roundRect">
            <a:avLst>
              <a:gd fmla="val 6250" name="adj"/>
            </a:avLst>
          </a:prstGeom>
          <a:solidFill>
            <a:srgbClr val="34234F"/>
          </a:solidFill>
          <a:ln cap="flat" cmpd="sng" w="12700">
            <a:solidFill>
              <a:srgbClr val="3423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34"/>
          <p:cNvSpPr txBox="1"/>
          <p:nvPr/>
        </p:nvSpPr>
        <p:spPr>
          <a:xfrm>
            <a:off x="5504688" y="1225296"/>
            <a:ext cx="141732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WHEN YOU WANT…</a:t>
            </a:r>
            <a:endParaRPr b="0" i="0" sz="750" u="none" cap="none" strike="noStrike">
              <a:solidFill>
                <a:schemeClr val="dk1"/>
              </a:solidFill>
              <a:latin typeface="Calibri"/>
              <a:ea typeface="Calibri"/>
              <a:cs typeface="Calibri"/>
              <a:sym typeface="Calibri"/>
            </a:endParaRPr>
          </a:p>
        </p:txBody>
      </p:sp>
      <p:sp>
        <p:nvSpPr>
          <p:cNvPr id="1343" name="Google Shape;1343;p34"/>
          <p:cNvSpPr txBox="1"/>
          <p:nvPr/>
        </p:nvSpPr>
        <p:spPr>
          <a:xfrm>
            <a:off x="6995160" y="1225296"/>
            <a:ext cx="150876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78BFA"/>
              </a:buClr>
              <a:buSzPts val="750"/>
              <a:buFont typeface="Courier New"/>
              <a:buNone/>
            </a:pPr>
            <a:r>
              <a:rPr b="0" i="0" lang="en-US" sz="750" u="none" cap="none" strike="noStrike">
                <a:solidFill>
                  <a:srgbClr val="A78BFA"/>
                </a:solidFill>
                <a:latin typeface="Courier New"/>
                <a:ea typeface="Courier New"/>
                <a:cs typeface="Courier New"/>
                <a:sym typeface="Courier New"/>
              </a:rPr>
              <a:t>USE</a:t>
            </a:r>
            <a:endParaRPr b="0" i="0" sz="750" u="none" cap="none" strike="noStrike">
              <a:solidFill>
                <a:schemeClr val="dk1"/>
              </a:solidFill>
              <a:latin typeface="Calibri"/>
              <a:ea typeface="Calibri"/>
              <a:cs typeface="Calibri"/>
              <a:sym typeface="Calibri"/>
            </a:endParaRPr>
          </a:p>
        </p:txBody>
      </p:sp>
      <p:sp>
        <p:nvSpPr>
          <p:cNvPr id="1344" name="Google Shape;1344;p34"/>
          <p:cNvSpPr txBox="1"/>
          <p:nvPr/>
        </p:nvSpPr>
        <p:spPr>
          <a:xfrm>
            <a:off x="5504688" y="1444752"/>
            <a:ext cx="14630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to understand the loop</a:t>
            </a:r>
            <a:endParaRPr b="0" i="0" sz="850" u="none" cap="none" strike="noStrike">
              <a:solidFill>
                <a:schemeClr val="dk1"/>
              </a:solidFill>
              <a:latin typeface="Calibri"/>
              <a:ea typeface="Calibri"/>
              <a:cs typeface="Calibri"/>
              <a:sym typeface="Calibri"/>
            </a:endParaRPr>
          </a:p>
        </p:txBody>
      </p:sp>
      <p:sp>
        <p:nvSpPr>
          <p:cNvPr id="1345" name="Google Shape;1345;p34"/>
          <p:cNvSpPr txBox="1"/>
          <p:nvPr/>
        </p:nvSpPr>
        <p:spPr>
          <a:xfrm>
            <a:off x="6995160" y="1444752"/>
            <a:ext cx="15087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50"/>
              <a:buFont typeface="Courier New"/>
              <a:buNone/>
            </a:pPr>
            <a:r>
              <a:rPr b="0" i="0" lang="en-US" sz="850" u="none" cap="none" strike="noStrike">
                <a:solidFill>
                  <a:srgbClr val="E9DFFF"/>
                </a:solidFill>
                <a:latin typeface="Courier New"/>
                <a:ea typeface="Courier New"/>
                <a:cs typeface="Courier New"/>
                <a:sym typeface="Courier New"/>
              </a:rPr>
              <a:t>hand-rolled Agent + blackboard</a:t>
            </a:r>
            <a:endParaRPr b="0" i="0" sz="850" u="none" cap="none" strike="noStrike">
              <a:solidFill>
                <a:schemeClr val="dk1"/>
              </a:solidFill>
              <a:latin typeface="Calibri"/>
              <a:ea typeface="Calibri"/>
              <a:cs typeface="Calibri"/>
              <a:sym typeface="Calibri"/>
            </a:endParaRPr>
          </a:p>
        </p:txBody>
      </p:sp>
      <p:sp>
        <p:nvSpPr>
          <p:cNvPr id="1346" name="Google Shape;1346;p34"/>
          <p:cNvSpPr txBox="1"/>
          <p:nvPr/>
        </p:nvSpPr>
        <p:spPr>
          <a:xfrm>
            <a:off x="5504688" y="1682496"/>
            <a:ext cx="14630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the same loop, typed retries</a:t>
            </a:r>
            <a:endParaRPr b="0" i="0" sz="850" u="none" cap="none" strike="noStrike">
              <a:solidFill>
                <a:schemeClr val="dk1"/>
              </a:solidFill>
              <a:latin typeface="Calibri"/>
              <a:ea typeface="Calibri"/>
              <a:cs typeface="Calibri"/>
              <a:sym typeface="Calibri"/>
            </a:endParaRPr>
          </a:p>
        </p:txBody>
      </p:sp>
      <p:sp>
        <p:nvSpPr>
          <p:cNvPr id="1347" name="Google Shape;1347;p34"/>
          <p:cNvSpPr txBox="1"/>
          <p:nvPr/>
        </p:nvSpPr>
        <p:spPr>
          <a:xfrm>
            <a:off x="6995160" y="1682496"/>
            <a:ext cx="15087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50"/>
              <a:buFont typeface="Courier New"/>
              <a:buNone/>
            </a:pPr>
            <a:r>
              <a:rPr b="0" i="0" lang="en-US" sz="850" u="none" cap="none" strike="noStrike">
                <a:solidFill>
                  <a:srgbClr val="E9DFFF"/>
                </a:solidFill>
                <a:latin typeface="Courier New"/>
                <a:ea typeface="Courier New"/>
                <a:cs typeface="Courier New"/>
                <a:sym typeface="Courier New"/>
              </a:rPr>
              <a:t>LangGraph StateGraph</a:t>
            </a:r>
            <a:endParaRPr b="0" i="0" sz="850" u="none" cap="none" strike="noStrike">
              <a:solidFill>
                <a:schemeClr val="dk1"/>
              </a:solidFill>
              <a:latin typeface="Calibri"/>
              <a:ea typeface="Calibri"/>
              <a:cs typeface="Calibri"/>
              <a:sym typeface="Calibri"/>
            </a:endParaRPr>
          </a:p>
        </p:txBody>
      </p:sp>
      <p:sp>
        <p:nvSpPr>
          <p:cNvPr id="1348" name="Google Shape;1348;p34"/>
          <p:cNvSpPr txBox="1"/>
          <p:nvPr/>
        </p:nvSpPr>
        <p:spPr>
          <a:xfrm>
            <a:off x="5504688" y="1920240"/>
            <a:ext cx="14630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planning, files, specialists</a:t>
            </a:r>
            <a:endParaRPr b="0" i="0" sz="850" u="none" cap="none" strike="noStrike">
              <a:solidFill>
                <a:schemeClr val="dk1"/>
              </a:solidFill>
              <a:latin typeface="Calibri"/>
              <a:ea typeface="Calibri"/>
              <a:cs typeface="Calibri"/>
              <a:sym typeface="Calibri"/>
            </a:endParaRPr>
          </a:p>
        </p:txBody>
      </p:sp>
      <p:sp>
        <p:nvSpPr>
          <p:cNvPr id="1349" name="Google Shape;1349;p34"/>
          <p:cNvSpPr txBox="1"/>
          <p:nvPr/>
        </p:nvSpPr>
        <p:spPr>
          <a:xfrm>
            <a:off x="6995160" y="1920240"/>
            <a:ext cx="15087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50"/>
              <a:buFont typeface="Courier New"/>
              <a:buNone/>
            </a:pPr>
            <a:r>
              <a:rPr b="0" i="0" lang="en-US" sz="850" u="none" cap="none" strike="noStrike">
                <a:solidFill>
                  <a:srgbClr val="E9DFFF"/>
                </a:solidFill>
                <a:latin typeface="Courier New"/>
                <a:ea typeface="Courier New"/>
                <a:cs typeface="Courier New"/>
                <a:sym typeface="Courier New"/>
              </a:rPr>
              <a:t>Deep Agents</a:t>
            </a:r>
            <a:endParaRPr b="0" i="0" sz="850" u="none" cap="none" strike="noStrike">
              <a:solidFill>
                <a:schemeClr val="dk1"/>
              </a:solidFill>
              <a:latin typeface="Calibri"/>
              <a:ea typeface="Calibri"/>
              <a:cs typeface="Calibri"/>
              <a:sym typeface="Calibri"/>
            </a:endParaRPr>
          </a:p>
        </p:txBody>
      </p:sp>
      <p:sp>
        <p:nvSpPr>
          <p:cNvPr id="1350" name="Google Shape;1350;p34"/>
          <p:cNvSpPr txBox="1"/>
          <p:nvPr/>
        </p:nvSpPr>
        <p:spPr>
          <a:xfrm>
            <a:off x="5504688" y="2157984"/>
            <a:ext cx="14630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a CLI you can take home</a:t>
            </a:r>
            <a:endParaRPr b="0" i="0" sz="850" u="none" cap="none" strike="noStrike">
              <a:solidFill>
                <a:schemeClr val="dk1"/>
              </a:solidFill>
              <a:latin typeface="Calibri"/>
              <a:ea typeface="Calibri"/>
              <a:cs typeface="Calibri"/>
              <a:sym typeface="Calibri"/>
            </a:endParaRPr>
          </a:p>
        </p:txBody>
      </p:sp>
      <p:sp>
        <p:nvSpPr>
          <p:cNvPr id="1351" name="Google Shape;1351;p34"/>
          <p:cNvSpPr txBox="1"/>
          <p:nvPr/>
        </p:nvSpPr>
        <p:spPr>
          <a:xfrm>
            <a:off x="6995160" y="2157984"/>
            <a:ext cx="15087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9DFFF"/>
              </a:buClr>
              <a:buSzPts val="850"/>
              <a:buFont typeface="Courier New"/>
              <a:buNone/>
            </a:pPr>
            <a:r>
              <a:rPr b="0" i="0" lang="en-US" sz="850" u="none" cap="none" strike="noStrike">
                <a:solidFill>
                  <a:srgbClr val="E9DFFF"/>
                </a:solidFill>
                <a:latin typeface="Courier New"/>
                <a:ea typeface="Courier New"/>
                <a:cs typeface="Courier New"/>
                <a:sym typeface="Courier New"/>
              </a:rPr>
              <a:t>debtbuster audit / fix</a:t>
            </a:r>
            <a:endParaRPr b="0" i="0" sz="850" u="none" cap="none" strike="noStrike">
              <a:solidFill>
                <a:schemeClr val="dk1"/>
              </a:solidFill>
              <a:latin typeface="Calibri"/>
              <a:ea typeface="Calibri"/>
              <a:cs typeface="Calibri"/>
              <a:sym typeface="Calibri"/>
            </a:endParaRPr>
          </a:p>
        </p:txBody>
      </p:sp>
      <p:sp>
        <p:nvSpPr>
          <p:cNvPr id="1352" name="Google Shape;1352;p34"/>
          <p:cNvSpPr/>
          <p:nvPr/>
        </p:nvSpPr>
        <p:spPr>
          <a:xfrm>
            <a:off x="502920" y="2615184"/>
            <a:ext cx="1924812" cy="1481328"/>
          </a:xfrm>
          <a:prstGeom prst="roundRect">
            <a:avLst>
              <a:gd fmla="val 555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34"/>
          <p:cNvSpPr/>
          <p:nvPr/>
        </p:nvSpPr>
        <p:spPr>
          <a:xfrm>
            <a:off x="649224" y="2761488"/>
            <a:ext cx="365760" cy="365760"/>
          </a:xfrm>
          <a:prstGeom prst="ellipse">
            <a:avLst/>
          </a:prstGeom>
          <a:solidFill>
            <a:srgbClr val="A78BFA"/>
          </a:solidFill>
          <a:ln cap="flat" cmpd="sng" w="12700">
            <a:solidFill>
              <a:srgbClr val="A78B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34"/>
          <p:cNvSpPr txBox="1"/>
          <p:nvPr/>
        </p:nvSpPr>
        <p:spPr>
          <a:xfrm>
            <a:off x="649224" y="276148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55" name="Google Shape;1355;p34"/>
          <p:cNvSpPr txBox="1"/>
          <p:nvPr/>
        </p:nvSpPr>
        <p:spPr>
          <a:xfrm>
            <a:off x="649224" y="3218688"/>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Agents = role + brain + tools + contract</a:t>
            </a:r>
            <a:endParaRPr b="0" i="0" sz="1100" u="none" cap="none" strike="noStrike">
              <a:solidFill>
                <a:schemeClr val="dk1"/>
              </a:solidFill>
              <a:latin typeface="Calibri"/>
              <a:ea typeface="Calibri"/>
              <a:cs typeface="Calibri"/>
              <a:sym typeface="Calibri"/>
            </a:endParaRPr>
          </a:p>
        </p:txBody>
      </p:sp>
      <p:sp>
        <p:nvSpPr>
          <p:cNvPr id="1356" name="Google Shape;1356;p34"/>
          <p:cNvSpPr txBox="1"/>
          <p:nvPr/>
        </p:nvSpPr>
        <p:spPr>
          <a:xfrm>
            <a:off x="649224" y="3621024"/>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No framework magic required. You wrote all four slots before you imported one.</a:t>
            </a:r>
            <a:endParaRPr b="0" i="0" sz="850" u="none" cap="none" strike="noStrike">
              <a:solidFill>
                <a:schemeClr val="dk1"/>
              </a:solidFill>
              <a:latin typeface="Calibri"/>
              <a:ea typeface="Calibri"/>
              <a:cs typeface="Calibri"/>
              <a:sym typeface="Calibri"/>
            </a:endParaRPr>
          </a:p>
        </p:txBody>
      </p:sp>
      <p:sp>
        <p:nvSpPr>
          <p:cNvPr id="1357" name="Google Shape;1357;p34"/>
          <p:cNvSpPr/>
          <p:nvPr/>
        </p:nvSpPr>
        <p:spPr>
          <a:xfrm>
            <a:off x="2574036" y="2615184"/>
            <a:ext cx="1924812" cy="1481328"/>
          </a:xfrm>
          <a:prstGeom prst="roundRect">
            <a:avLst>
              <a:gd fmla="val 555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 name="Google Shape;1358;p34"/>
          <p:cNvSpPr/>
          <p:nvPr/>
        </p:nvSpPr>
        <p:spPr>
          <a:xfrm>
            <a:off x="2720340" y="2761488"/>
            <a:ext cx="365760" cy="365760"/>
          </a:xfrm>
          <a:prstGeom prst="ellipse">
            <a:avLst/>
          </a:prstGeom>
          <a:solidFill>
            <a:srgbClr val="5EE9B5"/>
          </a:solidFill>
          <a:ln cap="flat" cmpd="sng" w="12700">
            <a:solidFill>
              <a:srgbClr val="5EE9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 name="Google Shape;1359;p34"/>
          <p:cNvSpPr txBox="1"/>
          <p:nvPr/>
        </p:nvSpPr>
        <p:spPr>
          <a:xfrm>
            <a:off x="2720340" y="276148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0" name="Google Shape;1360;p34"/>
          <p:cNvSpPr txBox="1"/>
          <p:nvPr/>
        </p:nvSpPr>
        <p:spPr>
          <a:xfrm>
            <a:off x="2720340" y="3218688"/>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Grounding beats guessing</a:t>
            </a:r>
            <a:endParaRPr b="0" i="0" sz="1100" u="none" cap="none" strike="noStrike">
              <a:solidFill>
                <a:schemeClr val="dk1"/>
              </a:solidFill>
              <a:latin typeface="Calibri"/>
              <a:ea typeface="Calibri"/>
              <a:cs typeface="Calibri"/>
              <a:sym typeface="Calibri"/>
            </a:endParaRPr>
          </a:p>
        </p:txBody>
      </p:sp>
      <p:sp>
        <p:nvSpPr>
          <p:cNvPr id="1361" name="Google Shape;1361;p34"/>
          <p:cNvSpPr txBox="1"/>
          <p:nvPr/>
        </p:nvSpPr>
        <p:spPr>
          <a:xfrm>
            <a:off x="2720340" y="3621024"/>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audit() runs the tools first. The model that sees evidence interprets; the model that does not, invents.</a:t>
            </a:r>
            <a:endParaRPr b="0" i="0" sz="850" u="none" cap="none" strike="noStrike">
              <a:solidFill>
                <a:schemeClr val="dk1"/>
              </a:solidFill>
              <a:latin typeface="Calibri"/>
              <a:ea typeface="Calibri"/>
              <a:cs typeface="Calibri"/>
              <a:sym typeface="Calibri"/>
            </a:endParaRPr>
          </a:p>
        </p:txBody>
      </p:sp>
      <p:sp>
        <p:nvSpPr>
          <p:cNvPr id="1362" name="Google Shape;1362;p34"/>
          <p:cNvSpPr/>
          <p:nvPr/>
        </p:nvSpPr>
        <p:spPr>
          <a:xfrm>
            <a:off x="4645152" y="2615184"/>
            <a:ext cx="1924812" cy="1481328"/>
          </a:xfrm>
          <a:prstGeom prst="roundRect">
            <a:avLst>
              <a:gd fmla="val 555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34"/>
          <p:cNvSpPr/>
          <p:nvPr/>
        </p:nvSpPr>
        <p:spPr>
          <a:xfrm>
            <a:off x="4791456" y="2761488"/>
            <a:ext cx="365760" cy="365760"/>
          </a:xfrm>
          <a:prstGeom prst="ellipse">
            <a:avLst/>
          </a:prstGeom>
          <a:solidFill>
            <a:srgbClr val="FBBF24"/>
          </a:solidFill>
          <a:ln cap="flat" cmpd="sng" w="12700">
            <a:solidFill>
              <a:srgbClr val="FBBF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34"/>
          <p:cNvSpPr txBox="1"/>
          <p:nvPr/>
        </p:nvSpPr>
        <p:spPr>
          <a:xfrm>
            <a:off x="4791456" y="276148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5" name="Google Shape;1365;p34"/>
          <p:cNvSpPr txBox="1"/>
          <p:nvPr/>
        </p:nvSpPr>
        <p:spPr>
          <a:xfrm>
            <a:off x="4791456" y="3218688"/>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Verification earns the trust</a:t>
            </a:r>
            <a:endParaRPr b="0" i="0" sz="1100" u="none" cap="none" strike="noStrike">
              <a:solidFill>
                <a:schemeClr val="dk1"/>
              </a:solidFill>
              <a:latin typeface="Calibri"/>
              <a:ea typeface="Calibri"/>
              <a:cs typeface="Calibri"/>
              <a:sym typeface="Calibri"/>
            </a:endParaRPr>
          </a:p>
        </p:txBody>
      </p:sp>
      <p:sp>
        <p:nvSpPr>
          <p:cNvPr id="1366" name="Google Shape;1366;p34"/>
          <p:cNvSpPr txBox="1"/>
          <p:nvPr/>
        </p:nvSpPr>
        <p:spPr>
          <a:xfrm>
            <a:off x="4791456" y="3621024"/>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ast.parse → pytest → Δ complexity, cheapest first. No LLM anywhere inside the gate.</a:t>
            </a:r>
            <a:endParaRPr b="0" i="0" sz="850" u="none" cap="none" strike="noStrike">
              <a:solidFill>
                <a:schemeClr val="dk1"/>
              </a:solidFill>
              <a:latin typeface="Calibri"/>
              <a:ea typeface="Calibri"/>
              <a:cs typeface="Calibri"/>
              <a:sym typeface="Calibri"/>
            </a:endParaRPr>
          </a:p>
        </p:txBody>
      </p:sp>
      <p:sp>
        <p:nvSpPr>
          <p:cNvPr id="1367" name="Google Shape;1367;p34"/>
          <p:cNvSpPr/>
          <p:nvPr/>
        </p:nvSpPr>
        <p:spPr>
          <a:xfrm>
            <a:off x="6716268" y="2615184"/>
            <a:ext cx="1924812" cy="1481328"/>
          </a:xfrm>
          <a:prstGeom prst="roundRect">
            <a:avLst>
              <a:gd fmla="val 5556" name="adj"/>
            </a:avLst>
          </a:prstGeom>
          <a:solidFill>
            <a:srgbClr val="3D2A5C"/>
          </a:solidFill>
          <a:ln cap="flat" cmpd="sng" w="12700">
            <a:solidFill>
              <a:srgbClr val="3D2A5C"/>
            </a:solidFill>
            <a:prstDash val="solid"/>
            <a:round/>
            <a:headEnd len="sm" w="sm" type="none"/>
            <a:tailEnd len="sm" w="sm" type="none"/>
          </a:ln>
          <a:effectLst>
            <a:outerShdw blurRad="101600" rotWithShape="0" algn="bl" dir="5400000" dist="25400">
              <a:srgbClr val="150C24">
                <a:alpha val="4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34"/>
          <p:cNvSpPr/>
          <p:nvPr/>
        </p:nvSpPr>
        <p:spPr>
          <a:xfrm>
            <a:off x="6862572" y="2761488"/>
            <a:ext cx="365760" cy="365760"/>
          </a:xfrm>
          <a:prstGeom prst="ellipse">
            <a:avLst/>
          </a:prstGeom>
          <a:solidFill>
            <a:srgbClr val="FB7185"/>
          </a:solidFill>
          <a:ln cap="flat" cmpd="sng" w="12700">
            <a:solidFill>
              <a:srgbClr val="FB71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34"/>
          <p:cNvSpPr txBox="1"/>
          <p:nvPr/>
        </p:nvSpPr>
        <p:spPr>
          <a:xfrm>
            <a:off x="6862572" y="276148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B3D"/>
              </a:buClr>
              <a:buSzPts val="1500"/>
              <a:buFont typeface="Calibri"/>
              <a:buNone/>
            </a:pPr>
            <a:r>
              <a:rPr b="1" i="0" lang="en-US" sz="1500" u="none" cap="none" strike="noStrike">
                <a:solidFill>
                  <a:srgbClr val="2A1B3D"/>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70" name="Google Shape;1370;p34"/>
          <p:cNvSpPr txBox="1"/>
          <p:nvPr/>
        </p:nvSpPr>
        <p:spPr>
          <a:xfrm>
            <a:off x="6862572" y="3218688"/>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Debt is a portfolio</a:t>
            </a:r>
            <a:endParaRPr b="0" i="0" sz="1100" u="none" cap="none" strike="noStrike">
              <a:solidFill>
                <a:schemeClr val="dk1"/>
              </a:solidFill>
              <a:latin typeface="Calibri"/>
              <a:ea typeface="Calibri"/>
              <a:cs typeface="Calibri"/>
              <a:sym typeface="Calibri"/>
            </a:endParaRPr>
          </a:p>
        </p:txBody>
      </p:sp>
      <p:sp>
        <p:nvSpPr>
          <p:cNvPr id="1371" name="Google Shape;1371;p34"/>
          <p:cNvSpPr txBox="1"/>
          <p:nvPr/>
        </p:nvSpPr>
        <p:spPr>
          <a:xfrm>
            <a:off x="6862572" y="3621024"/>
            <a:ext cx="1632204"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8CDEE"/>
              </a:buClr>
              <a:buSzPts val="850"/>
              <a:buFont typeface="Calibri"/>
              <a:buNone/>
            </a:pPr>
            <a:r>
              <a:rPr b="0" i="0" lang="en-US" sz="850" u="none" cap="none" strike="noStrike">
                <a:solidFill>
                  <a:srgbClr val="D8CDEE"/>
                </a:solidFill>
                <a:latin typeface="Calibri"/>
                <a:ea typeface="Calibri"/>
                <a:cs typeface="Calibri"/>
                <a:sym typeface="Calibri"/>
              </a:rPr>
              <a:t>Classify the backlog, triage by interest ÷ principal, resolve the top of the list under gates.</a:t>
            </a:r>
            <a:endParaRPr b="0" i="0" sz="850" u="none" cap="none" strike="noStrike">
              <a:solidFill>
                <a:schemeClr val="dk1"/>
              </a:solidFill>
              <a:latin typeface="Calibri"/>
              <a:ea typeface="Calibri"/>
              <a:cs typeface="Calibri"/>
              <a:sym typeface="Calibri"/>
            </a:endParaRPr>
          </a:p>
        </p:txBody>
      </p:sp>
      <p:sp>
        <p:nvSpPr>
          <p:cNvPr id="1372" name="Google Shape;1372;p34"/>
          <p:cNvSpPr/>
          <p:nvPr/>
        </p:nvSpPr>
        <p:spPr>
          <a:xfrm>
            <a:off x="502920" y="4187952"/>
            <a:ext cx="8138160" cy="438912"/>
          </a:xfrm>
          <a:prstGeom prst="roundRect">
            <a:avLst>
              <a:gd fmla="val 18750" name="adj"/>
            </a:avLst>
          </a:prstGeom>
          <a:solidFill>
            <a:srgbClr val="1E1230"/>
          </a:solidFill>
          <a:ln cap="flat" cmpd="sng" w="12700">
            <a:solidFill>
              <a:srgbClr val="5B43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34"/>
          <p:cNvSpPr txBox="1"/>
          <p:nvPr/>
        </p:nvSpPr>
        <p:spPr>
          <a:xfrm>
            <a:off x="685800" y="4187952"/>
            <a:ext cx="77724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BA9DE"/>
              </a:buClr>
              <a:buSzPts val="1000"/>
              <a:buFont typeface="Calibri"/>
              <a:buNone/>
            </a:pPr>
            <a:r>
              <a:rPr b="0" i="0" lang="en-US" sz="1000" u="none" cap="none" strike="noStrike">
                <a:solidFill>
                  <a:srgbClr val="BBA9DE"/>
                </a:solidFill>
                <a:latin typeface="Calibri"/>
                <a:ea typeface="Calibri"/>
                <a:cs typeface="Calibri"/>
                <a:sym typeface="Calibri"/>
              </a:rPr>
              <a:t>Tools &amp; papers:  </a:t>
            </a:r>
            <a:r>
              <a:rPr b="1" i="0" lang="en-US" sz="1000" u="sng" cap="none" strike="noStrike">
                <a:solidFill>
                  <a:schemeClr val="hlink"/>
                </a:solidFill>
                <a:latin typeface="Calibri"/>
                <a:ea typeface="Calibri"/>
                <a:cs typeface="Calibri"/>
                <a:sym typeface="Calibri"/>
                <a:hlinkClick r:id="rId5"/>
              </a:rPr>
              <a:t>PyExamine (MSR '25)</a:t>
            </a:r>
            <a:r>
              <a:rPr b="0" i="0" lang="en-US" sz="1000" u="none" cap="none" strike="noStrike">
                <a:solidFill>
                  <a:srgbClr val="BBA9DE"/>
                </a:solidFill>
                <a:latin typeface="Calibri"/>
                <a:ea typeface="Calibri"/>
                <a:cs typeface="Calibri"/>
                <a:sym typeface="Calibri"/>
              </a:rPr>
              <a:t>  ·  </a:t>
            </a:r>
            <a:r>
              <a:rPr b="1" i="0" lang="en-US" sz="1000" u="sng" cap="none" strike="noStrike">
                <a:solidFill>
                  <a:schemeClr val="hlink"/>
                </a:solidFill>
                <a:latin typeface="Calibri"/>
                <a:ea typeface="Calibri"/>
                <a:cs typeface="Calibri"/>
                <a:sym typeface="Calibri"/>
                <a:hlinkClick r:id="rId6"/>
              </a:rPr>
              <a:t>MLScent (CAIN '25)</a:t>
            </a:r>
            <a:r>
              <a:rPr b="0" i="0" lang="en-US" sz="1000" u="none" cap="none" strike="noStrike">
                <a:solidFill>
                  <a:srgbClr val="BBA9DE"/>
                </a:solidFill>
                <a:latin typeface="Calibri"/>
                <a:ea typeface="Calibri"/>
                <a:cs typeface="Calibri"/>
                <a:sym typeface="Calibri"/>
              </a:rPr>
              <a:t>  ·  </a:t>
            </a:r>
            <a:r>
              <a:rPr b="1" i="0" lang="en-US" sz="1000" u="sng" cap="none" strike="noStrike">
                <a:solidFill>
                  <a:schemeClr val="hlink"/>
                </a:solidFill>
                <a:latin typeface="Calibri"/>
                <a:ea typeface="Calibri"/>
                <a:cs typeface="Calibri"/>
                <a:sym typeface="Calibri"/>
                <a:hlinkClick r:id="rId7"/>
              </a:rPr>
              <a:t>radon</a:t>
            </a:r>
            <a:r>
              <a:rPr b="0" i="0" lang="en-US" sz="1000" u="none" cap="none" strike="noStrike">
                <a:solidFill>
                  <a:srgbClr val="BBA9DE"/>
                </a:solidFill>
                <a:latin typeface="Calibri"/>
                <a:ea typeface="Calibri"/>
                <a:cs typeface="Calibri"/>
                <a:sym typeface="Calibri"/>
              </a:rPr>
              <a:t>  ·  </a:t>
            </a:r>
            <a:r>
              <a:rPr b="1" i="0" lang="en-US" sz="1000" u="sng" cap="none" strike="noStrike">
                <a:solidFill>
                  <a:schemeClr val="hlink"/>
                </a:solidFill>
                <a:latin typeface="Calibri"/>
                <a:ea typeface="Calibri"/>
                <a:cs typeface="Calibri"/>
                <a:sym typeface="Calibri"/>
                <a:hlinkClick r:id="rId8"/>
              </a:rPr>
              <a:t>github.com/KarthikShivasankar</a:t>
            </a:r>
            <a:endParaRPr b="0" i="0" sz="1000" u="none" cap="none" strike="noStrike">
              <a:solidFill>
                <a:schemeClr val="dk1"/>
              </a:solidFill>
              <a:latin typeface="Calibri"/>
              <a:ea typeface="Calibri"/>
              <a:cs typeface="Calibri"/>
              <a:sym typeface="Calibri"/>
            </a:endParaRPr>
          </a:p>
        </p:txBody>
      </p:sp>
      <p:sp>
        <p:nvSpPr>
          <p:cNvPr id="1374" name="Google Shape;1374;p34"/>
          <p:cNvSpPr txBox="1"/>
          <p:nvPr/>
        </p:nvSpPr>
        <p:spPr>
          <a:xfrm>
            <a:off x="502920" y="4700016"/>
            <a:ext cx="813816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BA9DE"/>
              </a:buClr>
              <a:buSzPts val="900"/>
              <a:buFont typeface="Courier New"/>
              <a:buNone/>
            </a:pPr>
            <a:r>
              <a:rPr b="0" i="0" lang="en-US" sz="900" u="none" cap="none" strike="noStrike">
                <a:solidFill>
                  <a:srgbClr val="BBA9DE"/>
                </a:solidFill>
                <a:latin typeface="Courier New"/>
                <a:ea typeface="Courier New"/>
                <a:cs typeface="Courier New"/>
                <a:sym typeface="Courier New"/>
              </a:rPr>
              <a:t>Karthik Shivashankar  ·  Adela Nedisan Videsjorden  ·  SINTEF Digital  ·  LLMA4SE 2026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